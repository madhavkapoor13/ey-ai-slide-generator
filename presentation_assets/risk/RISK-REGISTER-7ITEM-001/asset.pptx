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7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3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9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3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1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48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2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4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5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1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7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 txBox="1"/>
          <p:nvPr/>
        </p:nvSpPr>
        <p:spPr>
          <a:xfrm>
            <a:off x="456986" y="213294"/>
            <a:ext cx="9824698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2500" b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Risk Register – Implementation Risks</a:t>
            </a:r>
          </a:p>
        </p:txBody>
      </p:sp>
      <p:sp>
        <p:nvSpPr>
          <p:cNvPr id="3" name="subtitle_text"/>
          <p:cNvSpPr txBox="1"/>
          <p:nvPr/>
        </p:nvSpPr>
        <p:spPr>
          <a:xfrm>
            <a:off x="456986" y="584103"/>
            <a:ext cx="10701265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500" b="0">
                <a:solidFill>
                  <a:srgbClr val="0047D8"/>
                </a:solidFill>
                <a:latin typeface="Arial"/>
              </a:defRPr>
            </a:pPr>
            <a:r>
              <a:rPr sz="1100" i="1" dirty="0"/>
              <a:t>Key implementation risks are actively managed with defined mitigation actions and clear ownership.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986" y="859549"/>
            <a:ext cx="786588" cy="320040"/>
          </a:xfrm>
          <a:prstGeom prst="rect">
            <a:avLst/>
          </a:prstGeom>
          <a:solidFill>
            <a:srgbClr val="002F9F"/>
          </a:solidFill>
          <a:ln w="6985">
            <a:solidFill>
              <a:srgbClr val="537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3575" y="859549"/>
            <a:ext cx="2789646" cy="320040"/>
          </a:xfrm>
          <a:prstGeom prst="rect">
            <a:avLst/>
          </a:prstGeom>
          <a:solidFill>
            <a:srgbClr val="002F9F"/>
          </a:solidFill>
          <a:ln w="6985">
            <a:solidFill>
              <a:srgbClr val="537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150" b="1">
                <a:solidFill>
                  <a:srgbClr val="FFFFFF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3220" y="859549"/>
            <a:ext cx="1033540" cy="320040"/>
          </a:xfrm>
          <a:prstGeom prst="rect">
            <a:avLst/>
          </a:prstGeom>
          <a:solidFill>
            <a:srgbClr val="002F9F"/>
          </a:solidFill>
          <a:ln w="6985">
            <a:solidFill>
              <a:srgbClr val="537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Likelihood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6761" y="859549"/>
            <a:ext cx="978662" cy="320040"/>
          </a:xfrm>
          <a:prstGeom prst="rect">
            <a:avLst/>
          </a:prstGeom>
          <a:solidFill>
            <a:srgbClr val="002F9F"/>
          </a:solidFill>
          <a:ln w="6985">
            <a:solidFill>
              <a:srgbClr val="537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45425" y="859549"/>
            <a:ext cx="3182940" cy="320040"/>
          </a:xfrm>
          <a:prstGeom prst="rect">
            <a:avLst/>
          </a:prstGeom>
          <a:solidFill>
            <a:srgbClr val="002F9F"/>
          </a:solidFill>
          <a:ln w="6985">
            <a:solidFill>
              <a:srgbClr val="537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150" b="1">
                <a:solidFill>
                  <a:srgbClr val="FFFFFF"/>
                </a:solidFill>
                <a:latin typeface="Arial"/>
              </a:defRPr>
            </a:pPr>
            <a:r>
              <a:t>Mitigation / Planned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228366" y="859549"/>
            <a:ext cx="1143297" cy="320040"/>
          </a:xfrm>
          <a:prstGeom prst="rect">
            <a:avLst/>
          </a:prstGeom>
          <a:solidFill>
            <a:srgbClr val="002F9F"/>
          </a:solidFill>
          <a:ln w="6985">
            <a:solidFill>
              <a:srgbClr val="537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71663" y="859549"/>
            <a:ext cx="1280493" cy="320040"/>
          </a:xfrm>
          <a:prstGeom prst="rect">
            <a:avLst/>
          </a:prstGeom>
          <a:solidFill>
            <a:srgbClr val="002F9F"/>
          </a:solidFill>
          <a:ln w="6985">
            <a:solidFill>
              <a:srgbClr val="537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11" name="risk_1_id_text"/>
          <p:cNvSpPr/>
          <p:nvPr/>
        </p:nvSpPr>
        <p:spPr>
          <a:xfrm>
            <a:off x="456986" y="1179589"/>
            <a:ext cx="786588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600" b="1">
                <a:solidFill>
                  <a:srgbClr val="003DA6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2" name="risk_1_description_text"/>
          <p:cNvSpPr/>
          <p:nvPr/>
        </p:nvSpPr>
        <p:spPr>
          <a:xfrm>
            <a:off x="1243575" y="1179589"/>
            <a:ext cx="2789646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60" b="1">
                <a:solidFill>
                  <a:srgbClr val="000000"/>
                </a:solidFill>
                <a:latin typeface="Arial"/>
              </a:rPr>
              <a:t>Low stakeholder adoption</a:t>
            </a:r>
          </a:p>
          <a:p>
            <a:pPr>
              <a:spcBef>
                <a:spcPts val="0"/>
              </a:spcBef>
              <a:defRPr sz="1019">
                <a:solidFill>
                  <a:srgbClr val="000000"/>
                </a:solidFill>
                <a:latin typeface="Arial"/>
              </a:defRPr>
            </a:pPr>
            <a:r>
              <a:t>Business users may resist change</a:t>
            </a:r>
            <a:br/>
            <a:r>
              <a:t>leading to low adoption.</a:t>
            </a:r>
          </a:p>
        </p:txBody>
      </p:sp>
      <p:sp>
        <p:nvSpPr>
          <p:cNvPr id="13" name="risk_1_likelihood_text"/>
          <p:cNvSpPr/>
          <p:nvPr/>
        </p:nvSpPr>
        <p:spPr>
          <a:xfrm>
            <a:off x="4033220" y="1179589"/>
            <a:ext cx="1033540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4" name="risk_1_impact_text"/>
          <p:cNvSpPr/>
          <p:nvPr/>
        </p:nvSpPr>
        <p:spPr>
          <a:xfrm>
            <a:off x="5066761" y="1179589"/>
            <a:ext cx="978662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5" name="risk_1_mitigation_text"/>
          <p:cNvSpPr/>
          <p:nvPr/>
        </p:nvSpPr>
        <p:spPr>
          <a:xfrm>
            <a:off x="6045425" y="1179589"/>
            <a:ext cx="3182940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Establish change champion network; engage</a:t>
            </a:r>
            <a:br/>
            <a:r>
              <a:t>stakeholders early; run targeted communication</a:t>
            </a:r>
            <a:br/>
            <a:r>
              <a:t>and enablement plan.</a:t>
            </a:r>
          </a:p>
        </p:txBody>
      </p:sp>
      <p:sp>
        <p:nvSpPr>
          <p:cNvPr id="16" name="risk_1_owner_text"/>
          <p:cNvSpPr/>
          <p:nvPr/>
        </p:nvSpPr>
        <p:spPr>
          <a:xfrm>
            <a:off x="9228366" y="1179589"/>
            <a:ext cx="1143297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40" b="0">
                <a:solidFill>
                  <a:srgbClr val="000000"/>
                </a:solidFill>
                <a:latin typeface="Arial"/>
              </a:defRPr>
            </a:pPr>
            <a:r>
              <a:t>Change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71663" y="1179589"/>
            <a:ext cx="1280493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sk_1_status_text"/>
          <p:cNvSpPr/>
          <p:nvPr/>
        </p:nvSpPr>
        <p:spPr>
          <a:xfrm>
            <a:off x="10673494" y="1389901"/>
            <a:ext cx="676831" cy="228600"/>
          </a:xfrm>
          <a:prstGeom prst="roundRect">
            <a:avLst/>
          </a:prstGeom>
          <a:solidFill>
            <a:srgbClr val="D00000"/>
          </a:solidFill>
          <a:ln w="8890">
            <a:solidFill>
              <a:srgbClr val="D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At risk</a:t>
            </a:r>
          </a:p>
        </p:txBody>
      </p:sp>
      <p:sp>
        <p:nvSpPr>
          <p:cNvPr id="19" name="risk_2_id_text"/>
          <p:cNvSpPr/>
          <p:nvPr/>
        </p:nvSpPr>
        <p:spPr>
          <a:xfrm>
            <a:off x="456986" y="1801381"/>
            <a:ext cx="786588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600" b="1">
                <a:solidFill>
                  <a:srgbClr val="003DA6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0" name="risk_2_description_text"/>
          <p:cNvSpPr/>
          <p:nvPr/>
        </p:nvSpPr>
        <p:spPr>
          <a:xfrm>
            <a:off x="1243575" y="1801381"/>
            <a:ext cx="2789646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60" b="1">
                <a:solidFill>
                  <a:srgbClr val="000000"/>
                </a:solidFill>
                <a:latin typeface="Arial"/>
              </a:rPr>
              <a:t>Data quality delays</a:t>
            </a:r>
          </a:p>
          <a:p>
            <a:pPr>
              <a:spcBef>
                <a:spcPts val="0"/>
              </a:spcBef>
              <a:defRPr sz="1019">
                <a:solidFill>
                  <a:srgbClr val="000000"/>
                </a:solidFill>
                <a:latin typeface="Arial"/>
              </a:defRPr>
            </a:pPr>
            <a:r>
              <a:t>Poor data quality can delay testing</a:t>
            </a:r>
            <a:br/>
            <a:r>
              <a:t>and go-live.</a:t>
            </a:r>
          </a:p>
        </p:txBody>
      </p:sp>
      <p:sp>
        <p:nvSpPr>
          <p:cNvPr id="21" name="risk_2_likelihood_text"/>
          <p:cNvSpPr/>
          <p:nvPr/>
        </p:nvSpPr>
        <p:spPr>
          <a:xfrm>
            <a:off x="4033220" y="1801381"/>
            <a:ext cx="1033540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22" name="risk_2_impact_text"/>
          <p:cNvSpPr/>
          <p:nvPr/>
        </p:nvSpPr>
        <p:spPr>
          <a:xfrm>
            <a:off x="5066761" y="1801381"/>
            <a:ext cx="978662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3" name="risk_2_mitigation_text"/>
          <p:cNvSpPr/>
          <p:nvPr/>
        </p:nvSpPr>
        <p:spPr>
          <a:xfrm>
            <a:off x="6045425" y="1801381"/>
            <a:ext cx="3182940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rPr dirty="0"/>
              <a:t>Execute data cleansing sprint; define data</a:t>
            </a:r>
            <a:br>
              <a:rPr dirty="0"/>
            </a:br>
            <a:r>
              <a:rPr dirty="0"/>
              <a:t>standards and validation rules; implement data</a:t>
            </a:r>
            <a:br>
              <a:rPr dirty="0"/>
            </a:br>
            <a:r>
              <a:rPr dirty="0"/>
              <a:t>quality dashboards.</a:t>
            </a:r>
          </a:p>
        </p:txBody>
      </p:sp>
      <p:sp>
        <p:nvSpPr>
          <p:cNvPr id="24" name="risk_2_owner_text"/>
          <p:cNvSpPr/>
          <p:nvPr/>
        </p:nvSpPr>
        <p:spPr>
          <a:xfrm>
            <a:off x="9228366" y="1801381"/>
            <a:ext cx="1143297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40" b="0">
                <a:solidFill>
                  <a:srgbClr val="000000"/>
                </a:solidFill>
                <a:latin typeface="Arial"/>
              </a:defRPr>
            </a:pPr>
            <a:r>
              <a:t>Data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71663" y="1801381"/>
            <a:ext cx="1280493" cy="621792"/>
          </a:xfrm>
          <a:prstGeom prst="rect">
            <a:avLst/>
          </a:prstGeom>
          <a:solidFill>
            <a:srgbClr val="FCECEC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sk_2_status_text"/>
          <p:cNvSpPr/>
          <p:nvPr/>
        </p:nvSpPr>
        <p:spPr>
          <a:xfrm>
            <a:off x="10673494" y="2011693"/>
            <a:ext cx="676831" cy="228600"/>
          </a:xfrm>
          <a:prstGeom prst="roundRect">
            <a:avLst/>
          </a:prstGeom>
          <a:solidFill>
            <a:srgbClr val="F2A900"/>
          </a:solidFill>
          <a:ln w="889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Open</a:t>
            </a:r>
          </a:p>
        </p:txBody>
      </p:sp>
      <p:sp>
        <p:nvSpPr>
          <p:cNvPr id="27" name="risk_3_id_text"/>
          <p:cNvSpPr/>
          <p:nvPr/>
        </p:nvSpPr>
        <p:spPr>
          <a:xfrm>
            <a:off x="456986" y="2423173"/>
            <a:ext cx="786588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600" b="1">
                <a:solidFill>
                  <a:srgbClr val="003DA6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8" name="risk_3_description_text"/>
          <p:cNvSpPr/>
          <p:nvPr/>
        </p:nvSpPr>
        <p:spPr>
          <a:xfrm>
            <a:off x="1243575" y="2423173"/>
            <a:ext cx="2789646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60" b="1">
                <a:solidFill>
                  <a:srgbClr val="000000"/>
                </a:solidFill>
                <a:latin typeface="Arial"/>
              </a:rPr>
              <a:t>Integration complexity</a:t>
            </a:r>
          </a:p>
          <a:p>
            <a:pPr>
              <a:spcBef>
                <a:spcPts val="0"/>
              </a:spcBef>
              <a:defRPr sz="1019">
                <a:solidFill>
                  <a:srgbClr val="000000"/>
                </a:solidFill>
                <a:latin typeface="Arial"/>
              </a:defRPr>
            </a:pPr>
            <a:r>
              <a:t>Complex integrations may impact</a:t>
            </a:r>
            <a:br/>
            <a:r>
              <a:t>timelines and stability.</a:t>
            </a:r>
          </a:p>
        </p:txBody>
      </p:sp>
      <p:sp>
        <p:nvSpPr>
          <p:cNvPr id="29" name="risk_3_likelihood_text"/>
          <p:cNvSpPr/>
          <p:nvPr/>
        </p:nvSpPr>
        <p:spPr>
          <a:xfrm>
            <a:off x="4033220" y="2423173"/>
            <a:ext cx="10335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0" name="risk_3_impact_text"/>
          <p:cNvSpPr/>
          <p:nvPr/>
        </p:nvSpPr>
        <p:spPr>
          <a:xfrm>
            <a:off x="5066761" y="2423173"/>
            <a:ext cx="978662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31" name="risk_3_mitigation_text"/>
          <p:cNvSpPr/>
          <p:nvPr/>
        </p:nvSpPr>
        <p:spPr>
          <a:xfrm>
            <a:off x="6045425" y="2423173"/>
            <a:ext cx="31829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rPr dirty="0"/>
              <a:t>Complete early technical design; run integration</a:t>
            </a:r>
            <a:br>
              <a:rPr dirty="0"/>
            </a:br>
            <a:r>
              <a:rPr dirty="0"/>
              <a:t>spikes; maintain interface inventory and</a:t>
            </a:r>
            <a:br>
              <a:rPr dirty="0"/>
            </a:br>
            <a:r>
              <a:rPr dirty="0"/>
              <a:t>dependency register.</a:t>
            </a:r>
          </a:p>
        </p:txBody>
      </p:sp>
      <p:sp>
        <p:nvSpPr>
          <p:cNvPr id="32" name="risk_3_owner_text"/>
          <p:cNvSpPr/>
          <p:nvPr/>
        </p:nvSpPr>
        <p:spPr>
          <a:xfrm>
            <a:off x="9228366" y="2423173"/>
            <a:ext cx="1143297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40" b="0">
                <a:solidFill>
                  <a:srgbClr val="000000"/>
                </a:solidFill>
                <a:latin typeface="Arial"/>
              </a:defRPr>
            </a:pPr>
            <a:r>
              <a:t>CIO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71663" y="2423173"/>
            <a:ext cx="1280493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sk_3_status_text"/>
          <p:cNvSpPr/>
          <p:nvPr/>
        </p:nvSpPr>
        <p:spPr>
          <a:xfrm>
            <a:off x="10673494" y="2633485"/>
            <a:ext cx="676831" cy="228600"/>
          </a:xfrm>
          <a:prstGeom prst="roundRect">
            <a:avLst/>
          </a:prstGeom>
          <a:solidFill>
            <a:srgbClr val="FFE7A3"/>
          </a:solidFill>
          <a:ln w="889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Mitigating</a:t>
            </a:r>
          </a:p>
        </p:txBody>
      </p:sp>
      <p:sp>
        <p:nvSpPr>
          <p:cNvPr id="35" name="risk_4_id_text"/>
          <p:cNvSpPr/>
          <p:nvPr/>
        </p:nvSpPr>
        <p:spPr>
          <a:xfrm>
            <a:off x="456986" y="3044965"/>
            <a:ext cx="786588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600" b="1">
                <a:solidFill>
                  <a:srgbClr val="003DA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36" name="risk_4_description_text"/>
          <p:cNvSpPr/>
          <p:nvPr/>
        </p:nvSpPr>
        <p:spPr>
          <a:xfrm>
            <a:off x="1243575" y="3044965"/>
            <a:ext cx="2789646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60" b="1">
                <a:solidFill>
                  <a:srgbClr val="000000"/>
                </a:solidFill>
                <a:latin typeface="Arial"/>
              </a:rPr>
              <a:t>Resource constraints</a:t>
            </a:r>
          </a:p>
          <a:p>
            <a:pPr>
              <a:spcBef>
                <a:spcPts val="0"/>
              </a:spcBef>
              <a:defRPr sz="1019">
                <a:solidFill>
                  <a:srgbClr val="000000"/>
                </a:solidFill>
                <a:latin typeface="Arial"/>
              </a:defRPr>
            </a:pPr>
            <a:r>
              <a:t>Key resources may be over-allocated</a:t>
            </a:r>
            <a:br/>
            <a:r>
              <a:t>or unavailable.</a:t>
            </a:r>
          </a:p>
        </p:txBody>
      </p:sp>
      <p:sp>
        <p:nvSpPr>
          <p:cNvPr id="37" name="risk_4_likelihood_text"/>
          <p:cNvSpPr/>
          <p:nvPr/>
        </p:nvSpPr>
        <p:spPr>
          <a:xfrm>
            <a:off x="4033220" y="3044965"/>
            <a:ext cx="10335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8" name="risk_4_impact_text"/>
          <p:cNvSpPr/>
          <p:nvPr/>
        </p:nvSpPr>
        <p:spPr>
          <a:xfrm>
            <a:off x="5066761" y="3044965"/>
            <a:ext cx="978662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9" name="risk_4_mitigation_text"/>
          <p:cNvSpPr/>
          <p:nvPr/>
        </p:nvSpPr>
        <p:spPr>
          <a:xfrm>
            <a:off x="6045425" y="3044965"/>
            <a:ext cx="31829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rPr dirty="0"/>
              <a:t>Confirm resource plan; secure backfill; monitor</a:t>
            </a:r>
            <a:br>
              <a:rPr dirty="0"/>
            </a:br>
            <a:r>
              <a:rPr dirty="0"/>
              <a:t>capacity weekly and adjust priorities.</a:t>
            </a:r>
          </a:p>
        </p:txBody>
      </p:sp>
      <p:sp>
        <p:nvSpPr>
          <p:cNvPr id="40" name="risk_4_owner_text"/>
          <p:cNvSpPr/>
          <p:nvPr/>
        </p:nvSpPr>
        <p:spPr>
          <a:xfrm>
            <a:off x="9228366" y="3044965"/>
            <a:ext cx="1143297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40" b="0">
                <a:solidFill>
                  <a:srgbClr val="000000"/>
                </a:solidFill>
                <a:latin typeface="Arial"/>
              </a:defRPr>
            </a:pPr>
            <a:r>
              <a:rPr dirty="0"/>
              <a:t>PMO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71663" y="3044965"/>
            <a:ext cx="1280493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sk_4_status_text"/>
          <p:cNvSpPr/>
          <p:nvPr/>
        </p:nvSpPr>
        <p:spPr>
          <a:xfrm>
            <a:off x="10673494" y="3255277"/>
            <a:ext cx="676831" cy="228600"/>
          </a:xfrm>
          <a:prstGeom prst="roundRect">
            <a:avLst/>
          </a:prstGeom>
          <a:solidFill>
            <a:srgbClr val="FFE7A3"/>
          </a:solidFill>
          <a:ln w="889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rPr dirty="0"/>
              <a:t>Mitigating</a:t>
            </a:r>
          </a:p>
        </p:txBody>
      </p:sp>
      <p:sp>
        <p:nvSpPr>
          <p:cNvPr id="43" name="risk_5_id_text"/>
          <p:cNvSpPr/>
          <p:nvPr/>
        </p:nvSpPr>
        <p:spPr>
          <a:xfrm>
            <a:off x="456986" y="3666757"/>
            <a:ext cx="786588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600" b="1">
                <a:solidFill>
                  <a:srgbClr val="003DA6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44" name="risk_5_description_text"/>
          <p:cNvSpPr/>
          <p:nvPr/>
        </p:nvSpPr>
        <p:spPr>
          <a:xfrm>
            <a:off x="1243575" y="3666757"/>
            <a:ext cx="2789646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60" b="1">
                <a:solidFill>
                  <a:srgbClr val="000000"/>
                </a:solidFill>
                <a:latin typeface="Arial"/>
              </a:rPr>
              <a:t>Scope creep</a:t>
            </a:r>
          </a:p>
          <a:p>
            <a:pPr>
              <a:spcBef>
                <a:spcPts val="0"/>
              </a:spcBef>
              <a:defRPr sz="1019">
                <a:solidFill>
                  <a:srgbClr val="000000"/>
                </a:solidFill>
                <a:latin typeface="Arial"/>
              </a:defRPr>
            </a:pPr>
            <a:r>
              <a:t>Uncontrolled scope changes may</a:t>
            </a:r>
            <a:br/>
            <a:r>
              <a:t>impact cost and timeline.</a:t>
            </a:r>
          </a:p>
        </p:txBody>
      </p:sp>
      <p:sp>
        <p:nvSpPr>
          <p:cNvPr id="45" name="risk_5_likelihood_text"/>
          <p:cNvSpPr/>
          <p:nvPr/>
        </p:nvSpPr>
        <p:spPr>
          <a:xfrm>
            <a:off x="4033220" y="3666757"/>
            <a:ext cx="10335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46" name="risk_5_impact_text"/>
          <p:cNvSpPr/>
          <p:nvPr/>
        </p:nvSpPr>
        <p:spPr>
          <a:xfrm>
            <a:off x="5066761" y="3666757"/>
            <a:ext cx="978662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47" name="risk_5_mitigation_text"/>
          <p:cNvSpPr/>
          <p:nvPr/>
        </p:nvSpPr>
        <p:spPr>
          <a:xfrm>
            <a:off x="6045425" y="3666757"/>
            <a:ext cx="31829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Enforce change control process; evaluate</a:t>
            </a:r>
            <a:br/>
            <a:r>
              <a:t>business impact; maintain approved backlog.</a:t>
            </a:r>
          </a:p>
        </p:txBody>
      </p:sp>
      <p:sp>
        <p:nvSpPr>
          <p:cNvPr id="48" name="risk_5_owner_text"/>
          <p:cNvSpPr/>
          <p:nvPr/>
        </p:nvSpPr>
        <p:spPr>
          <a:xfrm>
            <a:off x="9228366" y="3666757"/>
            <a:ext cx="1143297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40" b="0">
                <a:solidFill>
                  <a:srgbClr val="000000"/>
                </a:solidFill>
                <a:latin typeface="Arial"/>
              </a:defRPr>
            </a:pPr>
            <a:r>
              <a:rPr dirty="0"/>
              <a:t>PMO Lead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1663" y="3666757"/>
            <a:ext cx="1280493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sk_5_status_text"/>
          <p:cNvSpPr/>
          <p:nvPr/>
        </p:nvSpPr>
        <p:spPr>
          <a:xfrm>
            <a:off x="10673494" y="3877069"/>
            <a:ext cx="676831" cy="228600"/>
          </a:xfrm>
          <a:prstGeom prst="roundRect">
            <a:avLst/>
          </a:prstGeom>
          <a:solidFill>
            <a:srgbClr val="0057B8"/>
          </a:solidFill>
          <a:ln w="889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Open</a:t>
            </a:r>
          </a:p>
        </p:txBody>
      </p:sp>
      <p:sp>
        <p:nvSpPr>
          <p:cNvPr id="51" name="risk_6_id_text"/>
          <p:cNvSpPr/>
          <p:nvPr/>
        </p:nvSpPr>
        <p:spPr>
          <a:xfrm>
            <a:off x="456986" y="4288549"/>
            <a:ext cx="786588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600" b="1">
                <a:solidFill>
                  <a:srgbClr val="003DA6"/>
                </a:solidFill>
                <a:latin typeface="Arial"/>
              </a:defRPr>
            </a:pPr>
            <a:r>
              <a:rPr dirty="0"/>
              <a:t>R6</a:t>
            </a:r>
          </a:p>
        </p:txBody>
      </p:sp>
      <p:sp>
        <p:nvSpPr>
          <p:cNvPr id="52" name="risk_6_description_text"/>
          <p:cNvSpPr/>
          <p:nvPr/>
        </p:nvSpPr>
        <p:spPr>
          <a:xfrm>
            <a:off x="1243575" y="4288549"/>
            <a:ext cx="2789646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60" b="1">
                <a:solidFill>
                  <a:srgbClr val="000000"/>
                </a:solidFill>
                <a:latin typeface="Arial"/>
              </a:rPr>
              <a:t>Vendor / third-party risks</a:t>
            </a:r>
          </a:p>
          <a:p>
            <a:pPr>
              <a:spcBef>
                <a:spcPts val="0"/>
              </a:spcBef>
              <a:defRPr sz="1019">
                <a:solidFill>
                  <a:srgbClr val="000000"/>
                </a:solidFill>
                <a:latin typeface="Arial"/>
              </a:defRPr>
            </a:pPr>
            <a:r>
              <a:t>Dependency on third parties may</a:t>
            </a:r>
            <a:br/>
            <a:r>
              <a:t>cause delays or quality issues.</a:t>
            </a:r>
          </a:p>
        </p:txBody>
      </p:sp>
      <p:sp>
        <p:nvSpPr>
          <p:cNvPr id="53" name="risk_6_likelihood_text"/>
          <p:cNvSpPr/>
          <p:nvPr/>
        </p:nvSpPr>
        <p:spPr>
          <a:xfrm>
            <a:off x="4033220" y="4288549"/>
            <a:ext cx="10335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54" name="risk_6_impact_text"/>
          <p:cNvSpPr/>
          <p:nvPr/>
        </p:nvSpPr>
        <p:spPr>
          <a:xfrm>
            <a:off x="5066761" y="4288549"/>
            <a:ext cx="978662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55" name="risk_6_mitigation_text"/>
          <p:cNvSpPr/>
          <p:nvPr/>
        </p:nvSpPr>
        <p:spPr>
          <a:xfrm>
            <a:off x="6045425" y="4288549"/>
            <a:ext cx="31829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rPr dirty="0"/>
              <a:t>Define SLAs and performance KPIs; conduct</a:t>
            </a:r>
            <a:br>
              <a:rPr dirty="0"/>
            </a:br>
            <a:r>
              <a:rPr dirty="0"/>
              <a:t>regular reviews; maintain contingency plan.</a:t>
            </a:r>
          </a:p>
        </p:txBody>
      </p:sp>
      <p:sp>
        <p:nvSpPr>
          <p:cNvPr id="56" name="risk_6_owner_text"/>
          <p:cNvSpPr/>
          <p:nvPr/>
        </p:nvSpPr>
        <p:spPr>
          <a:xfrm>
            <a:off x="9228366" y="4288549"/>
            <a:ext cx="1143297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40" b="0">
                <a:solidFill>
                  <a:srgbClr val="000000"/>
                </a:solidFill>
                <a:latin typeface="Arial"/>
              </a:defRPr>
            </a:pPr>
            <a:r>
              <a:t>Procurement</a:t>
            </a:r>
            <a:br/>
            <a:r>
              <a:t>Lead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71663" y="4288549"/>
            <a:ext cx="1280493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isk_6_status_text"/>
          <p:cNvSpPr/>
          <p:nvPr/>
        </p:nvSpPr>
        <p:spPr>
          <a:xfrm>
            <a:off x="10673494" y="4498861"/>
            <a:ext cx="676831" cy="228600"/>
          </a:xfrm>
          <a:prstGeom prst="roundRect">
            <a:avLst/>
          </a:prstGeom>
          <a:solidFill>
            <a:srgbClr val="00843D"/>
          </a:solidFill>
          <a:ln w="8890">
            <a:solidFill>
              <a:srgbClr val="008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59" name="risk_7_id_text"/>
          <p:cNvSpPr/>
          <p:nvPr/>
        </p:nvSpPr>
        <p:spPr>
          <a:xfrm>
            <a:off x="456986" y="4910341"/>
            <a:ext cx="786588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600" b="1">
                <a:solidFill>
                  <a:srgbClr val="003DA6"/>
                </a:solidFill>
                <a:latin typeface="Arial"/>
              </a:defRPr>
            </a:pPr>
            <a:r>
              <a:rPr dirty="0"/>
              <a:t>R7</a:t>
            </a:r>
          </a:p>
        </p:txBody>
      </p:sp>
      <p:sp>
        <p:nvSpPr>
          <p:cNvPr id="60" name="risk_7_description_text"/>
          <p:cNvSpPr/>
          <p:nvPr/>
        </p:nvSpPr>
        <p:spPr>
          <a:xfrm>
            <a:off x="1243575" y="4910341"/>
            <a:ext cx="2789646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060" b="1">
                <a:solidFill>
                  <a:srgbClr val="000000"/>
                </a:solidFill>
                <a:latin typeface="Arial"/>
              </a:rPr>
              <a:t>Security &amp; compliance risks</a:t>
            </a:r>
          </a:p>
          <a:p>
            <a:pPr>
              <a:spcBef>
                <a:spcPts val="0"/>
              </a:spcBef>
              <a:defRPr sz="1019">
                <a:solidFill>
                  <a:srgbClr val="000000"/>
                </a:solidFill>
                <a:latin typeface="Arial"/>
              </a:defRPr>
            </a:pPr>
            <a:r>
              <a:t>Non-compliance could impact</a:t>
            </a:r>
            <a:br/>
            <a:r>
              <a:t>business and regulatory outcomes.</a:t>
            </a:r>
          </a:p>
        </p:txBody>
      </p:sp>
      <p:sp>
        <p:nvSpPr>
          <p:cNvPr id="61" name="risk_7_likelihood_text"/>
          <p:cNvSpPr/>
          <p:nvPr/>
        </p:nvSpPr>
        <p:spPr>
          <a:xfrm>
            <a:off x="4033220" y="4910341"/>
            <a:ext cx="10335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62" name="risk_7_impact_text"/>
          <p:cNvSpPr/>
          <p:nvPr/>
        </p:nvSpPr>
        <p:spPr>
          <a:xfrm>
            <a:off x="5066761" y="4910341"/>
            <a:ext cx="978662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63" name="risk_7_mitigation_text"/>
          <p:cNvSpPr/>
          <p:nvPr/>
        </p:nvSpPr>
        <p:spPr>
          <a:xfrm>
            <a:off x="6045425" y="4910341"/>
            <a:ext cx="318294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Follow security by design; conduct compliance</a:t>
            </a:r>
            <a:br/>
            <a:r>
              <a:t>reviews; perform regular access and controls</a:t>
            </a:r>
            <a:br/>
            <a:r>
              <a:t>audits.</a:t>
            </a:r>
          </a:p>
        </p:txBody>
      </p:sp>
      <p:sp>
        <p:nvSpPr>
          <p:cNvPr id="64" name="risk_7_owner_text"/>
          <p:cNvSpPr/>
          <p:nvPr/>
        </p:nvSpPr>
        <p:spPr>
          <a:xfrm>
            <a:off x="9228366" y="4910341"/>
            <a:ext cx="1143297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040" b="0">
                <a:solidFill>
                  <a:srgbClr val="000000"/>
                </a:solidFill>
                <a:latin typeface="Arial"/>
              </a:defRPr>
            </a:pPr>
            <a:r>
              <a:t>Security Lead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71663" y="4910341"/>
            <a:ext cx="1280493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isk_7_status_text"/>
          <p:cNvSpPr/>
          <p:nvPr/>
        </p:nvSpPr>
        <p:spPr>
          <a:xfrm>
            <a:off x="10673494" y="5120653"/>
            <a:ext cx="676831" cy="228600"/>
          </a:xfrm>
          <a:prstGeom prst="roundRect">
            <a:avLst/>
          </a:prstGeom>
          <a:solidFill>
            <a:srgbClr val="CFEBD7"/>
          </a:solidFill>
          <a:ln w="8890">
            <a:solidFill>
              <a:srgbClr val="CF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rPr dirty="0"/>
              <a:t>Mitigating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6986" y="5559565"/>
            <a:ext cx="11195170" cy="676656"/>
          </a:xfrm>
          <a:prstGeom prst="rect">
            <a:avLst/>
          </a:prstGeom>
          <a:solidFill>
            <a:srgbClr val="FFFFFF"/>
          </a:solidFill>
          <a:ln w="11430">
            <a:solidFill>
              <a:srgbClr val="AFC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56986" y="5559565"/>
            <a:ext cx="1371957" cy="676656"/>
          </a:xfrm>
          <a:prstGeom prst="rect">
            <a:avLst/>
          </a:prstGeom>
          <a:solidFill>
            <a:srgbClr val="002F9F"/>
          </a:solidFill>
          <a:ln w="6985">
            <a:solidFill>
              <a:srgbClr val="002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Risk</a:t>
            </a:r>
            <a:br>
              <a:rPr dirty="0"/>
            </a:br>
            <a:r>
              <a:rPr dirty="0"/>
              <a:t>Summary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0784" y="5660149"/>
            <a:ext cx="9146" cy="475488"/>
          </a:xfrm>
          <a:prstGeom prst="rect">
            <a:avLst/>
          </a:prstGeom>
          <a:solidFill>
            <a:srgbClr val="B7C5E3"/>
          </a:solidFill>
          <a:ln>
            <a:solidFill>
              <a:srgbClr val="B7C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859453" y="5660149"/>
            <a:ext cx="9146" cy="475488"/>
          </a:xfrm>
          <a:prstGeom prst="rect">
            <a:avLst/>
          </a:prstGeom>
          <a:solidFill>
            <a:srgbClr val="B7C5E3"/>
          </a:solidFill>
          <a:ln>
            <a:solidFill>
              <a:srgbClr val="B7C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246658" y="5660149"/>
            <a:ext cx="9146" cy="475488"/>
          </a:xfrm>
          <a:prstGeom prst="rect">
            <a:avLst/>
          </a:prstGeom>
          <a:solidFill>
            <a:srgbClr val="B7C5E3"/>
          </a:solidFill>
          <a:ln>
            <a:solidFill>
              <a:srgbClr val="B7C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summary_1_count_text"/>
          <p:cNvSpPr txBox="1"/>
          <p:nvPr/>
        </p:nvSpPr>
        <p:spPr>
          <a:xfrm>
            <a:off x="2322848" y="5678437"/>
            <a:ext cx="384148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2800" b="1">
                <a:solidFill>
                  <a:srgbClr val="D00000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73" name="summary_1_label_text"/>
          <p:cNvSpPr txBox="1"/>
          <p:nvPr/>
        </p:nvSpPr>
        <p:spPr>
          <a:xfrm>
            <a:off x="2716142" y="5678437"/>
            <a:ext cx="1600616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050" b="1">
                <a:solidFill>
                  <a:srgbClr val="D00000"/>
                </a:solidFill>
                <a:latin typeface="Arial"/>
              </a:defRPr>
            </a:pPr>
            <a:r>
              <a:t>High priority risks</a:t>
            </a:r>
          </a:p>
        </p:txBody>
      </p:sp>
      <p:sp>
        <p:nvSpPr>
          <p:cNvPr id="74" name="summary_1_description_text"/>
          <p:cNvSpPr txBox="1"/>
          <p:nvPr/>
        </p:nvSpPr>
        <p:spPr>
          <a:xfrm>
            <a:off x="2716142" y="5852173"/>
            <a:ext cx="1692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rPr dirty="0"/>
              <a:t>Require executive</a:t>
            </a:r>
            <a:br>
              <a:rPr dirty="0"/>
            </a:br>
            <a:r>
              <a:rPr dirty="0"/>
              <a:t>attention</a:t>
            </a:r>
          </a:p>
        </p:txBody>
      </p:sp>
      <p:sp>
        <p:nvSpPr>
          <p:cNvPr id="75" name="summary_2_count_text"/>
          <p:cNvSpPr txBox="1"/>
          <p:nvPr/>
        </p:nvSpPr>
        <p:spPr>
          <a:xfrm>
            <a:off x="4792371" y="5678437"/>
            <a:ext cx="384148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2800" b="1">
                <a:solidFill>
                  <a:srgbClr val="F2A9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6" name="summary_2_label_text"/>
          <p:cNvSpPr txBox="1"/>
          <p:nvPr/>
        </p:nvSpPr>
        <p:spPr>
          <a:xfrm>
            <a:off x="5194812" y="5678437"/>
            <a:ext cx="173781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050" b="1">
                <a:solidFill>
                  <a:srgbClr val="F2A900"/>
                </a:solidFill>
                <a:latin typeface="Arial"/>
              </a:defRPr>
            </a:pPr>
            <a:r>
              <a:t>Medium priority risks</a:t>
            </a:r>
          </a:p>
        </p:txBody>
      </p:sp>
      <p:sp>
        <p:nvSpPr>
          <p:cNvPr id="77" name="summary_2_description_text"/>
          <p:cNvSpPr txBox="1"/>
          <p:nvPr/>
        </p:nvSpPr>
        <p:spPr>
          <a:xfrm>
            <a:off x="5194812" y="5852173"/>
            <a:ext cx="1692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Actively being</a:t>
            </a:r>
            <a:br/>
            <a:r>
              <a:t>mitigated</a:t>
            </a:r>
          </a:p>
        </p:txBody>
      </p:sp>
      <p:sp>
        <p:nvSpPr>
          <p:cNvPr id="78" name="summary_3_count_text"/>
          <p:cNvSpPr txBox="1"/>
          <p:nvPr/>
        </p:nvSpPr>
        <p:spPr>
          <a:xfrm>
            <a:off x="7225308" y="5678437"/>
            <a:ext cx="384148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2800" b="1">
                <a:solidFill>
                  <a:srgbClr val="0057B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9" name="summary_3_label_text"/>
          <p:cNvSpPr txBox="1"/>
          <p:nvPr/>
        </p:nvSpPr>
        <p:spPr>
          <a:xfrm>
            <a:off x="7627748" y="5678437"/>
            <a:ext cx="1006101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050" b="1">
                <a:solidFill>
                  <a:srgbClr val="0057B8"/>
                </a:solidFill>
                <a:latin typeface="Arial"/>
              </a:defRPr>
            </a:pPr>
            <a:r>
              <a:rPr dirty="0"/>
              <a:t>Open risks</a:t>
            </a:r>
          </a:p>
        </p:txBody>
      </p:sp>
      <p:sp>
        <p:nvSpPr>
          <p:cNvPr id="80" name="summary_3_description_text"/>
          <p:cNvSpPr txBox="1"/>
          <p:nvPr/>
        </p:nvSpPr>
        <p:spPr>
          <a:xfrm>
            <a:off x="7627748" y="5852173"/>
            <a:ext cx="1509152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rPr dirty="0"/>
              <a:t>Tracking and managed</a:t>
            </a:r>
            <a:br>
              <a:rPr dirty="0"/>
            </a:br>
            <a:r>
              <a:rPr dirty="0"/>
              <a:t>through plans</a:t>
            </a:r>
          </a:p>
        </p:txBody>
      </p:sp>
      <p:sp>
        <p:nvSpPr>
          <p:cNvPr id="81" name="summary_4_count_text"/>
          <p:cNvSpPr txBox="1"/>
          <p:nvPr/>
        </p:nvSpPr>
        <p:spPr>
          <a:xfrm>
            <a:off x="9575928" y="5678437"/>
            <a:ext cx="384148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defRPr sz="2800" b="1">
                <a:solidFill>
                  <a:srgbClr val="007A3D"/>
                </a:solidFill>
                <a:latin typeface="Arial"/>
              </a:defRPr>
            </a:pPr>
            <a:r>
              <a:rPr dirty="0"/>
              <a:t>0</a:t>
            </a:r>
          </a:p>
        </p:txBody>
      </p:sp>
      <p:sp>
        <p:nvSpPr>
          <p:cNvPr id="82" name="summary_4_label_text"/>
          <p:cNvSpPr txBox="1"/>
          <p:nvPr/>
        </p:nvSpPr>
        <p:spPr>
          <a:xfrm>
            <a:off x="9996662" y="5678437"/>
            <a:ext cx="1189029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050" b="1">
                <a:solidFill>
                  <a:srgbClr val="007A3D"/>
                </a:solidFill>
                <a:latin typeface="Arial"/>
              </a:defRPr>
            </a:pPr>
            <a:r>
              <a:rPr dirty="0"/>
              <a:t>Closed risks</a:t>
            </a:r>
          </a:p>
        </p:txBody>
      </p:sp>
      <p:sp>
        <p:nvSpPr>
          <p:cNvPr id="83" name="summary_4_description_text"/>
          <p:cNvSpPr txBox="1"/>
          <p:nvPr/>
        </p:nvSpPr>
        <p:spPr>
          <a:xfrm>
            <a:off x="9996662" y="5852173"/>
            <a:ext cx="1417689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rPr dirty="0"/>
              <a:t>No closed risks</a:t>
            </a:r>
            <a:br>
              <a:rPr dirty="0"/>
            </a:br>
            <a:r>
              <a:rPr dirty="0"/>
              <a:t>at present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2</TotalTime>
  <Words>316</Words>
  <Application>Microsoft Macintosh PowerPoint</Application>
  <PresentationFormat>Widescreen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5</cp:revision>
  <dcterms:created xsi:type="dcterms:W3CDTF">2013-01-27T09:14:16Z</dcterms:created>
  <dcterms:modified xsi:type="dcterms:W3CDTF">2026-07-21T07:27:42Z</dcterms:modified>
  <cp:category/>
</cp:coreProperties>
</file>