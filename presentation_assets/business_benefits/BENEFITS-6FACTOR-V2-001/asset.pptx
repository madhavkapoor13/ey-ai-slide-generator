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12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592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982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545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44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435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127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49926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491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329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374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626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57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3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/>
          <p:nvPr/>
        </p:nvSpPr>
        <p:spPr>
          <a:xfrm>
            <a:off x="475488" y="292608"/>
            <a:ext cx="94649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061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Business benefits</a:t>
            </a:r>
            <a:endParaRPr lang="en-US" sz="2400" dirty="0">
              <a:latin typeface="+mj-lt"/>
            </a:endParaRPr>
          </a:p>
        </p:txBody>
      </p:sp>
      <p:sp>
        <p:nvSpPr>
          <p:cNvPr id="3" name="subtitle_text"/>
          <p:cNvSpPr/>
          <p:nvPr/>
        </p:nvSpPr>
        <p:spPr>
          <a:xfrm>
            <a:off x="484632" y="53263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value levers demonstrate how the future state can improve efficiency, control and scalable performance.</a:t>
            </a:r>
            <a:endParaRPr lang="en-US" sz="1100" i="1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67588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25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75104" y="1024128"/>
            <a:ext cx="457200" cy="274320"/>
          </a:xfrm>
          <a:prstGeom prst="rect">
            <a:avLst/>
          </a:prstGeom>
          <a:solidFill>
            <a:srgbClr val="005EEB"/>
          </a:solidFill>
          <a:ln w="9525">
            <a:solidFill>
              <a:srgbClr val="005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75104" y="10652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benefit_1_label_text"/>
          <p:cNvSpPr/>
          <p:nvPr/>
        </p:nvSpPr>
        <p:spPr>
          <a:xfrm>
            <a:off x="530352" y="1421892"/>
            <a:ext cx="334670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improvement</a:t>
            </a:r>
            <a:endParaRPr lang="en-US" sz="1600" dirty="0"/>
          </a:p>
        </p:txBody>
      </p:sp>
      <p:sp>
        <p:nvSpPr>
          <p:cNvPr id="9" name="benefit_1_description_text"/>
          <p:cNvSpPr/>
          <p:nvPr/>
        </p:nvSpPr>
        <p:spPr>
          <a:xfrm>
            <a:off x="713232" y="1776222"/>
            <a:ext cx="298094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Streamline manual effort and remove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non-value-adding activities across the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475488" y="2660904"/>
            <a:ext cx="3456432" cy="539496"/>
          </a:xfrm>
          <a:prstGeom prst="rect">
            <a:avLst/>
          </a:prstGeom>
          <a:solidFill>
            <a:srgbClr val="F1F7FF"/>
          </a:solidFill>
          <a:ln w="9525">
            <a:solidFill>
              <a:srgbClr val="F1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50" dirty="0"/>
          </a:p>
        </p:txBody>
      </p:sp>
      <p:sp>
        <p:nvSpPr>
          <p:cNvPr id="12" name="benefit_1_impact_text"/>
          <p:cNvSpPr/>
          <p:nvPr/>
        </p:nvSpPr>
        <p:spPr>
          <a:xfrm>
            <a:off x="594360" y="293522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operating cost and faster cycle times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33672" y="1353312"/>
            <a:ext cx="367588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25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43016" y="1024128"/>
            <a:ext cx="457200" cy="274320"/>
          </a:xfrm>
          <a:prstGeom prst="rect">
            <a:avLst/>
          </a:prstGeom>
          <a:solidFill>
            <a:srgbClr val="005EEB"/>
          </a:solidFill>
          <a:ln w="9525">
            <a:solidFill>
              <a:srgbClr val="005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43016" y="10652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benefit_2_label_text"/>
          <p:cNvSpPr/>
          <p:nvPr/>
        </p:nvSpPr>
        <p:spPr>
          <a:xfrm>
            <a:off x="4398264" y="1417320"/>
            <a:ext cx="3346704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control</a:t>
            </a:r>
            <a:endParaRPr lang="en-US" sz="1600" dirty="0"/>
          </a:p>
        </p:txBody>
      </p:sp>
      <p:sp>
        <p:nvSpPr>
          <p:cNvPr id="17" name="benefit_2_description_text"/>
          <p:cNvSpPr/>
          <p:nvPr/>
        </p:nvSpPr>
        <p:spPr>
          <a:xfrm>
            <a:off x="4581144" y="1776222"/>
            <a:ext cx="2980944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policy-driven execution and stronger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into day-to-day operations.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4343400" y="2660904"/>
            <a:ext cx="3456432" cy="539496"/>
          </a:xfrm>
          <a:prstGeom prst="rect">
            <a:avLst/>
          </a:prstGeom>
          <a:solidFill>
            <a:srgbClr val="F1F7FF"/>
          </a:solidFill>
          <a:ln w="9525">
            <a:solidFill>
              <a:srgbClr val="F1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62272" y="275234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50" dirty="0"/>
          </a:p>
        </p:txBody>
      </p:sp>
      <p:sp>
        <p:nvSpPr>
          <p:cNvPr id="20" name="benefit_2_impact_text"/>
          <p:cNvSpPr/>
          <p:nvPr/>
        </p:nvSpPr>
        <p:spPr>
          <a:xfrm>
            <a:off x="4462272" y="293522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compliance and reduced risk exposure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01584" y="1353312"/>
            <a:ext cx="367588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25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710928" y="1024128"/>
            <a:ext cx="457200" cy="274320"/>
          </a:xfrm>
          <a:prstGeom prst="rect">
            <a:avLst/>
          </a:prstGeom>
          <a:solidFill>
            <a:srgbClr val="005EEB"/>
          </a:solidFill>
          <a:ln w="9525">
            <a:solidFill>
              <a:srgbClr val="005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10928" y="10652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benefit_3_label_text"/>
          <p:cNvSpPr/>
          <p:nvPr/>
        </p:nvSpPr>
        <p:spPr>
          <a:xfrm>
            <a:off x="8266176" y="1435608"/>
            <a:ext cx="33467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25" name="benefit_3_description_text"/>
          <p:cNvSpPr/>
          <p:nvPr/>
        </p:nvSpPr>
        <p:spPr>
          <a:xfrm>
            <a:off x="8449056" y="1757934"/>
            <a:ext cx="2980944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trusted visibility across processes,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and exceptions to improve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action.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8211312" y="2660904"/>
            <a:ext cx="3456432" cy="539496"/>
          </a:xfrm>
          <a:prstGeom prst="rect">
            <a:avLst/>
          </a:prstGeom>
          <a:solidFill>
            <a:srgbClr val="F1F7FF"/>
          </a:solidFill>
          <a:ln w="9525">
            <a:solidFill>
              <a:srgbClr val="F1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30184" y="275234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50" dirty="0"/>
          </a:p>
        </p:txBody>
      </p:sp>
      <p:sp>
        <p:nvSpPr>
          <p:cNvPr id="28" name="benefit_3_impact_text"/>
          <p:cNvSpPr/>
          <p:nvPr/>
        </p:nvSpPr>
        <p:spPr>
          <a:xfrm>
            <a:off x="8330184" y="293522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decision quality and proactive intervention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367588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25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975104" y="3374136"/>
            <a:ext cx="457200" cy="274320"/>
          </a:xfrm>
          <a:prstGeom prst="rect">
            <a:avLst/>
          </a:prstGeom>
          <a:solidFill>
            <a:srgbClr val="005EEB"/>
          </a:solidFill>
          <a:ln w="9525">
            <a:solidFill>
              <a:srgbClr val="005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75104" y="34152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benefit_4_label_text"/>
          <p:cNvSpPr/>
          <p:nvPr/>
        </p:nvSpPr>
        <p:spPr>
          <a:xfrm>
            <a:off x="530352" y="3721608"/>
            <a:ext cx="3346704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33" name="benefit_4_description_text"/>
          <p:cNvSpPr/>
          <p:nvPr/>
        </p:nvSpPr>
        <p:spPr>
          <a:xfrm>
            <a:off x="713232" y="4085082"/>
            <a:ext cx="298094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 interactions and improve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responsiveness across internal and external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journeys.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475488" y="5010912"/>
            <a:ext cx="3456432" cy="539496"/>
          </a:xfrm>
          <a:prstGeom prst="rect">
            <a:avLst/>
          </a:prstGeom>
          <a:solidFill>
            <a:srgbClr val="F1F7FF"/>
          </a:solidFill>
          <a:ln w="9525">
            <a:solidFill>
              <a:srgbClr val="F1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510235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50" dirty="0"/>
          </a:p>
        </p:txBody>
      </p:sp>
      <p:sp>
        <p:nvSpPr>
          <p:cNvPr id="36" name="benefit_4_impact_text"/>
          <p:cNvSpPr/>
          <p:nvPr/>
        </p:nvSpPr>
        <p:spPr>
          <a:xfrm>
            <a:off x="594360" y="528523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satisfaction and more consistent service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233672" y="3703320"/>
            <a:ext cx="367588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25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43016" y="3374136"/>
            <a:ext cx="457200" cy="274320"/>
          </a:xfrm>
          <a:prstGeom prst="rect">
            <a:avLst/>
          </a:prstGeom>
          <a:solidFill>
            <a:srgbClr val="005EEB"/>
          </a:solidFill>
          <a:ln w="9525">
            <a:solidFill>
              <a:srgbClr val="005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43016" y="34152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benefit_5_label_text"/>
          <p:cNvSpPr/>
          <p:nvPr/>
        </p:nvSpPr>
        <p:spPr>
          <a:xfrm>
            <a:off x="4398264" y="3721608"/>
            <a:ext cx="3346704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productivity</a:t>
            </a:r>
            <a:endParaRPr lang="en-US" sz="1600" dirty="0"/>
          </a:p>
        </p:txBody>
      </p:sp>
      <p:sp>
        <p:nvSpPr>
          <p:cNvPr id="41" name="benefit_5_description_text"/>
          <p:cNvSpPr/>
          <p:nvPr/>
        </p:nvSpPr>
        <p:spPr>
          <a:xfrm>
            <a:off x="4581144" y="4103370"/>
            <a:ext cx="2980944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 teams with better tools, insights and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support to focus on higher-value work.</a:t>
            </a:r>
            <a:endParaRPr lang="en-US" sz="1240" dirty="0"/>
          </a:p>
        </p:txBody>
      </p:sp>
      <p:sp>
        <p:nvSpPr>
          <p:cNvPr id="42" name="Shape 40"/>
          <p:cNvSpPr/>
          <p:nvPr/>
        </p:nvSpPr>
        <p:spPr>
          <a:xfrm>
            <a:off x="4343400" y="5010912"/>
            <a:ext cx="3456432" cy="539496"/>
          </a:xfrm>
          <a:prstGeom prst="rect">
            <a:avLst/>
          </a:prstGeom>
          <a:solidFill>
            <a:srgbClr val="F1F7FF"/>
          </a:solidFill>
          <a:ln w="9525">
            <a:solidFill>
              <a:srgbClr val="F1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62272" y="510235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50" dirty="0"/>
          </a:p>
        </p:txBody>
      </p:sp>
      <p:sp>
        <p:nvSpPr>
          <p:cNvPr id="44" name="benefit_5_impact_text"/>
          <p:cNvSpPr/>
          <p:nvPr/>
        </p:nvSpPr>
        <p:spPr>
          <a:xfrm>
            <a:off x="4462272" y="528523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capacity for strategic and analytical activity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101584" y="3703320"/>
            <a:ext cx="367588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258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710928" y="3374136"/>
            <a:ext cx="457200" cy="274320"/>
          </a:xfrm>
          <a:prstGeom prst="rect">
            <a:avLst/>
          </a:prstGeom>
          <a:solidFill>
            <a:srgbClr val="005EEB"/>
          </a:solidFill>
          <a:ln w="9525">
            <a:solidFill>
              <a:srgbClr val="005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710928" y="34152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48" name="benefit_6_label_text"/>
          <p:cNvSpPr/>
          <p:nvPr/>
        </p:nvSpPr>
        <p:spPr>
          <a:xfrm>
            <a:off x="8266176" y="3721608"/>
            <a:ext cx="3346704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 and resilience</a:t>
            </a:r>
            <a:endParaRPr lang="en-US" sz="1600" dirty="0"/>
          </a:p>
        </p:txBody>
      </p:sp>
      <p:sp>
        <p:nvSpPr>
          <p:cNvPr id="49" name="benefit_6_description_text"/>
          <p:cNvSpPr/>
          <p:nvPr/>
        </p:nvSpPr>
        <p:spPr>
          <a:xfrm>
            <a:off x="8449056" y="4085082"/>
            <a:ext cx="298094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more adaptable operating model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by standardized processes and</a:t>
            </a:r>
            <a:endParaRPr lang="en-US" sz="1240" dirty="0"/>
          </a:p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enablement.</a:t>
            </a:r>
            <a:endParaRPr lang="en-US" sz="1240" dirty="0"/>
          </a:p>
        </p:txBody>
      </p:sp>
      <p:sp>
        <p:nvSpPr>
          <p:cNvPr id="50" name="Shape 48"/>
          <p:cNvSpPr/>
          <p:nvPr/>
        </p:nvSpPr>
        <p:spPr>
          <a:xfrm>
            <a:off x="8211312" y="5010912"/>
            <a:ext cx="3456432" cy="539496"/>
          </a:xfrm>
          <a:prstGeom prst="rect">
            <a:avLst/>
          </a:prstGeom>
          <a:solidFill>
            <a:srgbClr val="F1F7FF"/>
          </a:solidFill>
          <a:ln w="9525">
            <a:solidFill>
              <a:srgbClr val="F1F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330184" y="510235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50" dirty="0"/>
          </a:p>
        </p:txBody>
      </p:sp>
      <p:sp>
        <p:nvSpPr>
          <p:cNvPr id="52" name="benefit_6_impact_text"/>
          <p:cNvSpPr/>
          <p:nvPr/>
        </p:nvSpPr>
        <p:spPr>
          <a:xfrm>
            <a:off x="8330184" y="528523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Sustainable growth and stronger business continuity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65760" y="5742432"/>
            <a:ext cx="11457432" cy="530352"/>
          </a:xfrm>
          <a:prstGeom prst="rect">
            <a:avLst/>
          </a:prstGeom>
          <a:solidFill>
            <a:srgbClr val="F5F9FF"/>
          </a:solidFill>
          <a:ln w="17780">
            <a:solidFill>
              <a:srgbClr val="006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akeaway_text"/>
          <p:cNvSpPr/>
          <p:nvPr/>
        </p:nvSpPr>
        <p:spPr>
          <a:xfrm>
            <a:off x="658368" y="591616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these six benefits build a stronger business case by linking transformation actions to measurable enterprise value.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9</TotalTime>
  <Words>180</Words>
  <Application>Microsoft Macintosh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benefits</dc:title>
  <dc:subject>Business benefits</dc:subject>
  <dc:creator>OpenAI</dc:creator>
  <cp:lastModifiedBy>Madhav Kapoor</cp:lastModifiedBy>
  <cp:revision>5</cp:revision>
  <dcterms:created xsi:type="dcterms:W3CDTF">2026-07-15T14:55:10Z</dcterms:created>
  <dcterms:modified xsi:type="dcterms:W3CDTF">2026-07-21T07:24:14Z</dcterms:modified>
</cp:coreProperties>
</file>