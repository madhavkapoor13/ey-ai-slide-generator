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1"/>
    <p:restoredTop sz="94638"/>
  </p:normalViewPr>
  <p:slideViewPr>
    <p:cSldViewPr snapToGrid="0" snapToObjects="1">
      <p:cViewPr varScale="1">
        <p:scale>
          <a:sx n="106" d="100"/>
          <a:sy n="106" d="100"/>
        </p:scale>
        <p:origin x="184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621" y="2130426"/>
            <a:ext cx="7770376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243" y="3886200"/>
            <a:ext cx="639913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8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37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25" y="4406901"/>
            <a:ext cx="7770376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25" y="2906713"/>
            <a:ext cx="7770376" cy="1500187"/>
          </a:xfrm>
        </p:spPr>
        <p:txBody>
          <a:bodyPr anchor="b"/>
          <a:lstStyle>
            <a:lvl1pPr marL="0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1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081" y="1600201"/>
            <a:ext cx="403754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990" y="1600201"/>
            <a:ext cx="403754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60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1" y="1535113"/>
            <a:ext cx="4039136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081" y="2174875"/>
            <a:ext cx="4039136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3816" y="1535113"/>
            <a:ext cx="4040722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3816" y="2174875"/>
            <a:ext cx="4040722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47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9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459" y="796996"/>
            <a:ext cx="11225908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0285" y="6339265"/>
            <a:ext cx="954206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242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273050"/>
            <a:ext cx="3007530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119" y="273051"/>
            <a:ext cx="5110419" cy="585311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1435101"/>
            <a:ext cx="300753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41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821" y="4800600"/>
            <a:ext cx="5484971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821" y="612775"/>
            <a:ext cx="5484971" cy="4114800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821" y="5367338"/>
            <a:ext cx="5484971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9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7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4" y="274639"/>
            <a:ext cx="2056864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081" y="274639"/>
            <a:ext cx="601823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7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081" y="274638"/>
            <a:ext cx="82274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1" y="1600201"/>
            <a:ext cx="82274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081" y="6356351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3386" y="6356351"/>
            <a:ext cx="28948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1494" y="6356351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6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063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7" indent="-342797" algn="l" defTabSz="457063" rtl="0" eaLnBrk="1" latinLnBrk="0" hangingPunct="1">
        <a:spcBef>
          <a:spcPct val="20000"/>
        </a:spcBef>
        <a:buFont typeface="Arial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buFont typeface="Arial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ct val="20000"/>
        </a:spcBef>
        <a:buFont typeface="Arial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ct val="20000"/>
        </a:spcBef>
        <a:buFont typeface="Arial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ct val="20000"/>
        </a:spcBef>
        <a:buFont typeface="Arial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text"/>
          <p:cNvSpPr txBox="1"/>
          <p:nvPr/>
        </p:nvSpPr>
        <p:spPr>
          <a:xfrm>
            <a:off x="479578" y="199204"/>
            <a:ext cx="9238170" cy="40626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 dirty="0">
                <a:solidFill>
                  <a:srgbClr val="000000"/>
                </a:solidFill>
                <a:latin typeface="Arial"/>
              </a:rPr>
              <a:t>Investment case: Strong value creation with attractive payback</a:t>
            </a:r>
          </a:p>
        </p:txBody>
      </p:sp>
      <p:sp>
        <p:nvSpPr>
          <p:cNvPr id="4" name="subtitle_text"/>
          <p:cNvSpPr txBox="1"/>
          <p:nvPr/>
        </p:nvSpPr>
        <p:spPr>
          <a:xfrm>
            <a:off x="479578" y="578495"/>
            <a:ext cx="6277424" cy="2062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i="1" dirty="0">
                <a:solidFill>
                  <a:srgbClr val="0055FF"/>
                </a:solidFill>
                <a:latin typeface="Arial"/>
              </a:rPr>
              <a:t>Focused investment today enables scalable benefits, stronger performance and a compelling return.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807208" cy="31729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0896" y="1088136"/>
            <a:ext cx="621792" cy="53035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1234439"/>
            <a:ext cx="193852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dirty="0">
                <a:solidFill>
                  <a:srgbClr val="003DA5"/>
                </a:solidFill>
                <a:latin typeface="Arial"/>
              </a:rPr>
              <a:t>INVESTMENT REQUIRED</a:t>
            </a:r>
          </a:p>
        </p:txBody>
      </p:sp>
      <p:sp>
        <p:nvSpPr>
          <p:cNvPr id="10" name="investment_required_value_text"/>
          <p:cNvSpPr txBox="1"/>
          <p:nvPr/>
        </p:nvSpPr>
        <p:spPr>
          <a:xfrm>
            <a:off x="1209013" y="1764792"/>
            <a:ext cx="937821" cy="4678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800" b="1" dirty="0">
                <a:solidFill>
                  <a:srgbClr val="003DA5"/>
                </a:solidFill>
                <a:latin typeface="Arial"/>
              </a:rPr>
              <a:t>$12M</a:t>
            </a:r>
          </a:p>
        </p:txBody>
      </p:sp>
      <p:sp>
        <p:nvSpPr>
          <p:cNvPr id="11" name="investment_scope_text"/>
          <p:cNvSpPr txBox="1"/>
          <p:nvPr/>
        </p:nvSpPr>
        <p:spPr>
          <a:xfrm>
            <a:off x="1053617" y="2295144"/>
            <a:ext cx="1248612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Total investment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8912" y="2679191"/>
            <a:ext cx="2459735" cy="0"/>
          </a:xfrm>
          <a:prstGeom prst="line">
            <a:avLst/>
          </a:prstGeom>
          <a:ln w="1016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vestment_component_1_label_text"/>
          <p:cNvSpPr txBox="1"/>
          <p:nvPr/>
        </p:nvSpPr>
        <p:spPr>
          <a:xfrm>
            <a:off x="438912" y="289864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Technology</a:t>
            </a:r>
          </a:p>
        </p:txBody>
      </p:sp>
      <p:sp>
        <p:nvSpPr>
          <p:cNvPr id="14" name="investment_component_1_value_text"/>
          <p:cNvSpPr txBox="1"/>
          <p:nvPr/>
        </p:nvSpPr>
        <p:spPr>
          <a:xfrm>
            <a:off x="2304288" y="289864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$6.0M</a:t>
            </a:r>
          </a:p>
        </p:txBody>
      </p:sp>
      <p:sp>
        <p:nvSpPr>
          <p:cNvPr id="15" name="investment_component_2_label_text"/>
          <p:cNvSpPr txBox="1"/>
          <p:nvPr/>
        </p:nvSpPr>
        <p:spPr>
          <a:xfrm>
            <a:off x="438912" y="321868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People</a:t>
            </a:r>
          </a:p>
        </p:txBody>
      </p:sp>
      <p:sp>
        <p:nvSpPr>
          <p:cNvPr id="16" name="investment_component_2_value_text"/>
          <p:cNvSpPr txBox="1"/>
          <p:nvPr/>
        </p:nvSpPr>
        <p:spPr>
          <a:xfrm>
            <a:off x="2304288" y="321868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$3.0M</a:t>
            </a:r>
          </a:p>
        </p:txBody>
      </p:sp>
      <p:sp>
        <p:nvSpPr>
          <p:cNvPr id="17" name="investment_component_3_label_text"/>
          <p:cNvSpPr txBox="1"/>
          <p:nvPr/>
        </p:nvSpPr>
        <p:spPr>
          <a:xfrm>
            <a:off x="438912" y="353872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Change management</a:t>
            </a:r>
          </a:p>
        </p:txBody>
      </p:sp>
      <p:sp>
        <p:nvSpPr>
          <p:cNvPr id="18" name="investment_component_3_value_text"/>
          <p:cNvSpPr txBox="1"/>
          <p:nvPr/>
        </p:nvSpPr>
        <p:spPr>
          <a:xfrm>
            <a:off x="2304288" y="353872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$2.0M</a:t>
            </a:r>
          </a:p>
        </p:txBody>
      </p:sp>
      <p:sp>
        <p:nvSpPr>
          <p:cNvPr id="19" name="investment_component_4_label_text"/>
          <p:cNvSpPr txBox="1"/>
          <p:nvPr/>
        </p:nvSpPr>
        <p:spPr>
          <a:xfrm>
            <a:off x="438912" y="385876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Contingency</a:t>
            </a:r>
          </a:p>
        </p:txBody>
      </p:sp>
      <p:sp>
        <p:nvSpPr>
          <p:cNvPr id="20" name="investment_component_4_value_text"/>
          <p:cNvSpPr txBox="1"/>
          <p:nvPr/>
        </p:nvSpPr>
        <p:spPr>
          <a:xfrm>
            <a:off x="2304288" y="385876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$1.0M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76471"/>
            <a:ext cx="2715768" cy="402335"/>
          </a:xfrm>
          <a:prstGeom prst="rect">
            <a:avLst/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2593" y="3778225"/>
            <a:ext cx="530659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 dirty="0">
                <a:solidFill>
                  <a:srgbClr val="0055FF"/>
                </a:solidFill>
                <a:latin typeface="Arial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4032504"/>
            <a:ext cx="2295144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19" b="0" dirty="0">
                <a:solidFill>
                  <a:srgbClr val="000000"/>
                </a:solidFill>
                <a:latin typeface="Arial"/>
              </a:rPr>
              <a:t>Total investment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9544" y="1051560"/>
            <a:ext cx="2807208" cy="31729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46120" y="1088136"/>
            <a:ext cx="621792" cy="53035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95928" y="1234439"/>
            <a:ext cx="193852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dirty="0">
                <a:solidFill>
                  <a:srgbClr val="003DA5"/>
                </a:solidFill>
                <a:latin typeface="Arial"/>
              </a:rPr>
              <a:t>VALUE CREATED (ANNUAL)</a:t>
            </a:r>
          </a:p>
        </p:txBody>
      </p:sp>
      <p:sp>
        <p:nvSpPr>
          <p:cNvPr id="28" name="value_created_value_text"/>
          <p:cNvSpPr txBox="1"/>
          <p:nvPr/>
        </p:nvSpPr>
        <p:spPr>
          <a:xfrm>
            <a:off x="4144236" y="1764792"/>
            <a:ext cx="937821" cy="4678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800" b="1" dirty="0">
                <a:solidFill>
                  <a:srgbClr val="003DA5"/>
                </a:solidFill>
                <a:latin typeface="Arial"/>
              </a:rPr>
              <a:t>$28M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0743" y="2295144"/>
            <a:ext cx="2104807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Annual value at steady state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74136" y="2679191"/>
            <a:ext cx="2459736" cy="0"/>
          </a:xfrm>
          <a:prstGeom prst="line">
            <a:avLst/>
          </a:prstGeom>
          <a:ln w="1016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value_component_1_label_text"/>
          <p:cNvSpPr txBox="1"/>
          <p:nvPr/>
        </p:nvSpPr>
        <p:spPr>
          <a:xfrm>
            <a:off x="3374136" y="289864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Cost reduction</a:t>
            </a:r>
          </a:p>
        </p:txBody>
      </p:sp>
      <p:sp>
        <p:nvSpPr>
          <p:cNvPr id="32" name="value_component_1_value_text"/>
          <p:cNvSpPr txBox="1"/>
          <p:nvPr/>
        </p:nvSpPr>
        <p:spPr>
          <a:xfrm>
            <a:off x="5239512" y="289864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$14.0M</a:t>
            </a:r>
          </a:p>
        </p:txBody>
      </p:sp>
      <p:sp>
        <p:nvSpPr>
          <p:cNvPr id="33" name="value_component_2_label_text"/>
          <p:cNvSpPr txBox="1"/>
          <p:nvPr/>
        </p:nvSpPr>
        <p:spPr>
          <a:xfrm>
            <a:off x="3374136" y="321868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Working capital improvement</a:t>
            </a:r>
          </a:p>
        </p:txBody>
      </p:sp>
      <p:sp>
        <p:nvSpPr>
          <p:cNvPr id="34" name="value_component_2_value_text"/>
          <p:cNvSpPr txBox="1"/>
          <p:nvPr/>
        </p:nvSpPr>
        <p:spPr>
          <a:xfrm>
            <a:off x="5239512" y="321868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$8.0M</a:t>
            </a:r>
          </a:p>
        </p:txBody>
      </p:sp>
      <p:sp>
        <p:nvSpPr>
          <p:cNvPr id="35" name="value_component_3_label_text"/>
          <p:cNvSpPr txBox="1"/>
          <p:nvPr/>
        </p:nvSpPr>
        <p:spPr>
          <a:xfrm>
            <a:off x="3374136" y="353872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Growth enablement</a:t>
            </a:r>
          </a:p>
        </p:txBody>
      </p:sp>
      <p:sp>
        <p:nvSpPr>
          <p:cNvPr id="36" name="value_component_3_value_text"/>
          <p:cNvSpPr txBox="1"/>
          <p:nvPr/>
        </p:nvSpPr>
        <p:spPr>
          <a:xfrm>
            <a:off x="5239512" y="353872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$6.0M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55263" y="3776471"/>
            <a:ext cx="2715768" cy="402336"/>
          </a:xfrm>
          <a:prstGeom prst="rect">
            <a:avLst/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value_investment_value_text"/>
          <p:cNvSpPr txBox="1"/>
          <p:nvPr/>
        </p:nvSpPr>
        <p:spPr>
          <a:xfrm>
            <a:off x="4407128" y="3778454"/>
            <a:ext cx="412036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 dirty="0">
                <a:solidFill>
                  <a:srgbClr val="0055FF"/>
                </a:solidFill>
                <a:latin typeface="Arial"/>
              </a:rPr>
              <a:t>2.3x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65574" y="4046220"/>
            <a:ext cx="2295144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19" b="0" dirty="0">
                <a:solidFill>
                  <a:srgbClr val="000000"/>
                </a:solidFill>
                <a:latin typeface="Arial"/>
              </a:rPr>
              <a:t>Value / Investment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1051560"/>
            <a:ext cx="2807208" cy="31729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81344" y="1088136"/>
            <a:ext cx="621792" cy="53035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61750" y="1255090"/>
            <a:ext cx="60979" cy="141577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lang="en-US" sz="680" b="0" dirty="0">
                <a:solidFill>
                  <a:srgbClr val="FFFFFF"/>
                </a:solidFill>
                <a:latin typeface="Arial"/>
              </a:rPr>
              <a:t>\</a:t>
            </a:r>
            <a:endParaRPr sz="68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931152" y="1234439"/>
            <a:ext cx="193852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dirty="0">
                <a:solidFill>
                  <a:srgbClr val="003DA5"/>
                </a:solidFill>
                <a:latin typeface="Arial"/>
              </a:rPr>
              <a:t>TIMING</a:t>
            </a:r>
          </a:p>
        </p:txBody>
      </p:sp>
      <p:sp>
        <p:nvSpPr>
          <p:cNvPr id="44" name="timing_value_text"/>
          <p:cNvSpPr txBox="1"/>
          <p:nvPr/>
        </p:nvSpPr>
        <p:spPr>
          <a:xfrm>
            <a:off x="6995558" y="1764792"/>
            <a:ext cx="437684" cy="4678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2800" b="1" dirty="0">
                <a:solidFill>
                  <a:srgbClr val="003DA5"/>
                </a:solidFill>
                <a:latin typeface="Arial"/>
              </a:rPr>
              <a:t>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3242" y="1885122"/>
            <a:ext cx="870495" cy="3139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b="1" dirty="0">
                <a:solidFill>
                  <a:srgbClr val="003DA5"/>
                </a:solidFill>
                <a:latin typeface="Arial"/>
              </a:rPr>
              <a:t>months</a:t>
            </a:r>
          </a:p>
        </p:txBody>
      </p:sp>
      <p:sp>
        <p:nvSpPr>
          <p:cNvPr id="46" name="phased_approach_text"/>
          <p:cNvSpPr txBox="1"/>
          <p:nvPr/>
        </p:nvSpPr>
        <p:spPr>
          <a:xfrm>
            <a:off x="6682814" y="2295144"/>
            <a:ext cx="1731115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To full value realization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09359" y="2679191"/>
            <a:ext cx="2459737" cy="0"/>
          </a:xfrm>
          <a:prstGeom prst="line">
            <a:avLst/>
          </a:prstGeom>
          <a:ln w="1016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imeline_1_label_text"/>
          <p:cNvSpPr txBox="1"/>
          <p:nvPr/>
        </p:nvSpPr>
        <p:spPr>
          <a:xfrm>
            <a:off x="6309359" y="289864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Design</a:t>
            </a:r>
          </a:p>
        </p:txBody>
      </p:sp>
      <p:sp>
        <p:nvSpPr>
          <p:cNvPr id="49" name="timeline_1_duration_text"/>
          <p:cNvSpPr txBox="1"/>
          <p:nvPr/>
        </p:nvSpPr>
        <p:spPr>
          <a:xfrm>
            <a:off x="8174736" y="289864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4 months</a:t>
            </a:r>
          </a:p>
        </p:txBody>
      </p:sp>
      <p:sp>
        <p:nvSpPr>
          <p:cNvPr id="50" name="timeline_2_label_text"/>
          <p:cNvSpPr txBox="1"/>
          <p:nvPr/>
        </p:nvSpPr>
        <p:spPr>
          <a:xfrm>
            <a:off x="6309359" y="321868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Deploy</a:t>
            </a:r>
          </a:p>
        </p:txBody>
      </p:sp>
      <p:sp>
        <p:nvSpPr>
          <p:cNvPr id="51" name="timeline_2_duration_text"/>
          <p:cNvSpPr txBox="1"/>
          <p:nvPr/>
        </p:nvSpPr>
        <p:spPr>
          <a:xfrm>
            <a:off x="8174736" y="321868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12 months</a:t>
            </a:r>
          </a:p>
        </p:txBody>
      </p:sp>
      <p:sp>
        <p:nvSpPr>
          <p:cNvPr id="52" name="timeline_3_label_text"/>
          <p:cNvSpPr txBox="1"/>
          <p:nvPr/>
        </p:nvSpPr>
        <p:spPr>
          <a:xfrm>
            <a:off x="6309359" y="353872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53" name="timeline_3_duration_text"/>
          <p:cNvSpPr txBox="1"/>
          <p:nvPr/>
        </p:nvSpPr>
        <p:spPr>
          <a:xfrm>
            <a:off x="8174736" y="353872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8 months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90488" y="3776471"/>
            <a:ext cx="2715768" cy="402336"/>
          </a:xfrm>
          <a:prstGeom prst="rect">
            <a:avLst/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ayback_value_text"/>
          <p:cNvSpPr txBox="1"/>
          <p:nvPr/>
        </p:nvSpPr>
        <p:spPr>
          <a:xfrm>
            <a:off x="7095468" y="3776471"/>
            <a:ext cx="251736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500" b="1" dirty="0">
                <a:solidFill>
                  <a:srgbClr val="0055FF"/>
                </a:solidFill>
                <a:latin typeface="Arial"/>
              </a:rPr>
              <a:t>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70064" y="3764738"/>
            <a:ext cx="731034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 dirty="0">
                <a:solidFill>
                  <a:srgbClr val="0055FF"/>
                </a:solidFill>
                <a:latin typeface="Arial"/>
              </a:rPr>
              <a:t>months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86372" y="4032504"/>
            <a:ext cx="1554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19" b="0" dirty="0">
                <a:solidFill>
                  <a:srgbClr val="000000"/>
                </a:solidFill>
                <a:latin typeface="Arial"/>
              </a:rPr>
              <a:t>Payback period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79992" y="1051560"/>
            <a:ext cx="2807208" cy="31729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116567" y="1088136"/>
            <a:ext cx="621792" cy="53035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66376" y="1234439"/>
            <a:ext cx="1938528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dirty="0">
                <a:solidFill>
                  <a:srgbClr val="003DA5"/>
                </a:solidFill>
                <a:latin typeface="Arial"/>
              </a:rPr>
              <a:t>ECONOMICS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86443" y="1812871"/>
            <a:ext cx="1194301" cy="4678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800" b="1" dirty="0">
                <a:solidFill>
                  <a:srgbClr val="003DA5"/>
                </a:solidFill>
                <a:latin typeface="Arial"/>
              </a:rPr>
              <a:t>Strong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32130" y="2295144"/>
            <a:ext cx="1102931" cy="22159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Business case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244584" y="2679191"/>
            <a:ext cx="2459736" cy="0"/>
          </a:xfrm>
          <a:prstGeom prst="line">
            <a:avLst/>
          </a:prstGeom>
          <a:ln w="1016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244584" y="289864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ROI (Year 3)</a:t>
            </a:r>
          </a:p>
        </p:txBody>
      </p:sp>
      <p:sp>
        <p:nvSpPr>
          <p:cNvPr id="66" name="roi_text"/>
          <p:cNvSpPr txBox="1"/>
          <p:nvPr/>
        </p:nvSpPr>
        <p:spPr>
          <a:xfrm>
            <a:off x="11109960" y="289864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192%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44584" y="321868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NPV (3 years, 10% discount rate)</a:t>
            </a:r>
          </a:p>
        </p:txBody>
      </p:sp>
      <p:sp>
        <p:nvSpPr>
          <p:cNvPr id="68" name="npv_text"/>
          <p:cNvSpPr txBox="1"/>
          <p:nvPr/>
        </p:nvSpPr>
        <p:spPr>
          <a:xfrm>
            <a:off x="11109960" y="321868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$24.1M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44584" y="3538728"/>
            <a:ext cx="187451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19" b="0">
                <a:solidFill>
                  <a:srgbClr val="000000"/>
                </a:solidFill>
                <a:latin typeface="Arial"/>
              </a:rPr>
              <a:t>IRR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09960" y="3538728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19" b="1">
                <a:solidFill>
                  <a:srgbClr val="000000"/>
                </a:solidFill>
                <a:latin typeface="Arial"/>
              </a:rPr>
              <a:t>41%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25712" y="3776471"/>
            <a:ext cx="2715768" cy="402336"/>
          </a:xfrm>
          <a:prstGeom prst="rect">
            <a:avLst/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value_drivers_text"/>
          <p:cNvSpPr txBox="1"/>
          <p:nvPr/>
        </p:nvSpPr>
        <p:spPr>
          <a:xfrm>
            <a:off x="10096437" y="3764738"/>
            <a:ext cx="774315" cy="26776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 dirty="0">
                <a:solidFill>
                  <a:srgbClr val="0055FF"/>
                </a:solidFill>
                <a:latin typeface="Arial"/>
              </a:rPr>
              <a:t>Positive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22170" y="4032504"/>
            <a:ext cx="2295144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19" b="0" dirty="0">
                <a:solidFill>
                  <a:srgbClr val="000000"/>
                </a:solidFill>
                <a:latin typeface="Arial"/>
              </a:rPr>
              <a:t>NPV with durable benefits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5652" y="4325126"/>
            <a:ext cx="310896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 dirty="0">
                <a:solidFill>
                  <a:srgbClr val="003DA5"/>
                </a:solidFill>
                <a:latin typeface="Arial"/>
              </a:rPr>
              <a:t>VALUE REALIZATION BRIDGE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3356" y="4572014"/>
            <a:ext cx="1828800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" name="Connector 75"/>
          <p:cNvCxnSpPr/>
          <p:nvPr/>
        </p:nvCxnSpPr>
        <p:spPr>
          <a:xfrm>
            <a:off x="273356" y="4572014"/>
            <a:ext cx="182880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bridge_1_label_text"/>
          <p:cNvSpPr txBox="1"/>
          <p:nvPr/>
        </p:nvSpPr>
        <p:spPr>
          <a:xfrm>
            <a:off x="346508" y="4681742"/>
            <a:ext cx="1682496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30" b="1">
                <a:solidFill>
                  <a:srgbClr val="000000"/>
                </a:solidFill>
                <a:latin typeface="Arial"/>
              </a:rPr>
              <a:t>INVESTMENT</a:t>
            </a:r>
          </a:p>
        </p:txBody>
      </p:sp>
      <p:sp>
        <p:nvSpPr>
          <p:cNvPr id="78" name="bridge_1_description_text"/>
          <p:cNvSpPr txBox="1"/>
          <p:nvPr/>
        </p:nvSpPr>
        <p:spPr>
          <a:xfrm>
            <a:off x="383084" y="4937774"/>
            <a:ext cx="1609344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Deploy capital across
technology, people and
change to enable
transformation.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3356" y="5614430"/>
            <a:ext cx="1828800" cy="274320"/>
          </a:xfrm>
          <a:prstGeom prst="rect">
            <a:avLst/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capture_1_value_text"/>
          <p:cNvSpPr txBox="1"/>
          <p:nvPr/>
        </p:nvSpPr>
        <p:spPr>
          <a:xfrm>
            <a:off x="319076" y="5678438"/>
            <a:ext cx="1737360" cy="14630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003DA5"/>
                </a:solidFill>
                <a:latin typeface="Arial"/>
              </a:rPr>
              <a:t>$12M investment</a:t>
            </a:r>
          </a:p>
        </p:txBody>
      </p:sp>
      <p:sp>
        <p:nvSpPr>
          <p:cNvPr id="81" name="Oval 80"/>
          <p:cNvSpPr/>
          <p:nvPr/>
        </p:nvSpPr>
        <p:spPr>
          <a:xfrm>
            <a:off x="2079296" y="5038343"/>
            <a:ext cx="228600" cy="22860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083868" y="5052329"/>
            <a:ext cx="219456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85036" y="4572014"/>
            <a:ext cx="1828800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4" name="Connector 83"/>
          <p:cNvCxnSpPr/>
          <p:nvPr/>
        </p:nvCxnSpPr>
        <p:spPr>
          <a:xfrm>
            <a:off x="2285036" y="4572014"/>
            <a:ext cx="182880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bridge_2_label_text"/>
          <p:cNvSpPr txBox="1"/>
          <p:nvPr/>
        </p:nvSpPr>
        <p:spPr>
          <a:xfrm>
            <a:off x="2358188" y="4681742"/>
            <a:ext cx="1682496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30" b="1">
                <a:solidFill>
                  <a:srgbClr val="000000"/>
                </a:solidFill>
                <a:latin typeface="Arial"/>
              </a:rPr>
              <a:t>ENABLEMENT</a:t>
            </a:r>
          </a:p>
        </p:txBody>
      </p:sp>
      <p:sp>
        <p:nvSpPr>
          <p:cNvPr id="86" name="bridge_2_description_text"/>
          <p:cNvSpPr txBox="1"/>
          <p:nvPr/>
        </p:nvSpPr>
        <p:spPr>
          <a:xfrm>
            <a:off x="2394764" y="4937774"/>
            <a:ext cx="1609344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0" dirty="0">
                <a:solidFill>
                  <a:srgbClr val="000000"/>
                </a:solidFill>
                <a:latin typeface="Arial"/>
              </a:rPr>
              <a:t>Build capabilities, redesign
processes and establish
controls and data
foundation.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85036" y="5614430"/>
            <a:ext cx="1828800" cy="274320"/>
          </a:xfrm>
          <a:prstGeom prst="rect">
            <a:avLst/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capture_2_value_text"/>
          <p:cNvSpPr txBox="1"/>
          <p:nvPr/>
        </p:nvSpPr>
        <p:spPr>
          <a:xfrm>
            <a:off x="2330756" y="5678438"/>
            <a:ext cx="1737360" cy="14630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0–6 months</a:t>
            </a:r>
          </a:p>
        </p:txBody>
      </p:sp>
      <p:sp>
        <p:nvSpPr>
          <p:cNvPr id="89" name="Oval 88"/>
          <p:cNvSpPr/>
          <p:nvPr/>
        </p:nvSpPr>
        <p:spPr>
          <a:xfrm>
            <a:off x="4068116" y="5038343"/>
            <a:ext cx="228600" cy="22860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077419" y="5038343"/>
            <a:ext cx="219456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96716" y="4572014"/>
            <a:ext cx="1828800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2" name="Connector 91"/>
          <p:cNvCxnSpPr/>
          <p:nvPr/>
        </p:nvCxnSpPr>
        <p:spPr>
          <a:xfrm>
            <a:off x="4296716" y="4572014"/>
            <a:ext cx="182880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bridge_3_label_text"/>
          <p:cNvSpPr txBox="1"/>
          <p:nvPr/>
        </p:nvSpPr>
        <p:spPr>
          <a:xfrm>
            <a:off x="4369868" y="4681742"/>
            <a:ext cx="1682496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30" b="1">
                <a:solidFill>
                  <a:srgbClr val="000000"/>
                </a:solidFill>
                <a:latin typeface="Arial"/>
              </a:rPr>
              <a:t>BENEFIT RAMP-UP</a:t>
            </a:r>
          </a:p>
        </p:txBody>
      </p:sp>
      <p:sp>
        <p:nvSpPr>
          <p:cNvPr id="94" name="bridge_3_description_text"/>
          <p:cNvSpPr txBox="1"/>
          <p:nvPr/>
        </p:nvSpPr>
        <p:spPr>
          <a:xfrm>
            <a:off x="4406444" y="4937774"/>
            <a:ext cx="1609344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Pilot, automate and adopt
priority use cases to
realize measurable
improvements.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96716" y="5614430"/>
            <a:ext cx="1828800" cy="274320"/>
          </a:xfrm>
          <a:prstGeom prst="rect">
            <a:avLst/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capture_3_value_text"/>
          <p:cNvSpPr txBox="1"/>
          <p:nvPr/>
        </p:nvSpPr>
        <p:spPr>
          <a:xfrm>
            <a:off x="4342436" y="5678438"/>
            <a:ext cx="1737360" cy="14630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6–24 months</a:t>
            </a:r>
          </a:p>
        </p:txBody>
      </p:sp>
      <p:sp>
        <p:nvSpPr>
          <p:cNvPr id="97" name="Oval 96"/>
          <p:cNvSpPr/>
          <p:nvPr/>
        </p:nvSpPr>
        <p:spPr>
          <a:xfrm>
            <a:off x="6102898" y="5020325"/>
            <a:ext cx="228600" cy="22860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094412" y="5009029"/>
            <a:ext cx="219456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08396" y="4572014"/>
            <a:ext cx="1828800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0" name="Connector 99"/>
          <p:cNvCxnSpPr/>
          <p:nvPr/>
        </p:nvCxnSpPr>
        <p:spPr>
          <a:xfrm>
            <a:off x="6308396" y="4572014"/>
            <a:ext cx="182880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bridge_4_label_text"/>
          <p:cNvSpPr txBox="1"/>
          <p:nvPr/>
        </p:nvSpPr>
        <p:spPr>
          <a:xfrm>
            <a:off x="6381548" y="4681742"/>
            <a:ext cx="1682496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30" b="1">
                <a:solidFill>
                  <a:srgbClr val="000000"/>
                </a:solidFill>
                <a:latin typeface="Arial"/>
              </a:rPr>
              <a:t>STEADY-STATE VALUE</a:t>
            </a:r>
          </a:p>
        </p:txBody>
      </p:sp>
      <p:sp>
        <p:nvSpPr>
          <p:cNvPr id="102" name="bridge_4_description_text"/>
          <p:cNvSpPr txBox="1"/>
          <p:nvPr/>
        </p:nvSpPr>
        <p:spPr>
          <a:xfrm>
            <a:off x="6418124" y="4937774"/>
            <a:ext cx="1609344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Scale across the enterprise
and sustain continuous
improvement for lasting
impact.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8396" y="5614430"/>
            <a:ext cx="1828800" cy="274320"/>
          </a:xfrm>
          <a:prstGeom prst="rect">
            <a:avLst/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capture_4_value_text"/>
          <p:cNvSpPr txBox="1"/>
          <p:nvPr/>
        </p:nvSpPr>
        <p:spPr>
          <a:xfrm>
            <a:off x="6354116" y="5678438"/>
            <a:ext cx="1737360" cy="14630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24+ months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3356" y="5980190"/>
            <a:ext cx="7863840" cy="30175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37364" y="6044198"/>
            <a:ext cx="7726679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20" b="1" dirty="0">
                <a:solidFill>
                  <a:srgbClr val="FFFFFF"/>
                </a:solidFill>
                <a:latin typeface="Arial"/>
              </a:rPr>
              <a:t>Cumulative value increases as capabilities mature and adoption scales.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8412480" y="4443984"/>
            <a:ext cx="0" cy="2029968"/>
          </a:xfrm>
          <a:prstGeom prst="line">
            <a:avLst/>
          </a:prstGeom>
          <a:ln w="1524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8676192" y="4453142"/>
            <a:ext cx="219456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1" dirty="0">
                <a:solidFill>
                  <a:srgbClr val="003DA5"/>
                </a:solidFill>
                <a:latin typeface="Arial"/>
              </a:rPr>
              <a:t>RECOMMENDATION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14232" y="4736592"/>
            <a:ext cx="3182112" cy="1536192"/>
          </a:xfrm>
          <a:prstGeom prst="rect">
            <a:avLst/>
          </a:prstGeom>
          <a:solidFill>
            <a:srgbClr val="EDF5FF"/>
          </a:solidFill>
          <a:ln w="10160">
            <a:solidFill>
              <a:srgbClr val="D9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714232" y="4736592"/>
            <a:ext cx="3182112" cy="38404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942832" y="4846320"/>
            <a:ext cx="27432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Approve Phase 1 funding.</a:t>
            </a:r>
          </a:p>
        </p:txBody>
      </p:sp>
      <p:sp>
        <p:nvSpPr>
          <p:cNvPr id="112" name="recommendation_text"/>
          <p:cNvSpPr txBox="1"/>
          <p:nvPr/>
        </p:nvSpPr>
        <p:spPr>
          <a:xfrm>
            <a:off x="8869680" y="5212079"/>
            <a:ext cx="2834640" cy="97840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80" b="0" dirty="0">
                <a:solidFill>
                  <a:srgbClr val="002060"/>
                </a:solidFill>
                <a:latin typeface="Arial"/>
              </a:rPr>
              <a:t>Release funding at stage gates
based on milestone achievement
and validated assumptions.
Proceed with confidence.</a:t>
            </a:r>
          </a:p>
        </p:txBody>
      </p:sp>
      <p:pic>
        <p:nvPicPr>
          <p:cNvPr id="119" name="Graphic 118" descr="Wallet with solid fill">
            <a:extLst>
              <a:ext uri="{FF2B5EF4-FFF2-40B4-BE49-F238E27FC236}">
                <a16:creationId xmlns:a16="http://schemas.microsoft.com/office/drawing/2014/main" id="{1F801394-7222-D548-98E1-A22952C89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995" y="1081395"/>
            <a:ext cx="575594" cy="575594"/>
          </a:xfrm>
          <a:prstGeom prst="rect">
            <a:avLst/>
          </a:prstGeom>
        </p:spPr>
      </p:pic>
      <p:pic>
        <p:nvPicPr>
          <p:cNvPr id="121" name="Graphic 120" descr="Presentation with bar chart with solid fill">
            <a:extLst>
              <a:ext uri="{FF2B5EF4-FFF2-40B4-BE49-F238E27FC236}">
                <a16:creationId xmlns:a16="http://schemas.microsoft.com/office/drawing/2014/main" id="{5587364D-D264-03CC-D097-18B9666319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9433" y="1102093"/>
            <a:ext cx="535164" cy="535164"/>
          </a:xfrm>
          <a:prstGeom prst="rect">
            <a:avLst/>
          </a:prstGeom>
        </p:spPr>
      </p:pic>
      <p:pic>
        <p:nvPicPr>
          <p:cNvPr id="123" name="Graphic 122" descr="Hourglass Full with solid fill">
            <a:extLst>
              <a:ext uri="{FF2B5EF4-FFF2-40B4-BE49-F238E27FC236}">
                <a16:creationId xmlns:a16="http://schemas.microsoft.com/office/drawing/2014/main" id="{60D4287A-7988-055B-665A-49C470637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5893" y="1095791"/>
            <a:ext cx="508697" cy="508697"/>
          </a:xfrm>
          <a:prstGeom prst="rect">
            <a:avLst/>
          </a:prstGeom>
        </p:spPr>
      </p:pic>
      <p:pic>
        <p:nvPicPr>
          <p:cNvPr id="127" name="Graphic 126" descr="Pie chart with solid fill">
            <a:extLst>
              <a:ext uri="{FF2B5EF4-FFF2-40B4-BE49-F238E27FC236}">
                <a16:creationId xmlns:a16="http://schemas.microsoft.com/office/drawing/2014/main" id="{429FA00C-C7BE-F991-5768-11E27AF75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3038" y="1108677"/>
            <a:ext cx="528850" cy="528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16</TotalTime>
  <Words>247</Words>
  <Application>Microsoft Macintosh PowerPoint</Application>
  <PresentationFormat>Custom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Kapoor</cp:lastModifiedBy>
  <cp:revision>2</cp:revision>
  <dcterms:created xsi:type="dcterms:W3CDTF">2013-01-27T09:14:16Z</dcterms:created>
  <dcterms:modified xsi:type="dcterms:W3CDTF">2026-07-20T14:06:55Z</dcterms:modified>
  <cp:category/>
</cp:coreProperties>
</file>