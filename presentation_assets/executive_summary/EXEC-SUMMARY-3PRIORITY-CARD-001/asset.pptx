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20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90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689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8972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899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040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817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50165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86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790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953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231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30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2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text"/>
          <p:cNvSpPr/>
          <p:nvPr/>
        </p:nvSpPr>
        <p:spPr>
          <a:xfrm>
            <a:off x="466343" y="228601"/>
            <a:ext cx="83058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70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ubtitle_text"/>
          <p:cNvSpPr/>
          <p:nvPr/>
        </p:nvSpPr>
        <p:spPr>
          <a:xfrm>
            <a:off x="466344" y="548641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priorities will unlock value, strengthen control and accelerate transformation delivery</a:t>
            </a:r>
            <a:endParaRPr lang="en-US" sz="1100" i="1" dirty="0"/>
          </a:p>
        </p:txBody>
      </p:sp>
      <p:sp>
        <p:nvSpPr>
          <p:cNvPr id="5" name="Shape 3"/>
          <p:cNvSpPr/>
          <p:nvPr/>
        </p:nvSpPr>
        <p:spPr>
          <a:xfrm>
            <a:off x="390144" y="1252727"/>
            <a:ext cx="3694176" cy="3912126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B8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6336" y="1078991"/>
            <a:ext cx="621792" cy="338328"/>
          </a:xfrm>
          <a:prstGeom prst="rect">
            <a:avLst/>
          </a:prstGeom>
          <a:solidFill>
            <a:srgbClr val="0067E8"/>
          </a:solidFill>
          <a:ln w="12700">
            <a:solidFill>
              <a:srgbClr val="006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26920" y="1142999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card_1_header_text"/>
          <p:cNvSpPr/>
          <p:nvPr/>
        </p:nvSpPr>
        <p:spPr>
          <a:xfrm>
            <a:off x="563880" y="152247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the core</a:t>
            </a:r>
            <a:endParaRPr lang="en-US" sz="1800" dirty="0"/>
          </a:p>
        </p:txBody>
      </p:sp>
      <p:sp>
        <p:nvSpPr>
          <p:cNvPr id="9" name="card_1_description_text"/>
          <p:cNvSpPr/>
          <p:nvPr/>
        </p:nvSpPr>
        <p:spPr>
          <a:xfrm>
            <a:off x="582168" y="1943256"/>
            <a:ext cx="3328416" cy="7040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fragmentation and remove non-value adding complexity across the operating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2168" y="2706623"/>
            <a:ext cx="3310128" cy="0"/>
          </a:xfrm>
          <a:prstGeom prst="line">
            <a:avLst/>
          </a:prstGeom>
          <a:noFill/>
          <a:ln w="10160">
            <a:solidFill>
              <a:srgbClr val="75B7F8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41505" y="310895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card_1_bullet_1_text"/>
          <p:cNvSpPr/>
          <p:nvPr/>
        </p:nvSpPr>
        <p:spPr>
          <a:xfrm>
            <a:off x="755904" y="2990087"/>
            <a:ext cx="3145536" cy="603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priority processes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4736" y="3771899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card_1_bullet_2_text"/>
          <p:cNvSpPr/>
          <p:nvPr/>
        </p:nvSpPr>
        <p:spPr>
          <a:xfrm>
            <a:off x="755904" y="3703317"/>
            <a:ext cx="3145536" cy="5303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handoffs, rework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6395" y="4436497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card_1_bullet_3_text"/>
          <p:cNvSpPr/>
          <p:nvPr/>
        </p:nvSpPr>
        <p:spPr>
          <a:xfrm>
            <a:off x="755904" y="4306823"/>
            <a:ext cx="3145536" cy="60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transparency on performance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03776" y="1252726"/>
            <a:ext cx="3584448" cy="3912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B8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85104" y="1078991"/>
            <a:ext cx="621792" cy="338328"/>
          </a:xfrm>
          <a:prstGeom prst="rect">
            <a:avLst/>
          </a:prstGeom>
          <a:solidFill>
            <a:srgbClr val="0067E8"/>
          </a:solidFill>
          <a:ln w="12700">
            <a:solidFill>
              <a:srgbClr val="006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85688" y="1142999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card_2_header_text"/>
          <p:cNvSpPr/>
          <p:nvPr/>
        </p:nvSpPr>
        <p:spPr>
          <a:xfrm>
            <a:off x="4477512" y="1522470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with technology</a:t>
            </a:r>
            <a:endParaRPr lang="en-US" sz="1800" dirty="0"/>
          </a:p>
        </p:txBody>
      </p:sp>
      <p:sp>
        <p:nvSpPr>
          <p:cNvPr id="21" name="card_2_description_text"/>
          <p:cNvSpPr/>
          <p:nvPr/>
        </p:nvSpPr>
        <p:spPr>
          <a:xfrm>
            <a:off x="4486656" y="2048256"/>
            <a:ext cx="3218688" cy="6583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digital enablers to improve </a:t>
            </a:r>
            <a:r>
              <a:rPr lang="en-US" sz="13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speed,control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scalability.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95800" y="2706623"/>
            <a:ext cx="3200400" cy="0"/>
          </a:xfrm>
          <a:prstGeom prst="line">
            <a:avLst/>
          </a:prstGeom>
          <a:noFill/>
          <a:ln w="10160">
            <a:solidFill>
              <a:srgbClr val="75B7F8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486656" y="3108953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4" name="card_2_bullet_1_text"/>
          <p:cNvSpPr/>
          <p:nvPr/>
        </p:nvSpPr>
        <p:spPr>
          <a:xfrm>
            <a:off x="4669536" y="2990087"/>
            <a:ext cx="3035808" cy="6034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high-value automation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6656" y="3771899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6" name="card_2_bullet_2_text"/>
          <p:cNvSpPr/>
          <p:nvPr/>
        </p:nvSpPr>
        <p:spPr>
          <a:xfrm>
            <a:off x="4669536" y="3703306"/>
            <a:ext cx="3035808" cy="5303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workflow, data and reporting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teams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6656" y="4462269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28" name="card_2_bullet_3_text"/>
          <p:cNvSpPr/>
          <p:nvPr/>
        </p:nvSpPr>
        <p:spPr>
          <a:xfrm>
            <a:off x="4669536" y="4343397"/>
            <a:ext cx="3035808" cy="570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controls into day-to-day execution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07680" y="1252727"/>
            <a:ext cx="3712464" cy="391212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B8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53016" y="1078991"/>
            <a:ext cx="621792" cy="338328"/>
          </a:xfrm>
          <a:prstGeom prst="rect">
            <a:avLst/>
          </a:prstGeom>
          <a:solidFill>
            <a:srgbClr val="0067E8"/>
          </a:solidFill>
          <a:ln w="12700">
            <a:solidFill>
              <a:srgbClr val="006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53600" y="1142999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card_3_header_text"/>
          <p:cNvSpPr/>
          <p:nvPr/>
        </p:nvSpPr>
        <p:spPr>
          <a:xfrm>
            <a:off x="8299704" y="1522470"/>
            <a:ext cx="3346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the change</a:t>
            </a:r>
            <a:endParaRPr lang="en-US" sz="1800" dirty="0"/>
          </a:p>
        </p:txBody>
      </p:sp>
      <p:sp>
        <p:nvSpPr>
          <p:cNvPr id="33" name="card_3_description_text"/>
          <p:cNvSpPr/>
          <p:nvPr/>
        </p:nvSpPr>
        <p:spPr>
          <a:xfrm>
            <a:off x="8290560" y="2084830"/>
            <a:ext cx="3346704" cy="6217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benefits are captured through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governance and adoption.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99704" y="2706623"/>
            <a:ext cx="3328416" cy="0"/>
          </a:xfrm>
          <a:prstGeom prst="line">
            <a:avLst/>
          </a:prstGeom>
          <a:noFill/>
          <a:ln w="10160">
            <a:solidFill>
              <a:srgbClr val="75B7F8"/>
            </a:solidFill>
            <a:prstDash val="solid"/>
          </a:ln>
        </p:spPr>
        <p:txBody>
          <a:bodyPr/>
          <a:lstStyle/>
          <a:p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8292134" y="310895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6" name="card_3_bullet_1_text"/>
          <p:cNvSpPr/>
          <p:nvPr/>
        </p:nvSpPr>
        <p:spPr>
          <a:xfrm>
            <a:off x="8473440" y="2990086"/>
            <a:ext cx="3163824" cy="60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KPI-led governance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72272" y="3785607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38" name="card_3_bullet_2_text"/>
          <p:cNvSpPr/>
          <p:nvPr/>
        </p:nvSpPr>
        <p:spPr>
          <a:xfrm>
            <a:off x="8473440" y="3703305"/>
            <a:ext cx="3163824" cy="5303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capabilities through training and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support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72272" y="4462262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40" name="card_3_bullet_3_text"/>
          <p:cNvSpPr/>
          <p:nvPr/>
        </p:nvSpPr>
        <p:spPr>
          <a:xfrm>
            <a:off x="8473440" y="4343395"/>
            <a:ext cx="3163824" cy="57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value realization and course-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early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99455" y="5545992"/>
            <a:ext cx="11411712" cy="694944"/>
          </a:xfrm>
          <a:prstGeom prst="rect">
            <a:avLst/>
          </a:prstGeom>
          <a:solidFill>
            <a:srgbClr val="EAF4FF"/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00623" y="5628288"/>
            <a:ext cx="493776" cy="521208"/>
          </a:xfrm>
          <a:prstGeom prst="chevron">
            <a:avLst/>
          </a:prstGeom>
          <a:solidFill>
            <a:srgbClr val="0067E8"/>
          </a:solidFill>
          <a:ln w="12700">
            <a:solidFill>
              <a:srgbClr val="006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banner_text"/>
          <p:cNvSpPr/>
          <p:nvPr/>
        </p:nvSpPr>
        <p:spPr>
          <a:xfrm>
            <a:off x="1240703" y="5637432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70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these six benefit factors create a stronger business case for transformation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70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linking operational change to measurable enterprise value.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17576" y="6144767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10</TotalTime>
  <Words>146</Words>
  <Application>Microsoft Macintosh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Editable executive summary slide</dc:subject>
  <dc:creator>OpenAI</dc:creator>
  <cp:lastModifiedBy>Madhav Kapoor</cp:lastModifiedBy>
  <cp:revision>4</cp:revision>
  <dcterms:created xsi:type="dcterms:W3CDTF">2026-07-15T14:26:41Z</dcterms:created>
  <dcterms:modified xsi:type="dcterms:W3CDTF">2026-07-21T07:25:46Z</dcterms:modified>
</cp:coreProperties>
</file>