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"/>
  </p:notesMasterIdLst>
  <p:sldIdLst>
    <p:sldId id="256" r:id="rId2"/>
  </p:sldIdLst>
  <p:sldSz cx="12192000" cy="6858000"/>
  <p:notesSz cx="8229600" cy="1463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3110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20649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54400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83601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18804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14327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52292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72F54E-4194-5DC9-591C-0D5B29EDF843}"/>
              </a:ext>
            </a:extLst>
          </p:cNvPr>
          <p:cNvSpPr/>
          <p:nvPr/>
        </p:nvSpPr>
        <p:spPr bwMode="auto">
          <a:xfrm>
            <a:off x="481584" y="796996"/>
            <a:ext cx="11228832" cy="36000"/>
          </a:xfrm>
          <a:prstGeom prst="rect">
            <a:avLst/>
          </a:prstGeom>
          <a:gradFill>
            <a:gsLst>
              <a:gs pos="0">
                <a:srgbClr val="1A9AFA"/>
              </a:gs>
              <a:gs pos="100000">
                <a:srgbClr val="072E65"/>
              </a:gs>
            </a:gsLst>
            <a:lin ang="0" scaled="0"/>
          </a:gradFill>
        </p:spPr>
        <p:txBody>
          <a:bodyPr vert="horz" lIns="0" tIns="0" rIns="0" bIns="0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1A9AFA"/>
              </a:buClr>
              <a:buSzPct val="100000"/>
              <a:buFont typeface="Wingdings" pitchFamily="2" charset="2"/>
              <a:buNone/>
              <a:tabLst/>
            </a:pPr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191924"/>
              </a:solidFill>
              <a:effectLst/>
              <a:uLnTx/>
              <a:uFillTx/>
              <a:latin typeface="EYInterstate Ligh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2222D9-DFA4-44EC-7B21-7B0D8325944A}"/>
              </a:ext>
            </a:extLst>
          </p:cNvPr>
          <p:cNvGrpSpPr>
            <a:grpSpLocks noChangeAspect="1"/>
          </p:cNvGrpSpPr>
          <p:nvPr/>
        </p:nvGrpSpPr>
        <p:grpSpPr>
          <a:xfrm>
            <a:off x="11023155" y="6339264"/>
            <a:ext cx="954455" cy="331649"/>
            <a:chOff x="9258171" y="4332267"/>
            <a:chExt cx="2341035" cy="755058"/>
          </a:xfrm>
        </p:grpSpPr>
        <p:sp>
          <p:nvSpPr>
            <p:cNvPr id="7" name="Freeform 107">
              <a:extLst>
                <a:ext uri="{FF2B5EF4-FFF2-40B4-BE49-F238E27FC236}">
                  <a16:creationId xmlns:a16="http://schemas.microsoft.com/office/drawing/2014/main" id="{F6892F0E-E1F0-977C-E068-4C2DA97438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91892" y="4824181"/>
              <a:ext cx="190838" cy="259589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8" name="Freeform 108">
              <a:extLst>
                <a:ext uri="{FF2B5EF4-FFF2-40B4-BE49-F238E27FC236}">
                  <a16:creationId xmlns:a16="http://schemas.microsoft.com/office/drawing/2014/main" id="{23B08D2D-137C-E384-CA07-2770C6EF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95771" y="4884632"/>
              <a:ext cx="157649" cy="20269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9" name="Freeform 109">
              <a:extLst>
                <a:ext uri="{FF2B5EF4-FFF2-40B4-BE49-F238E27FC236}">
                  <a16:creationId xmlns:a16="http://schemas.microsoft.com/office/drawing/2014/main" id="{8EF04CA6-5131-DF28-7E63-763A18A267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91350" y="4884632"/>
              <a:ext cx="114977" cy="199136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0" name="Freeform 110">
              <a:extLst>
                <a:ext uri="{FF2B5EF4-FFF2-40B4-BE49-F238E27FC236}">
                  <a16:creationId xmlns:a16="http://schemas.microsoft.com/office/drawing/2014/main" id="{2B7B0642-8B14-1497-BA29-31E87A6F40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28849" y="4813512"/>
              <a:ext cx="112606" cy="273813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1" name="Freeform 111">
              <a:extLst>
                <a:ext uri="{FF2B5EF4-FFF2-40B4-BE49-F238E27FC236}">
                  <a16:creationId xmlns:a16="http://schemas.microsoft.com/office/drawing/2014/main" id="{EF9531E5-0ED0-BA5E-0DF7-A9C752AF96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78201" y="4813512"/>
              <a:ext cx="156464" cy="270256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2" name="Freeform 112">
              <a:extLst>
                <a:ext uri="{FF2B5EF4-FFF2-40B4-BE49-F238E27FC236}">
                  <a16:creationId xmlns:a16="http://schemas.microsoft.com/office/drawing/2014/main" id="{84AE5315-97DF-0794-2A8A-53E2C7BF4C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61929" y="4884632"/>
              <a:ext cx="167132" cy="20269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3" name="Freeform 113">
              <a:extLst>
                <a:ext uri="{FF2B5EF4-FFF2-40B4-BE49-F238E27FC236}">
                  <a16:creationId xmlns:a16="http://schemas.microsoft.com/office/drawing/2014/main" id="{612E0877-FC6A-7D52-48C1-CD1B183F34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57507" y="4884632"/>
              <a:ext cx="155278" cy="199136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" name="Freeform 114">
              <a:extLst>
                <a:ext uri="{FF2B5EF4-FFF2-40B4-BE49-F238E27FC236}">
                  <a16:creationId xmlns:a16="http://schemas.microsoft.com/office/drawing/2014/main" id="{3747C2F1-C10A-B025-2AFB-6AAD0580A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41235" y="4884632"/>
              <a:ext cx="173060" cy="20269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5" name="Freeform 115">
              <a:extLst>
                <a:ext uri="{FF2B5EF4-FFF2-40B4-BE49-F238E27FC236}">
                  <a16:creationId xmlns:a16="http://schemas.microsoft.com/office/drawing/2014/main" id="{E2766335-8EAF-2F71-CAAF-ACA3FD467E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42742" y="4884632"/>
              <a:ext cx="156464" cy="199136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" name="Freeform 117">
              <a:extLst>
                <a:ext uri="{FF2B5EF4-FFF2-40B4-BE49-F238E27FC236}">
                  <a16:creationId xmlns:a16="http://schemas.microsoft.com/office/drawing/2014/main" id="{64294034-D582-128D-A72C-6B8C265EA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58171" y="4332267"/>
              <a:ext cx="733721" cy="267886"/>
            </a:xfrm>
            <a:custGeom>
              <a:avLst/>
              <a:gdLst>
                <a:gd name="T0" fmla="*/ 619 w 619"/>
                <a:gd name="T1" fmla="*/ 0 h 226"/>
                <a:gd name="T2" fmla="*/ 0 w 619"/>
                <a:gd name="T3" fmla="*/ 226 h 226"/>
                <a:gd name="T4" fmla="*/ 619 w 619"/>
                <a:gd name="T5" fmla="*/ 117 h 226"/>
                <a:gd name="T6" fmla="*/ 619 w 619"/>
                <a:gd name="T7" fmla="*/ 0 h 226"/>
                <a:gd name="T8" fmla="*/ 619 w 619"/>
                <a:gd name="T9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226">
                  <a:moveTo>
                    <a:pt x="619" y="0"/>
                  </a:moveTo>
                  <a:lnTo>
                    <a:pt x="0" y="226"/>
                  </a:lnTo>
                  <a:lnTo>
                    <a:pt x="619" y="117"/>
                  </a:lnTo>
                  <a:lnTo>
                    <a:pt x="619" y="0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" name="Freeform 118">
              <a:extLst>
                <a:ext uri="{FF2B5EF4-FFF2-40B4-BE49-F238E27FC236}">
                  <a16:creationId xmlns:a16="http://schemas.microsoft.com/office/drawing/2014/main" id="{A21A1AA8-4217-A9D3-44D7-613C584FC9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264100" y="4711579"/>
              <a:ext cx="616374" cy="372194"/>
            </a:xfrm>
            <a:custGeom>
              <a:avLst/>
              <a:gdLst>
                <a:gd name="T0" fmla="*/ 418 w 520"/>
                <a:gd name="T1" fmla="*/ 0 h 314"/>
                <a:gd name="T2" fmla="*/ 364 w 520"/>
                <a:gd name="T3" fmla="*/ 102 h 314"/>
                <a:gd name="T4" fmla="*/ 311 w 520"/>
                <a:gd name="T5" fmla="*/ 0 h 314"/>
                <a:gd name="T6" fmla="*/ 207 w 520"/>
                <a:gd name="T7" fmla="*/ 0 h 314"/>
                <a:gd name="T8" fmla="*/ 318 w 520"/>
                <a:gd name="T9" fmla="*/ 189 h 314"/>
                <a:gd name="T10" fmla="*/ 318 w 520"/>
                <a:gd name="T11" fmla="*/ 314 h 314"/>
                <a:gd name="T12" fmla="*/ 410 w 520"/>
                <a:gd name="T13" fmla="*/ 314 h 314"/>
                <a:gd name="T14" fmla="*/ 410 w 520"/>
                <a:gd name="T15" fmla="*/ 189 h 314"/>
                <a:gd name="T16" fmla="*/ 520 w 520"/>
                <a:gd name="T17" fmla="*/ 0 h 314"/>
                <a:gd name="T18" fmla="*/ 418 w 520"/>
                <a:gd name="T19" fmla="*/ 0 h 314"/>
                <a:gd name="T20" fmla="*/ 0 w 520"/>
                <a:gd name="T21" fmla="*/ 0 h 314"/>
                <a:gd name="T22" fmla="*/ 0 w 520"/>
                <a:gd name="T23" fmla="*/ 314 h 314"/>
                <a:gd name="T24" fmla="*/ 251 w 520"/>
                <a:gd name="T25" fmla="*/ 314 h 314"/>
                <a:gd name="T26" fmla="*/ 251 w 520"/>
                <a:gd name="T27" fmla="*/ 242 h 314"/>
                <a:gd name="T28" fmla="*/ 94 w 520"/>
                <a:gd name="T29" fmla="*/ 242 h 314"/>
                <a:gd name="T30" fmla="*/ 94 w 520"/>
                <a:gd name="T31" fmla="*/ 189 h 314"/>
                <a:gd name="T32" fmla="*/ 207 w 520"/>
                <a:gd name="T33" fmla="*/ 189 h 314"/>
                <a:gd name="T34" fmla="*/ 207 w 520"/>
                <a:gd name="T35" fmla="*/ 124 h 314"/>
                <a:gd name="T36" fmla="*/ 94 w 520"/>
                <a:gd name="T37" fmla="*/ 124 h 314"/>
                <a:gd name="T38" fmla="*/ 94 w 520"/>
                <a:gd name="T39" fmla="*/ 72 h 314"/>
                <a:gd name="T40" fmla="*/ 219 w 520"/>
                <a:gd name="T41" fmla="*/ 72 h 314"/>
                <a:gd name="T42" fmla="*/ 178 w 520"/>
                <a:gd name="T43" fmla="*/ 0 h 314"/>
                <a:gd name="T44" fmla="*/ 0 w 520"/>
                <a:gd name="T4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0" h="314">
                  <a:moveTo>
                    <a:pt x="418" y="0"/>
                  </a:moveTo>
                  <a:lnTo>
                    <a:pt x="364" y="102"/>
                  </a:lnTo>
                  <a:lnTo>
                    <a:pt x="311" y="0"/>
                  </a:lnTo>
                  <a:lnTo>
                    <a:pt x="207" y="0"/>
                  </a:lnTo>
                  <a:lnTo>
                    <a:pt x="318" y="189"/>
                  </a:lnTo>
                  <a:lnTo>
                    <a:pt x="318" y="314"/>
                  </a:lnTo>
                  <a:lnTo>
                    <a:pt x="410" y="314"/>
                  </a:lnTo>
                  <a:lnTo>
                    <a:pt x="410" y="189"/>
                  </a:lnTo>
                  <a:lnTo>
                    <a:pt x="520" y="0"/>
                  </a:lnTo>
                  <a:lnTo>
                    <a:pt x="418" y="0"/>
                  </a:lnTo>
                  <a:close/>
                  <a:moveTo>
                    <a:pt x="0" y="0"/>
                  </a:moveTo>
                  <a:lnTo>
                    <a:pt x="0" y="314"/>
                  </a:lnTo>
                  <a:lnTo>
                    <a:pt x="251" y="314"/>
                  </a:lnTo>
                  <a:lnTo>
                    <a:pt x="251" y="242"/>
                  </a:lnTo>
                  <a:lnTo>
                    <a:pt x="94" y="242"/>
                  </a:lnTo>
                  <a:lnTo>
                    <a:pt x="94" y="189"/>
                  </a:lnTo>
                  <a:lnTo>
                    <a:pt x="207" y="189"/>
                  </a:lnTo>
                  <a:lnTo>
                    <a:pt x="207" y="124"/>
                  </a:lnTo>
                  <a:lnTo>
                    <a:pt x="94" y="124"/>
                  </a:lnTo>
                  <a:lnTo>
                    <a:pt x="94" y="72"/>
                  </a:lnTo>
                  <a:lnTo>
                    <a:pt x="219" y="72"/>
                  </a:lnTo>
                  <a:lnTo>
                    <a:pt x="1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751049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47744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6083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4518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0201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2463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100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text"/>
          <p:cNvSpPr/>
          <p:nvPr/>
        </p:nvSpPr>
        <p:spPr>
          <a:xfrm>
            <a:off x="485499" y="293370"/>
            <a:ext cx="885946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Process – 6 Step Overview</a:t>
            </a:r>
            <a:endParaRPr lang="en-US" sz="2400" dirty="0"/>
          </a:p>
        </p:txBody>
      </p:sp>
      <p:sp>
        <p:nvSpPr>
          <p:cNvPr id="3" name="subtitle_text"/>
          <p:cNvSpPr/>
          <p:nvPr/>
        </p:nvSpPr>
        <p:spPr>
          <a:xfrm>
            <a:off x="487678" y="579120"/>
            <a:ext cx="10515599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05B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consistent 6-step process exists today, but it is manual, siloed and prone to delays and rework.</a:t>
            </a:r>
            <a:endParaRPr lang="en-US" sz="1100" i="1" dirty="0"/>
          </a:p>
        </p:txBody>
      </p:sp>
      <p:sp>
        <p:nvSpPr>
          <p:cNvPr id="4" name="Shape 2"/>
          <p:cNvSpPr/>
          <p:nvPr/>
        </p:nvSpPr>
        <p:spPr>
          <a:xfrm>
            <a:off x="1013459" y="944880"/>
            <a:ext cx="304799" cy="304800"/>
          </a:xfrm>
          <a:prstGeom prst="ellipse">
            <a:avLst/>
          </a:prstGeom>
          <a:solidFill>
            <a:srgbClr val="005BEA"/>
          </a:solidFill>
          <a:ln w="12700">
            <a:solidFill>
              <a:srgbClr val="005BEA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5" name="Text 3"/>
          <p:cNvSpPr/>
          <p:nvPr/>
        </p:nvSpPr>
        <p:spPr>
          <a:xfrm>
            <a:off x="1028699" y="975360"/>
            <a:ext cx="274319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3839" y="1310640"/>
            <a:ext cx="1844039" cy="594360"/>
          </a:xfrm>
          <a:prstGeom prst="chevron">
            <a:avLst/>
          </a:prstGeom>
          <a:solidFill>
            <a:srgbClr val="003A9F"/>
          </a:solidFill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7" name="stage_1_title_text"/>
          <p:cNvSpPr/>
          <p:nvPr/>
        </p:nvSpPr>
        <p:spPr>
          <a:xfrm>
            <a:off x="510539" y="1402080"/>
            <a:ext cx="142493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3839" y="1935480"/>
            <a:ext cx="1844039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CE8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9" name="Text 7"/>
          <p:cNvSpPr/>
          <p:nvPr/>
        </p:nvSpPr>
        <p:spPr>
          <a:xfrm>
            <a:off x="380999" y="2110740"/>
            <a:ext cx="15697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A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Activities</a:t>
            </a:r>
            <a:endParaRPr lang="en-US" sz="1200" dirty="0"/>
          </a:p>
        </p:txBody>
      </p:sp>
      <p:sp>
        <p:nvSpPr>
          <p:cNvPr id="10" name="stage_1_activities_text"/>
          <p:cNvSpPr/>
          <p:nvPr/>
        </p:nvSpPr>
        <p:spPr>
          <a:xfrm>
            <a:off x="380999" y="2430780"/>
            <a:ext cx="1584959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Receive request from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Log request in system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spreadsheet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Conduct initial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3839" y="4358640"/>
            <a:ext cx="1844039" cy="1562100"/>
          </a:xfrm>
          <a:prstGeom prst="rect">
            <a:avLst/>
          </a:prstGeom>
          <a:solidFill>
            <a:srgbClr val="EAF4FF"/>
          </a:solidFill>
          <a:ln w="10160">
            <a:solidFill>
              <a:srgbClr val="D4DCE8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12" name="Text 10"/>
          <p:cNvSpPr/>
          <p:nvPr/>
        </p:nvSpPr>
        <p:spPr>
          <a:xfrm>
            <a:off x="380999" y="4526280"/>
            <a:ext cx="15697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A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Pain Point</a:t>
            </a:r>
            <a:endParaRPr lang="en-US" sz="1200" dirty="0"/>
          </a:p>
        </p:txBody>
      </p:sp>
      <p:sp>
        <p:nvSpPr>
          <p:cNvPr id="13" name="stage_1_pain_point_text"/>
          <p:cNvSpPr/>
          <p:nvPr/>
        </p:nvSpPr>
        <p:spPr>
          <a:xfrm>
            <a:off x="380999" y="4846320"/>
            <a:ext cx="1584959" cy="1013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Requests are often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unclear or incomplete,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leading to rework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03219" y="944880"/>
            <a:ext cx="304799" cy="304800"/>
          </a:xfrm>
          <a:prstGeom prst="ellipse">
            <a:avLst/>
          </a:prstGeom>
          <a:solidFill>
            <a:srgbClr val="005BEA"/>
          </a:solidFill>
          <a:ln w="12700">
            <a:solidFill>
              <a:srgbClr val="005BEA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15" name="Text 13"/>
          <p:cNvSpPr/>
          <p:nvPr/>
        </p:nvSpPr>
        <p:spPr>
          <a:xfrm>
            <a:off x="2918459" y="975360"/>
            <a:ext cx="274319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33599" y="1310640"/>
            <a:ext cx="1844039" cy="594360"/>
          </a:xfrm>
          <a:prstGeom prst="chevron">
            <a:avLst/>
          </a:prstGeom>
          <a:solidFill>
            <a:srgbClr val="003A9F"/>
          </a:solidFill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17" name="stage_2_title_text"/>
          <p:cNvSpPr/>
          <p:nvPr/>
        </p:nvSpPr>
        <p:spPr>
          <a:xfrm>
            <a:off x="2400299" y="1402080"/>
            <a:ext cx="142493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33599" y="1935480"/>
            <a:ext cx="1844039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CE8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19" name="Text 17"/>
          <p:cNvSpPr/>
          <p:nvPr/>
        </p:nvSpPr>
        <p:spPr>
          <a:xfrm>
            <a:off x="2270759" y="2110740"/>
            <a:ext cx="15697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A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Activities</a:t>
            </a:r>
            <a:endParaRPr lang="en-US" sz="1200" dirty="0"/>
          </a:p>
        </p:txBody>
      </p:sp>
      <p:sp>
        <p:nvSpPr>
          <p:cNvPr id="20" name="stage_2_activities_text"/>
          <p:cNvSpPr/>
          <p:nvPr/>
        </p:nvSpPr>
        <p:spPr>
          <a:xfrm>
            <a:off x="2270759" y="2430780"/>
            <a:ext cx="1584959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Request data from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sources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Consolidate data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manually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Validate completeness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information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133599" y="4358640"/>
            <a:ext cx="1844039" cy="1562100"/>
          </a:xfrm>
          <a:prstGeom prst="rect">
            <a:avLst/>
          </a:prstGeom>
          <a:solidFill>
            <a:srgbClr val="EAF4FF"/>
          </a:solidFill>
          <a:ln w="10160">
            <a:solidFill>
              <a:srgbClr val="D4DCE8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22" name="Text 20"/>
          <p:cNvSpPr/>
          <p:nvPr/>
        </p:nvSpPr>
        <p:spPr>
          <a:xfrm>
            <a:off x="2270759" y="4526280"/>
            <a:ext cx="15697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A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Pain Point</a:t>
            </a:r>
            <a:endParaRPr lang="en-US" sz="1200" dirty="0"/>
          </a:p>
        </p:txBody>
      </p:sp>
      <p:sp>
        <p:nvSpPr>
          <p:cNvPr id="23" name="stage_2_pain_point_text"/>
          <p:cNvSpPr/>
          <p:nvPr/>
        </p:nvSpPr>
        <p:spPr>
          <a:xfrm>
            <a:off x="2270759" y="4846320"/>
            <a:ext cx="1584959" cy="1013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Data resides in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sources and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time-consuming to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92979" y="944880"/>
            <a:ext cx="304799" cy="304800"/>
          </a:xfrm>
          <a:prstGeom prst="ellipse">
            <a:avLst/>
          </a:prstGeom>
          <a:solidFill>
            <a:srgbClr val="005BEA"/>
          </a:solidFill>
          <a:ln w="12700">
            <a:solidFill>
              <a:srgbClr val="005BEA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25" name="Text 23"/>
          <p:cNvSpPr/>
          <p:nvPr/>
        </p:nvSpPr>
        <p:spPr>
          <a:xfrm>
            <a:off x="4808219" y="975360"/>
            <a:ext cx="274319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023359" y="1310640"/>
            <a:ext cx="1844039" cy="594360"/>
          </a:xfrm>
          <a:prstGeom prst="chevron">
            <a:avLst/>
          </a:prstGeom>
          <a:solidFill>
            <a:srgbClr val="003A9F"/>
          </a:solidFill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27" name="stage_3_title_text"/>
          <p:cNvSpPr/>
          <p:nvPr/>
        </p:nvSpPr>
        <p:spPr>
          <a:xfrm>
            <a:off x="4290059" y="1402080"/>
            <a:ext cx="142493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023359" y="1935480"/>
            <a:ext cx="1844039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CE8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29" name="Text 27"/>
          <p:cNvSpPr/>
          <p:nvPr/>
        </p:nvSpPr>
        <p:spPr>
          <a:xfrm>
            <a:off x="4160519" y="2110740"/>
            <a:ext cx="15697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A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Activities</a:t>
            </a:r>
            <a:endParaRPr lang="en-US" sz="1200" dirty="0"/>
          </a:p>
        </p:txBody>
      </p:sp>
      <p:sp>
        <p:nvSpPr>
          <p:cNvPr id="30" name="stage_3_activities_text"/>
          <p:cNvSpPr/>
          <p:nvPr/>
        </p:nvSpPr>
        <p:spPr>
          <a:xfrm>
            <a:off x="4160519" y="2430780"/>
            <a:ext cx="1584959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Review data for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and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completeness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Clarify exceptions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stakeholders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Rework incomplete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inconsistent data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023359" y="4358640"/>
            <a:ext cx="1844039" cy="1562100"/>
          </a:xfrm>
          <a:prstGeom prst="rect">
            <a:avLst/>
          </a:prstGeom>
          <a:solidFill>
            <a:srgbClr val="EAF4FF"/>
          </a:solidFill>
          <a:ln w="10160">
            <a:solidFill>
              <a:srgbClr val="D4DCE8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32" name="Text 30"/>
          <p:cNvSpPr/>
          <p:nvPr/>
        </p:nvSpPr>
        <p:spPr>
          <a:xfrm>
            <a:off x="4160519" y="4526280"/>
            <a:ext cx="15697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A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Pain Point</a:t>
            </a:r>
            <a:endParaRPr lang="en-US" sz="1200" dirty="0"/>
          </a:p>
        </p:txBody>
      </p:sp>
      <p:sp>
        <p:nvSpPr>
          <p:cNvPr id="33" name="stage_3_pain_point_text"/>
          <p:cNvSpPr/>
          <p:nvPr/>
        </p:nvSpPr>
        <p:spPr>
          <a:xfrm>
            <a:off x="4160519" y="4846320"/>
            <a:ext cx="1584959" cy="1013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Manual validation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delays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reduces data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82739" y="944880"/>
            <a:ext cx="304799" cy="304800"/>
          </a:xfrm>
          <a:prstGeom prst="ellipse">
            <a:avLst/>
          </a:prstGeom>
          <a:solidFill>
            <a:srgbClr val="005BEA"/>
          </a:solidFill>
          <a:ln w="12700">
            <a:solidFill>
              <a:srgbClr val="005BEA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35" name="Text 33"/>
          <p:cNvSpPr/>
          <p:nvPr/>
        </p:nvSpPr>
        <p:spPr>
          <a:xfrm>
            <a:off x="6697979" y="975360"/>
            <a:ext cx="274319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13119" y="1310640"/>
            <a:ext cx="1844039" cy="594360"/>
          </a:xfrm>
          <a:prstGeom prst="chevron">
            <a:avLst/>
          </a:prstGeom>
          <a:solidFill>
            <a:srgbClr val="003A9F"/>
          </a:solidFill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37" name="stage_4_title_text"/>
          <p:cNvSpPr/>
          <p:nvPr/>
        </p:nvSpPr>
        <p:spPr>
          <a:xfrm>
            <a:off x="6179819" y="1402080"/>
            <a:ext cx="142493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913119" y="1935480"/>
            <a:ext cx="1844039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CE8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39" name="Text 37"/>
          <p:cNvSpPr/>
          <p:nvPr/>
        </p:nvSpPr>
        <p:spPr>
          <a:xfrm>
            <a:off x="6050279" y="2110740"/>
            <a:ext cx="15697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A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Activities</a:t>
            </a:r>
            <a:endParaRPr lang="en-US" sz="1200" dirty="0"/>
          </a:p>
        </p:txBody>
      </p:sp>
      <p:sp>
        <p:nvSpPr>
          <p:cNvPr id="40" name="stage_4_activities_text"/>
          <p:cNvSpPr/>
          <p:nvPr/>
        </p:nvSpPr>
        <p:spPr>
          <a:xfrm>
            <a:off x="6050279" y="2430780"/>
            <a:ext cx="1584959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Prepare approval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Route for stakeholder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approvals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Address comments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iterate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913119" y="4358640"/>
            <a:ext cx="1844039" cy="1562100"/>
          </a:xfrm>
          <a:prstGeom prst="rect">
            <a:avLst/>
          </a:prstGeom>
          <a:solidFill>
            <a:srgbClr val="EAF4FF"/>
          </a:solidFill>
          <a:ln w="10160">
            <a:solidFill>
              <a:srgbClr val="D4DCE8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42" name="Text 40"/>
          <p:cNvSpPr/>
          <p:nvPr/>
        </p:nvSpPr>
        <p:spPr>
          <a:xfrm>
            <a:off x="6050279" y="4526280"/>
            <a:ext cx="15697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A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Pain Point</a:t>
            </a:r>
            <a:endParaRPr lang="en-US" sz="1200" dirty="0"/>
          </a:p>
        </p:txBody>
      </p:sp>
      <p:sp>
        <p:nvSpPr>
          <p:cNvPr id="43" name="stage_4_pain_point_text"/>
          <p:cNvSpPr/>
          <p:nvPr/>
        </p:nvSpPr>
        <p:spPr>
          <a:xfrm>
            <a:off x="6050279" y="4846320"/>
            <a:ext cx="1584959" cy="1013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Sequential approvals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cause bottlenecks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long cycle times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572499" y="944880"/>
            <a:ext cx="304799" cy="304800"/>
          </a:xfrm>
          <a:prstGeom prst="ellipse">
            <a:avLst/>
          </a:prstGeom>
          <a:solidFill>
            <a:srgbClr val="005BEA"/>
          </a:solidFill>
          <a:ln w="12700">
            <a:solidFill>
              <a:srgbClr val="005BEA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45" name="Text 43"/>
          <p:cNvSpPr/>
          <p:nvPr/>
        </p:nvSpPr>
        <p:spPr>
          <a:xfrm>
            <a:off x="8587739" y="975360"/>
            <a:ext cx="274319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802879" y="1310640"/>
            <a:ext cx="1844039" cy="594360"/>
          </a:xfrm>
          <a:prstGeom prst="chevron">
            <a:avLst/>
          </a:prstGeom>
          <a:solidFill>
            <a:srgbClr val="003A9F"/>
          </a:solidFill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47" name="stage_5_title_text"/>
          <p:cNvSpPr/>
          <p:nvPr/>
        </p:nvSpPr>
        <p:spPr>
          <a:xfrm>
            <a:off x="8069579" y="1402080"/>
            <a:ext cx="142493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802879" y="1935480"/>
            <a:ext cx="1844039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CE8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49" name="Text 47"/>
          <p:cNvSpPr/>
          <p:nvPr/>
        </p:nvSpPr>
        <p:spPr>
          <a:xfrm>
            <a:off x="7940039" y="2110740"/>
            <a:ext cx="15697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A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Activities</a:t>
            </a:r>
            <a:endParaRPr lang="en-US" sz="1200" dirty="0"/>
          </a:p>
        </p:txBody>
      </p:sp>
      <p:sp>
        <p:nvSpPr>
          <p:cNvPr id="50" name="stage_5_activities_text"/>
          <p:cNvSpPr/>
          <p:nvPr/>
        </p:nvSpPr>
        <p:spPr>
          <a:xfrm>
            <a:off x="7940039" y="2430780"/>
            <a:ext cx="1584959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Execute approved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or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Update systems and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Communicate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802879" y="4358640"/>
            <a:ext cx="1844039" cy="1562100"/>
          </a:xfrm>
          <a:prstGeom prst="rect">
            <a:avLst/>
          </a:prstGeom>
          <a:solidFill>
            <a:srgbClr val="EAF4FF"/>
          </a:solidFill>
          <a:ln w="10160">
            <a:solidFill>
              <a:srgbClr val="D4DCE8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52" name="Text 50"/>
          <p:cNvSpPr/>
          <p:nvPr/>
        </p:nvSpPr>
        <p:spPr>
          <a:xfrm>
            <a:off x="7940039" y="4526280"/>
            <a:ext cx="15697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A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Pain Point</a:t>
            </a:r>
            <a:endParaRPr lang="en-US" sz="1200" dirty="0"/>
          </a:p>
        </p:txBody>
      </p:sp>
      <p:sp>
        <p:nvSpPr>
          <p:cNvPr id="53" name="stage_5_pain_point_text"/>
          <p:cNvSpPr/>
          <p:nvPr/>
        </p:nvSpPr>
        <p:spPr>
          <a:xfrm>
            <a:off x="7940039" y="4846320"/>
            <a:ext cx="1584959" cy="1013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Manual updates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 the risk of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errors and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inconsistencies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10462259" y="944880"/>
            <a:ext cx="304799" cy="304800"/>
          </a:xfrm>
          <a:prstGeom prst="ellipse">
            <a:avLst/>
          </a:prstGeom>
          <a:solidFill>
            <a:srgbClr val="005BEA"/>
          </a:solidFill>
          <a:ln w="12700">
            <a:solidFill>
              <a:srgbClr val="005BEA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55" name="Text 53"/>
          <p:cNvSpPr/>
          <p:nvPr/>
        </p:nvSpPr>
        <p:spPr>
          <a:xfrm>
            <a:off x="10477499" y="975360"/>
            <a:ext cx="274319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692639" y="1310640"/>
            <a:ext cx="1844039" cy="594360"/>
          </a:xfrm>
          <a:prstGeom prst="chevron">
            <a:avLst/>
          </a:prstGeom>
          <a:solidFill>
            <a:srgbClr val="003A9F"/>
          </a:solidFill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57" name="stage_6_title_text"/>
          <p:cNvSpPr/>
          <p:nvPr/>
        </p:nvSpPr>
        <p:spPr>
          <a:xfrm>
            <a:off x="9959339" y="1402080"/>
            <a:ext cx="142493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Closure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9692639" y="1935480"/>
            <a:ext cx="1844039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CE8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59" name="Text 57"/>
          <p:cNvSpPr/>
          <p:nvPr/>
        </p:nvSpPr>
        <p:spPr>
          <a:xfrm>
            <a:off x="9829799" y="2110740"/>
            <a:ext cx="15697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A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Activities</a:t>
            </a:r>
            <a:endParaRPr lang="en-US" sz="1200" dirty="0"/>
          </a:p>
        </p:txBody>
      </p:sp>
      <p:sp>
        <p:nvSpPr>
          <p:cNvPr id="60" name="stage_6_activities_text"/>
          <p:cNvSpPr/>
          <p:nvPr/>
        </p:nvSpPr>
        <p:spPr>
          <a:xfrm>
            <a:off x="9829799" y="2430780"/>
            <a:ext cx="1584959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Reconcile results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documents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File records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manually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Prepare and share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reports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9692639" y="4358640"/>
            <a:ext cx="1844039" cy="1562100"/>
          </a:xfrm>
          <a:prstGeom prst="rect">
            <a:avLst/>
          </a:prstGeom>
          <a:solidFill>
            <a:srgbClr val="EAF4FF"/>
          </a:solidFill>
          <a:ln w="10160">
            <a:solidFill>
              <a:srgbClr val="D4DCE8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62" name="Text 60"/>
          <p:cNvSpPr/>
          <p:nvPr/>
        </p:nvSpPr>
        <p:spPr>
          <a:xfrm>
            <a:off x="9829799" y="4526280"/>
            <a:ext cx="15697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3A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Pain Point</a:t>
            </a:r>
            <a:endParaRPr lang="en-US" sz="1200" dirty="0"/>
          </a:p>
        </p:txBody>
      </p:sp>
      <p:sp>
        <p:nvSpPr>
          <p:cNvPr id="63" name="stage_6_pain_point_text"/>
          <p:cNvSpPr/>
          <p:nvPr/>
        </p:nvSpPr>
        <p:spPr>
          <a:xfrm>
            <a:off x="9829799" y="4846320"/>
            <a:ext cx="1584959" cy="1013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Manual closure and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limit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visibility and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timeliness</a:t>
            </a:r>
            <a:endParaRPr lang="en-US" sz="1200" dirty="0"/>
          </a:p>
        </p:txBody>
      </p:sp>
      <p:sp>
        <p:nvSpPr>
          <p:cNvPr id="64" name="takeaway_banner_box"/>
          <p:cNvSpPr/>
          <p:nvPr/>
        </p:nvSpPr>
        <p:spPr>
          <a:xfrm>
            <a:off x="320000" y="6000000"/>
            <a:ext cx="10480000" cy="420000"/>
          </a:xfrm>
          <a:prstGeom prst="rect">
            <a:avLst/>
          </a:prstGeom>
          <a:solidFill>
            <a:srgbClr val="E8F3FB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akeaway_text"/>
          <p:cNvSpPr txBox="1"/>
          <p:nvPr/>
        </p:nvSpPr>
        <p:spPr>
          <a:xfrm>
            <a:off x="520000" y="6090000"/>
            <a:ext cx="10080000" cy="22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70C0"/>
                </a:solidFill>
                <a:latin typeface="Arial"/>
              </a:rPr>
              <a:t>Business impact: delays, exceptions and fragmented ownership constrain service, cost and resilience.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y tem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y temp" id="{73531C1D-6AE1-E449-8BB8-2383CD9BA9E4}" vid="{07C013BB-F2D3-844E-B176-62F60C4A8C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ey temp</Template>
  <TotalTime>1</TotalTime>
  <Words>226</Words>
  <Application>Microsoft Macintosh PowerPoint</Application>
  <PresentationFormat>Widescreen</PresentationFormat>
  <Paragraphs>103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EYInterstate Light</vt:lpstr>
      <vt:lpstr>Wingdings</vt:lpstr>
      <vt:lpstr>ey temp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Current Process – 6 Step Overview</dc:title>
  <dc:subject>Editable recreation of Current Process 6 Step Overview</dc:subject>
  <dc:creator>OpenAI</dc:creator>
  <cp:lastModifiedBy>Madhav Kapoor</cp:lastModifiedBy>
  <cp:revision>4</cp:revision>
  <dcterms:created xsi:type="dcterms:W3CDTF">2026-07-15T18:34:09Z</dcterms:created>
  <dcterms:modified xsi:type="dcterms:W3CDTF">2026-07-21T07:27:17Z</dcterms:modified>
</cp:coreProperties>
</file>