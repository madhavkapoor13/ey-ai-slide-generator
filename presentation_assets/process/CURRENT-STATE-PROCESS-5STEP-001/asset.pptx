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42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475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93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174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341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192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835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5141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123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29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125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64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09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1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/>
          <p:nvPr/>
        </p:nvSpPr>
        <p:spPr>
          <a:xfrm>
            <a:off x="438912" y="3017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0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Operating Model – End-to-End Process Overview</a:t>
            </a:r>
            <a:endParaRPr lang="en-US" sz="2400" dirty="0"/>
          </a:p>
        </p:txBody>
      </p:sp>
      <p:sp>
        <p:nvSpPr>
          <p:cNvPr id="4" name="subtitle_text"/>
          <p:cNvSpPr/>
          <p:nvPr/>
        </p:nvSpPr>
        <p:spPr>
          <a:xfrm>
            <a:off x="475488" y="589788"/>
            <a:ext cx="10744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systems, manual handoffs and data silos drive delays, rework and inconsistent outcomes.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231124"/>
            <a:ext cx="2084832" cy="960120"/>
          </a:xfrm>
          <a:prstGeom prst="chevron">
            <a:avLst/>
          </a:prstGeom>
          <a:solidFill>
            <a:srgbClr val="FFFFFF">
              <a:alpha val="0"/>
            </a:srgbClr>
          </a:solidFill>
          <a:ln w="9525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1408176" y="1048244"/>
            <a:ext cx="292608" cy="292608"/>
          </a:xfrm>
          <a:prstGeom prst="ellipse">
            <a:avLst/>
          </a:prstGeom>
          <a:solidFill>
            <a:srgbClr val="188BD8"/>
          </a:solidFill>
          <a:ln w="12700">
            <a:solidFill>
              <a:srgbClr val="188B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stage_1_number"/>
          <p:cNvSpPr/>
          <p:nvPr/>
        </p:nvSpPr>
        <p:spPr>
          <a:xfrm>
            <a:off x="1499615" y="1098536"/>
            <a:ext cx="11274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tage_1_title_text"/>
          <p:cNvSpPr/>
          <p:nvPr/>
        </p:nvSpPr>
        <p:spPr>
          <a:xfrm>
            <a:off x="934296" y="1542020"/>
            <a:ext cx="1452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&amp; Initiate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15184" y="1231124"/>
            <a:ext cx="2084832" cy="960120"/>
          </a:xfrm>
          <a:prstGeom prst="chevron">
            <a:avLst/>
          </a:prstGeom>
          <a:solidFill>
            <a:srgbClr val="FFFFFF">
              <a:alpha val="0"/>
            </a:srgbClr>
          </a:solidFill>
          <a:ln w="9525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584448" y="1048244"/>
            <a:ext cx="292608" cy="292608"/>
          </a:xfrm>
          <a:prstGeom prst="ellipse">
            <a:avLst/>
          </a:prstGeom>
          <a:solidFill>
            <a:srgbClr val="188BD8"/>
          </a:solidFill>
          <a:ln w="12700">
            <a:solidFill>
              <a:srgbClr val="188B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stage_2_number"/>
          <p:cNvSpPr/>
          <p:nvPr/>
        </p:nvSpPr>
        <p:spPr>
          <a:xfrm>
            <a:off x="3675888" y="1098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tage_2_icon"/>
          <p:cNvSpPr/>
          <p:nvPr/>
        </p:nvSpPr>
        <p:spPr>
          <a:xfrm>
            <a:off x="3511296" y="14597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stage_2_title_text"/>
          <p:cNvSpPr/>
          <p:nvPr/>
        </p:nvSpPr>
        <p:spPr>
          <a:xfrm>
            <a:off x="3118104" y="1542020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 &amp;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91456" y="1231124"/>
            <a:ext cx="2084832" cy="960120"/>
          </a:xfrm>
          <a:prstGeom prst="chevron">
            <a:avLst/>
          </a:prstGeom>
          <a:solidFill>
            <a:srgbClr val="FFFFFF">
              <a:alpha val="0"/>
            </a:srgbClr>
          </a:solidFill>
          <a:ln w="9525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760720" y="1048244"/>
            <a:ext cx="292608" cy="292608"/>
          </a:xfrm>
          <a:prstGeom prst="ellipse">
            <a:avLst/>
          </a:prstGeom>
          <a:solidFill>
            <a:srgbClr val="188BD8"/>
          </a:solidFill>
          <a:ln w="12700">
            <a:solidFill>
              <a:srgbClr val="188B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stage_3_number"/>
          <p:cNvSpPr/>
          <p:nvPr/>
        </p:nvSpPr>
        <p:spPr>
          <a:xfrm>
            <a:off x="5852160" y="1098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tage_3_icon"/>
          <p:cNvSpPr/>
          <p:nvPr/>
        </p:nvSpPr>
        <p:spPr>
          <a:xfrm>
            <a:off x="5687568" y="14597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tage_3_title_text"/>
          <p:cNvSpPr/>
          <p:nvPr/>
        </p:nvSpPr>
        <p:spPr>
          <a:xfrm>
            <a:off x="5275384" y="1542020"/>
            <a:ext cx="140676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 &amp; Validate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67728" y="1231124"/>
            <a:ext cx="2084832" cy="960120"/>
          </a:xfrm>
          <a:prstGeom prst="chevron">
            <a:avLst/>
          </a:prstGeom>
          <a:solidFill>
            <a:srgbClr val="FFFFFF">
              <a:alpha val="0"/>
            </a:srgbClr>
          </a:solidFill>
          <a:ln w="9525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936992" y="1048244"/>
            <a:ext cx="292608" cy="292608"/>
          </a:xfrm>
          <a:prstGeom prst="ellipse">
            <a:avLst/>
          </a:prstGeom>
          <a:solidFill>
            <a:srgbClr val="188BD8"/>
          </a:solidFill>
          <a:ln w="12700">
            <a:solidFill>
              <a:srgbClr val="188B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stage_4_number"/>
          <p:cNvSpPr/>
          <p:nvPr/>
        </p:nvSpPr>
        <p:spPr>
          <a:xfrm>
            <a:off x="8028432" y="1098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tage_4_icon"/>
          <p:cNvSpPr/>
          <p:nvPr/>
        </p:nvSpPr>
        <p:spPr>
          <a:xfrm>
            <a:off x="7863840" y="14597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tage_4_title_text"/>
          <p:cNvSpPr/>
          <p:nvPr/>
        </p:nvSpPr>
        <p:spPr>
          <a:xfrm>
            <a:off x="7413672" y="1542020"/>
            <a:ext cx="14389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&amp; Match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1231124"/>
            <a:ext cx="2084832" cy="960120"/>
          </a:xfrm>
          <a:prstGeom prst="chevron">
            <a:avLst/>
          </a:prstGeom>
          <a:solidFill>
            <a:srgbClr val="FFFFFF">
              <a:alpha val="0"/>
            </a:srgbClr>
          </a:solidFill>
          <a:ln w="9525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10113264" y="1048244"/>
            <a:ext cx="292608" cy="292608"/>
          </a:xfrm>
          <a:prstGeom prst="ellipse">
            <a:avLst/>
          </a:prstGeom>
          <a:solidFill>
            <a:srgbClr val="188BD8"/>
          </a:solidFill>
          <a:ln w="12700">
            <a:solidFill>
              <a:srgbClr val="188B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stage_5_number"/>
          <p:cNvSpPr/>
          <p:nvPr/>
        </p:nvSpPr>
        <p:spPr>
          <a:xfrm>
            <a:off x="10204704" y="1098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tage_5_icon"/>
          <p:cNvSpPr/>
          <p:nvPr/>
        </p:nvSpPr>
        <p:spPr>
          <a:xfrm>
            <a:off x="10040112" y="14597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stage_5_title_text"/>
          <p:cNvSpPr/>
          <p:nvPr/>
        </p:nvSpPr>
        <p:spPr>
          <a:xfrm>
            <a:off x="9576816" y="1542020"/>
            <a:ext cx="1469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Settle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" y="2438132"/>
            <a:ext cx="2011680" cy="2944368"/>
          </a:xfrm>
          <a:prstGeom prst="rect">
            <a:avLst/>
          </a:prstGeom>
          <a:solidFill>
            <a:srgbClr val="FFFFFF"/>
          </a:solidFill>
          <a:ln w="8255">
            <a:solidFill>
              <a:srgbClr val="9CB9D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93776" y="2511284"/>
            <a:ext cx="1956816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stage_1_activities_label"/>
          <p:cNvSpPr/>
          <p:nvPr/>
        </p:nvSpPr>
        <p:spPr>
          <a:xfrm>
            <a:off x="512064" y="258443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33" name="stage_1_activities_text"/>
          <p:cNvSpPr/>
          <p:nvPr/>
        </p:nvSpPr>
        <p:spPr>
          <a:xfrm>
            <a:off x="557784" y="28770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Internal demand intake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Create requisition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Budget check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Manager approval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Requisition released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" y="3992612"/>
            <a:ext cx="1956816" cy="274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stage_1_pain_points_label"/>
          <p:cNvSpPr/>
          <p:nvPr/>
        </p:nvSpPr>
        <p:spPr>
          <a:xfrm>
            <a:off x="512064" y="40840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36" name="stage_1_pain_points_text"/>
          <p:cNvSpPr/>
          <p:nvPr/>
        </p:nvSpPr>
        <p:spPr>
          <a:xfrm>
            <a:off x="557784" y="4358372"/>
            <a:ext cx="1828800" cy="9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Unstandardized intake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Manual approvals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Frequent budget overruns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Lack of spend visibility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51760" y="2438132"/>
            <a:ext cx="2011680" cy="2944368"/>
          </a:xfrm>
          <a:prstGeom prst="rect">
            <a:avLst/>
          </a:prstGeom>
          <a:solidFill>
            <a:srgbClr val="FFFFFF"/>
          </a:solidFill>
          <a:ln w="8255">
            <a:solidFill>
              <a:srgbClr val="9CB9D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2679192" y="2511284"/>
            <a:ext cx="1956816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stage_2_activities_label"/>
          <p:cNvSpPr/>
          <p:nvPr/>
        </p:nvSpPr>
        <p:spPr>
          <a:xfrm>
            <a:off x="2697480" y="258443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40" name="stage_2_activities_text"/>
          <p:cNvSpPr/>
          <p:nvPr/>
        </p:nvSpPr>
        <p:spPr>
          <a:xfrm>
            <a:off x="2743200" y="28770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Supplier 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RFQ / Quotation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Supplier selection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 creation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 approval &amp; release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679192" y="3992612"/>
            <a:ext cx="1956816" cy="274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stage_2_pain_points_label"/>
          <p:cNvSpPr/>
          <p:nvPr/>
        </p:nvSpPr>
        <p:spPr>
          <a:xfrm>
            <a:off x="2697480" y="40840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43" name="stage_2_pain_points_text"/>
          <p:cNvSpPr/>
          <p:nvPr/>
        </p:nvSpPr>
        <p:spPr>
          <a:xfrm>
            <a:off x="2743200" y="4358372"/>
            <a:ext cx="1828800" cy="9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Decentralized sourcing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Inconsistent supplier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Long approval cycles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maverick spending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37176" y="2438132"/>
            <a:ext cx="2011680" cy="2944368"/>
          </a:xfrm>
          <a:prstGeom prst="rect">
            <a:avLst/>
          </a:prstGeom>
          <a:solidFill>
            <a:srgbClr val="FFFFFF"/>
          </a:solidFill>
          <a:ln w="8255">
            <a:solidFill>
              <a:srgbClr val="9CB9D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4864608" y="2511284"/>
            <a:ext cx="1956816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6" name="stage_3_activities_label"/>
          <p:cNvSpPr/>
          <p:nvPr/>
        </p:nvSpPr>
        <p:spPr>
          <a:xfrm>
            <a:off x="4882896" y="258443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47" name="stage_3_activities_text"/>
          <p:cNvSpPr/>
          <p:nvPr/>
        </p:nvSpPr>
        <p:spPr>
          <a:xfrm>
            <a:off x="4928616" y="28770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Goods / Service receipt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Delivery documentation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Quality inspection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GRN posting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Inventory update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64608" y="3992612"/>
            <a:ext cx="1956816" cy="274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stage_3_pain_points_label"/>
          <p:cNvSpPr/>
          <p:nvPr/>
        </p:nvSpPr>
        <p:spPr>
          <a:xfrm>
            <a:off x="4882896" y="40840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50" name="stage_3_pain_points_text"/>
          <p:cNvSpPr/>
          <p:nvPr/>
        </p:nvSpPr>
        <p:spPr>
          <a:xfrm>
            <a:off x="4928616" y="4358372"/>
            <a:ext cx="1828800" cy="9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Delayed GRN posting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entry errors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Poor inventory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Rework and exceptions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22592" y="2438132"/>
            <a:ext cx="2011680" cy="2944368"/>
          </a:xfrm>
          <a:prstGeom prst="rect">
            <a:avLst/>
          </a:prstGeom>
          <a:solidFill>
            <a:srgbClr val="FFFFFF"/>
          </a:solidFill>
          <a:ln w="8255">
            <a:solidFill>
              <a:srgbClr val="9CB9D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7050024" y="2511284"/>
            <a:ext cx="1956816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3" name="stage_4_activities_label"/>
          <p:cNvSpPr/>
          <p:nvPr/>
        </p:nvSpPr>
        <p:spPr>
          <a:xfrm>
            <a:off x="7068312" y="258443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54" name="stage_4_activities_text"/>
          <p:cNvSpPr/>
          <p:nvPr/>
        </p:nvSpPr>
        <p:spPr>
          <a:xfrm>
            <a:off x="7114032" y="28770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 receipt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3-way match (PO, GRN, Invoice)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Exception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 posting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Approval for payment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50024" y="3992612"/>
            <a:ext cx="1956816" cy="274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6" name="stage_4_pain_points_label"/>
          <p:cNvSpPr/>
          <p:nvPr/>
        </p:nvSpPr>
        <p:spPr>
          <a:xfrm>
            <a:off x="7068312" y="40840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57" name="stage_4_pain_points_text"/>
          <p:cNvSpPr/>
          <p:nvPr/>
        </p:nvSpPr>
        <p:spPr>
          <a:xfrm>
            <a:off x="7114032" y="4358372"/>
            <a:ext cx="1828800" cy="9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Low match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Manual exception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Duplicate invoices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Long cycle times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208008" y="2438132"/>
            <a:ext cx="2011680" cy="2944368"/>
          </a:xfrm>
          <a:prstGeom prst="rect">
            <a:avLst/>
          </a:prstGeom>
          <a:solidFill>
            <a:srgbClr val="FFFFFF"/>
          </a:solidFill>
          <a:ln w="8255">
            <a:solidFill>
              <a:srgbClr val="9CB9D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9" name="Shape 57"/>
          <p:cNvSpPr/>
          <p:nvPr/>
        </p:nvSpPr>
        <p:spPr>
          <a:xfrm>
            <a:off x="9235440" y="2511284"/>
            <a:ext cx="1956816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0" name="stage_5_activities_label"/>
          <p:cNvSpPr/>
          <p:nvPr/>
        </p:nvSpPr>
        <p:spPr>
          <a:xfrm>
            <a:off x="9253728" y="258443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61" name="stage_5_activities_text"/>
          <p:cNvSpPr/>
          <p:nvPr/>
        </p:nvSpPr>
        <p:spPr>
          <a:xfrm>
            <a:off x="9299448" y="28770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run preparation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approval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execution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Remittance to supplier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Reconciliation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35440" y="3992612"/>
            <a:ext cx="1956816" cy="2743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3" name="stage_5_pain_points_label"/>
          <p:cNvSpPr/>
          <p:nvPr/>
        </p:nvSpPr>
        <p:spPr>
          <a:xfrm>
            <a:off x="9253728" y="408405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64" name="stage_5_pain_points_text"/>
          <p:cNvSpPr/>
          <p:nvPr/>
        </p:nvSpPr>
        <p:spPr>
          <a:xfrm>
            <a:off x="9299448" y="4358372"/>
            <a:ext cx="1828800" cy="95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delays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 payment errors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Late payment penalties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Limited early payment capture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75488" y="5626876"/>
            <a:ext cx="11201400" cy="576072"/>
          </a:xfrm>
          <a:prstGeom prst="rect">
            <a:avLst/>
          </a:prstGeom>
          <a:solidFill>
            <a:srgbClr val="F7FB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6" name="impact_icon"/>
          <p:cNvSpPr/>
          <p:nvPr/>
        </p:nvSpPr>
        <p:spPr>
          <a:xfrm>
            <a:off x="643095" y="5741930"/>
            <a:ext cx="291202" cy="39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500" dirty="0"/>
          </a:p>
        </p:txBody>
      </p:sp>
      <p:sp>
        <p:nvSpPr>
          <p:cNvPr id="67" name="overall_impact_text"/>
          <p:cNvSpPr/>
          <p:nvPr/>
        </p:nvSpPr>
        <p:spPr>
          <a:xfrm>
            <a:off x="1106424" y="5741930"/>
            <a:ext cx="103003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impact: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process variability, manual effort and data silos lead to longer cycle times, higher costs and compliance risks.</a:t>
            </a:r>
            <a:endParaRPr lang="en-US" sz="1400" dirty="0"/>
          </a:p>
        </p:txBody>
      </p:sp>
      <p:sp>
        <p:nvSpPr>
          <p:cNvPr id="68" name="source_text"/>
          <p:cNvSpPr/>
          <p:nvPr/>
        </p:nvSpPr>
        <p:spPr>
          <a:xfrm>
            <a:off x="475488" y="6404116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9" name="footer_page_number"/>
          <p:cNvSpPr/>
          <p:nvPr/>
        </p:nvSpPr>
        <p:spPr>
          <a:xfrm>
            <a:off x="9564624" y="6404116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10</TotalTime>
  <Words>262</Words>
  <Application>Microsoft Macintosh PowerPoint</Application>
  <PresentationFormat>Widescreen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State Operating Model</dc:title>
  <dc:subject>Editable conversion</dc:subject>
  <dc:creator>OpenAI</dc:creator>
  <cp:lastModifiedBy>Madhav Kapoor</cp:lastModifiedBy>
  <cp:revision>5</cp:revision>
  <dcterms:created xsi:type="dcterms:W3CDTF">2026-07-15T10:22:59Z</dcterms:created>
  <dcterms:modified xsi:type="dcterms:W3CDTF">2026-07-17T17:40:05Z</dcterms:modified>
</cp:coreProperties>
</file>