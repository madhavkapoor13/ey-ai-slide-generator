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3"/>
    <p:restoredTop sz="94685"/>
  </p:normalViewPr>
  <p:slideViewPr>
    <p:cSldViewPr snapToGrid="0" snapToObjects="1">
      <p:cViewPr varScale="1">
        <p:scale>
          <a:sx n="96" d="100"/>
          <a:sy n="96" d="100"/>
        </p:scale>
        <p:origin x="192" y="9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621" y="2130426"/>
            <a:ext cx="7770376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243" y="3886200"/>
            <a:ext cx="639913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7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25" y="4406901"/>
            <a:ext cx="7770376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25" y="2906713"/>
            <a:ext cx="7770376" cy="1500187"/>
          </a:xfrm>
        </p:spPr>
        <p:txBody>
          <a:bodyPr anchor="b"/>
          <a:lstStyle>
            <a:lvl1pPr marL="0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74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081" y="1600201"/>
            <a:ext cx="403754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990" y="1600201"/>
            <a:ext cx="403754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70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535113"/>
            <a:ext cx="4039136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081" y="2174875"/>
            <a:ext cx="4039136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3816" y="1535113"/>
            <a:ext cx="4040722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3816" y="2174875"/>
            <a:ext cx="4040722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91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2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459" y="796996"/>
            <a:ext cx="11225908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0285" y="6339265"/>
            <a:ext cx="954206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99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273050"/>
            <a:ext cx="3007530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119" y="273051"/>
            <a:ext cx="5110419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1435101"/>
            <a:ext cx="300753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5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821" y="4800600"/>
            <a:ext cx="5484971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821" y="612775"/>
            <a:ext cx="5484971" cy="4114800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821" y="5367338"/>
            <a:ext cx="548497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5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4" y="274639"/>
            <a:ext cx="2056864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081" y="274639"/>
            <a:ext cx="601823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39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081" y="274638"/>
            <a:ext cx="82274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600201"/>
            <a:ext cx="82274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081" y="6356351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3386" y="6356351"/>
            <a:ext cx="28948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1494" y="6356351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3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063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7" indent="-342797" algn="l" defTabSz="457063" rtl="0" eaLnBrk="1" latinLnBrk="0" hangingPunct="1">
        <a:spcBef>
          <a:spcPct val="20000"/>
        </a:spcBef>
        <a:buFont typeface="Arial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buFont typeface="Arial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ct val="20000"/>
        </a:spcBef>
        <a:buFont typeface="Arial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ct val="20000"/>
        </a:spcBef>
        <a:buFont typeface="Arial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ct val="20000"/>
        </a:spcBef>
        <a:buFont typeface="Arial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263122"/>
            <a:ext cx="786384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400" b="1" dirty="0">
                <a:solidFill>
                  <a:srgbClr val="000000"/>
                </a:solidFill>
                <a:latin typeface="Arial"/>
              </a:rPr>
              <a:t>KPI Scorecard – 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3" y="621792"/>
            <a:ext cx="1124712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i="1" dirty="0">
                <a:solidFill>
                  <a:srgbClr val="0057D9"/>
                </a:solidFill>
                <a:latin typeface="Arial"/>
              </a:rPr>
              <a:t>Tracking progress against key operational and financial KPIs to drive accountability and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2788920" cy="493776"/>
          </a:xfrm>
          <a:prstGeom prst="rect">
            <a:avLst/>
          </a:prstGeom>
          <a:solidFill>
            <a:srgbClr val="003399"/>
          </a:solidFill>
          <a:ln w="6350">
            <a:solidFill>
              <a:srgbClr val="6C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3" y="1152144"/>
            <a:ext cx="2624327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rial"/>
              </a:rPr>
              <a:t>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118103" y="1078992"/>
            <a:ext cx="1188720" cy="493776"/>
          </a:xfrm>
          <a:prstGeom prst="rect">
            <a:avLst/>
          </a:prstGeom>
          <a:solidFill>
            <a:srgbClr val="003399"/>
          </a:solidFill>
          <a:ln w="6350">
            <a:solidFill>
              <a:srgbClr val="6C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9544" y="1152144"/>
            <a:ext cx="102412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30" b="1">
                <a:solidFill>
                  <a:srgbClr val="FFFFFF"/>
                </a:solidFill>
                <a:latin typeface="Arial"/>
              </a:rPr>
              <a:t>Baseline
(FY24)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6824" y="1078992"/>
            <a:ext cx="1234440" cy="493776"/>
          </a:xfrm>
          <a:prstGeom prst="rect">
            <a:avLst/>
          </a:prstGeom>
          <a:solidFill>
            <a:srgbClr val="003399"/>
          </a:solidFill>
          <a:ln w="6350">
            <a:solidFill>
              <a:srgbClr val="6C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98264" y="1152144"/>
            <a:ext cx="106984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30" b="1">
                <a:solidFill>
                  <a:srgbClr val="FFFFFF"/>
                </a:solidFill>
                <a:latin typeface="Arial"/>
              </a:rPr>
              <a:t>Target
(FY25)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1264" y="1078992"/>
            <a:ext cx="1143000" cy="493776"/>
          </a:xfrm>
          <a:prstGeom prst="rect">
            <a:avLst/>
          </a:prstGeom>
          <a:solidFill>
            <a:srgbClr val="003399"/>
          </a:solidFill>
          <a:ln w="6350">
            <a:solidFill>
              <a:srgbClr val="6C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32704" y="1152144"/>
            <a:ext cx="97840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30" b="1">
                <a:solidFill>
                  <a:srgbClr val="FFFFFF"/>
                </a:solidFill>
                <a:latin typeface="Arial"/>
              </a:rPr>
              <a:t>Current
(Jun 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84264" y="1078992"/>
            <a:ext cx="1078992" cy="493776"/>
          </a:xfrm>
          <a:prstGeom prst="rect">
            <a:avLst/>
          </a:prstGeom>
          <a:solidFill>
            <a:srgbClr val="003399"/>
          </a:solidFill>
          <a:ln w="6350">
            <a:solidFill>
              <a:srgbClr val="6C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75704" y="1152144"/>
            <a:ext cx="9144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30" b="1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63256" y="1078992"/>
            <a:ext cx="1078992" cy="493776"/>
          </a:xfrm>
          <a:prstGeom prst="rect">
            <a:avLst/>
          </a:prstGeom>
          <a:solidFill>
            <a:srgbClr val="003399"/>
          </a:solidFill>
          <a:ln w="6350">
            <a:solidFill>
              <a:srgbClr val="6C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54696" y="1152144"/>
            <a:ext cx="9144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30" b="1">
                <a:solidFill>
                  <a:srgbClr val="FFFFFF"/>
                </a:solidFill>
                <a:latin typeface="Arial"/>
              </a:rPr>
              <a:t>Cadence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42248" y="1078992"/>
            <a:ext cx="1005840" cy="493776"/>
          </a:xfrm>
          <a:prstGeom prst="rect">
            <a:avLst/>
          </a:prstGeom>
          <a:solidFill>
            <a:srgbClr val="003399"/>
          </a:solidFill>
          <a:ln w="6350">
            <a:solidFill>
              <a:srgbClr val="6C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33688" y="1152144"/>
            <a:ext cx="84124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3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48088" y="1078992"/>
            <a:ext cx="1636776" cy="493776"/>
          </a:xfrm>
          <a:prstGeom prst="rect">
            <a:avLst/>
          </a:prstGeom>
          <a:solidFill>
            <a:srgbClr val="003399"/>
          </a:solidFill>
          <a:ln w="6350">
            <a:solidFill>
              <a:srgbClr val="6C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39528" y="1152144"/>
            <a:ext cx="1472184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30" b="1">
                <a:solidFill>
                  <a:srgbClr val="FFFFFF"/>
                </a:solidFill>
                <a:latin typeface="Arial"/>
              </a:rPr>
              <a:t>Comments /
Intervention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1572768"/>
            <a:ext cx="2788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18103" y="1572768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06824" y="1572768"/>
            <a:ext cx="1234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41264" y="1572768"/>
            <a:ext cx="1143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84264" y="1572768"/>
            <a:ext cx="10789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63256" y="1572768"/>
            <a:ext cx="10789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42248" y="1572768"/>
            <a:ext cx="1005840" cy="548640"/>
          </a:xfrm>
          <a:prstGeom prst="rect">
            <a:avLst/>
          </a:prstGeom>
          <a:solidFill>
            <a:srgbClr val="E8F4EC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48088" y="1572768"/>
            <a:ext cx="163677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3" y="1609344"/>
            <a:ext cx="2624327" cy="475488"/>
          </a:xfrm>
          <a:prstGeom prst="rect">
            <a:avLst/>
          </a:prstGeom>
          <a:noFill/>
        </p:spPr>
        <p:txBody>
          <a:bodyPr wrap="square" lIns="64008" tIns="18288" rIns="36576" bIns="18288" anchor="ctr">
            <a:spAutoFit/>
          </a:bodyPr>
          <a:lstStyle/>
          <a:p>
            <a:r>
              <a:rPr sz="1030" b="1">
                <a:solidFill>
                  <a:srgbClr val="000000"/>
                </a:solidFill>
                <a:latin typeface="Arial"/>
              </a:rPr>
              <a:t>Procurement Cycle Time</a:t>
            </a:r>
          </a:p>
          <a:p>
            <a:pPr>
              <a:spcBef>
                <a:spcPts val="100"/>
              </a:spcBef>
            </a:pPr>
            <a:r>
              <a:rPr sz="940">
                <a:solidFill>
                  <a:srgbClr val="4D4D4D"/>
                </a:solidFill>
                <a:latin typeface="Arial"/>
              </a:rPr>
              <a:t>PO creation to goods receipt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63823" y="1645920"/>
            <a:ext cx="1097280" cy="4023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18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4" y="1645920"/>
            <a:ext cx="1143000" cy="4023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12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1645920"/>
            <a:ext cx="1033271" cy="4023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057D9"/>
                </a:solidFill>
                <a:latin typeface="Arial"/>
              </a:rPr>
              <a:t>15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1645920"/>
            <a:ext cx="987551" cy="4023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COO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08976" y="1645920"/>
            <a:ext cx="987551" cy="4023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Monthly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1645920"/>
            <a:ext cx="914400" cy="40233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1">
                <a:solidFill>
                  <a:srgbClr val="007A3D"/>
                </a:solidFill>
                <a:latin typeface="Arial"/>
              </a:rP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1627632"/>
            <a:ext cx="1499616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0" b="0">
                <a:solidFill>
                  <a:srgbClr val="000000"/>
                </a:solidFill>
                <a:latin typeface="Arial"/>
              </a:rPr>
              <a:t>Process automation
in pilot; scale in Q3.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" y="2121408"/>
            <a:ext cx="2788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118103" y="2121408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06824" y="2121408"/>
            <a:ext cx="1234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541264" y="2121408"/>
            <a:ext cx="1143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684264" y="2121408"/>
            <a:ext cx="107899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63256" y="2121408"/>
            <a:ext cx="107899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842248" y="2121408"/>
            <a:ext cx="1005840" cy="594360"/>
          </a:xfrm>
          <a:prstGeom prst="rect">
            <a:avLst/>
          </a:prstGeom>
          <a:solidFill>
            <a:srgbClr val="F8E3E1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848088" y="2121408"/>
            <a:ext cx="1636776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0623" y="2157984"/>
            <a:ext cx="2624327" cy="521208"/>
          </a:xfrm>
          <a:prstGeom prst="rect">
            <a:avLst/>
          </a:prstGeom>
          <a:noFill/>
        </p:spPr>
        <p:txBody>
          <a:bodyPr wrap="square" lIns="64008" tIns="18288" rIns="36576" bIns="18288" anchor="ctr">
            <a:spAutoFit/>
          </a:bodyPr>
          <a:lstStyle/>
          <a:p>
            <a:r>
              <a:rPr sz="1030" b="1">
                <a:solidFill>
                  <a:srgbClr val="000000"/>
                </a:solidFill>
                <a:latin typeface="Arial"/>
              </a:rPr>
              <a:t>Invoice First-Pass Match Rate</a:t>
            </a:r>
          </a:p>
          <a:p>
            <a:pPr>
              <a:spcBef>
                <a:spcPts val="100"/>
              </a:spcBef>
            </a:pPr>
            <a:r>
              <a:rPr sz="940">
                <a:solidFill>
                  <a:srgbClr val="4D4D4D"/>
                </a:solidFill>
                <a:latin typeface="Arial"/>
              </a:rPr>
              <a:t>% invoices matched without exception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63823" y="2194560"/>
            <a:ext cx="1097280" cy="4480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71%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52544" y="2194560"/>
            <a:ext cx="1143000" cy="4480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6128" y="2194560"/>
            <a:ext cx="1033271" cy="4480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057D9"/>
                </a:solidFill>
                <a:latin typeface="Arial"/>
              </a:rPr>
              <a:t>79%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2194560"/>
            <a:ext cx="987551" cy="4480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Finance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08976" y="2194560"/>
            <a:ext cx="987551" cy="4480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Monthly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8" y="2194560"/>
            <a:ext cx="914400" cy="4480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1">
                <a:solidFill>
                  <a:srgbClr val="D00000"/>
                </a:solidFill>
                <a:latin typeface="Arial"/>
              </a:rPr>
              <a:t>At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1240" y="2176272"/>
            <a:ext cx="1499616" cy="4846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0" b="0">
                <a:solidFill>
                  <a:srgbClr val="000000"/>
                </a:solidFill>
                <a:latin typeface="Arial"/>
              </a:rPr>
              <a:t>Data quality and PO
accuracy driving
exceptions.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" y="2715768"/>
            <a:ext cx="2788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118103" y="2715768"/>
            <a:ext cx="1188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306824" y="2715768"/>
            <a:ext cx="1234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541264" y="2715768"/>
            <a:ext cx="1143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684264" y="2715768"/>
            <a:ext cx="10789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763256" y="2715768"/>
            <a:ext cx="10789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842248" y="2715768"/>
            <a:ext cx="1005840" cy="603504"/>
          </a:xfrm>
          <a:prstGeom prst="rect">
            <a:avLst/>
          </a:prstGeom>
          <a:solidFill>
            <a:srgbClr val="FFF6D8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848088" y="2715768"/>
            <a:ext cx="1636776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0623" y="2752344"/>
            <a:ext cx="2624327" cy="530352"/>
          </a:xfrm>
          <a:prstGeom prst="rect">
            <a:avLst/>
          </a:prstGeom>
          <a:noFill/>
        </p:spPr>
        <p:txBody>
          <a:bodyPr wrap="square" lIns="64008" tIns="18288" rIns="36576" bIns="18288" anchor="ctr">
            <a:spAutoFit/>
          </a:bodyPr>
          <a:lstStyle/>
          <a:p>
            <a:r>
              <a:rPr sz="1030" b="1">
                <a:solidFill>
                  <a:srgbClr val="000000"/>
                </a:solidFill>
                <a:latin typeface="Arial"/>
              </a:rPr>
              <a:t>Manual Processing Rate</a:t>
            </a:r>
          </a:p>
          <a:p>
            <a:pPr>
              <a:spcBef>
                <a:spcPts val="100"/>
              </a:spcBef>
            </a:pPr>
            <a:r>
              <a:rPr sz="940">
                <a:solidFill>
                  <a:srgbClr val="4D4D4D"/>
                </a:solidFill>
                <a:latin typeface="Arial"/>
              </a:rPr>
              <a:t>% transactions handled manually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63823" y="2788920"/>
            <a:ext cx="109728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62%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52544" y="2788920"/>
            <a:ext cx="114300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25%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96128" y="2788920"/>
            <a:ext cx="1033271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 dirty="0">
                <a:solidFill>
                  <a:srgbClr val="0057D9"/>
                </a:solidFill>
                <a:latin typeface="Arial"/>
              </a:rPr>
              <a:t>48%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29984" y="2788920"/>
            <a:ext cx="987551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 dirty="0">
                <a:solidFill>
                  <a:srgbClr val="000000"/>
                </a:solidFill>
                <a:latin typeface="Arial"/>
              </a:rPr>
              <a:t>Operations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08976" y="2788920"/>
            <a:ext cx="987551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 dirty="0">
                <a:solidFill>
                  <a:srgbClr val="000000"/>
                </a:solidFill>
                <a:latin typeface="Arial"/>
              </a:rPr>
              <a:t>Monthly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87968" y="2788920"/>
            <a:ext cx="91440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1" dirty="0">
                <a:solidFill>
                  <a:srgbClr val="F2A000"/>
                </a:solidFill>
                <a:latin typeface="Arial"/>
              </a:rPr>
              <a:t>Improving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1240" y="2770632"/>
            <a:ext cx="14996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0" b="0" dirty="0">
                <a:solidFill>
                  <a:srgbClr val="000000"/>
                </a:solidFill>
                <a:latin typeface="Arial"/>
              </a:rPr>
              <a:t>RPA deployment
underway; training in
progress.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9184" y="3319272"/>
            <a:ext cx="2788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118103" y="3319272"/>
            <a:ext cx="1188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306824" y="3319272"/>
            <a:ext cx="12344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541264" y="3319272"/>
            <a:ext cx="11430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684264" y="3319272"/>
            <a:ext cx="107899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763256" y="3319272"/>
            <a:ext cx="107899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842248" y="3319272"/>
            <a:ext cx="1005840" cy="576072"/>
          </a:xfrm>
          <a:prstGeom prst="rect">
            <a:avLst/>
          </a:prstGeom>
          <a:solidFill>
            <a:srgbClr val="FFF6D8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848088" y="3319272"/>
            <a:ext cx="1636776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0623" y="3355848"/>
            <a:ext cx="2624327" cy="502920"/>
          </a:xfrm>
          <a:prstGeom prst="rect">
            <a:avLst/>
          </a:prstGeom>
          <a:noFill/>
        </p:spPr>
        <p:txBody>
          <a:bodyPr wrap="square" lIns="64008" tIns="18288" rIns="36576" bIns="18288" anchor="ctr">
            <a:spAutoFit/>
          </a:bodyPr>
          <a:lstStyle/>
          <a:p>
            <a:r>
              <a:rPr sz="1030" b="1">
                <a:solidFill>
                  <a:srgbClr val="000000"/>
                </a:solidFill>
                <a:latin typeface="Arial"/>
              </a:rPr>
              <a:t>Supplier Lead Time</a:t>
            </a:r>
          </a:p>
          <a:p>
            <a:pPr>
              <a:spcBef>
                <a:spcPts val="100"/>
              </a:spcBef>
            </a:pPr>
            <a:r>
              <a:rPr sz="940">
                <a:solidFill>
                  <a:srgbClr val="4D4D4D"/>
                </a:solidFill>
                <a:latin typeface="Arial"/>
              </a:rPr>
              <a:t>Average lead time from PO to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63823" y="3392424"/>
            <a:ext cx="109728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14 days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52544" y="3392424"/>
            <a:ext cx="114300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10 days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96128" y="3392424"/>
            <a:ext cx="1033271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057D9"/>
                </a:solidFill>
                <a:latin typeface="Arial"/>
              </a:rPr>
              <a:t>12 days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29984" y="3392424"/>
            <a:ext cx="987551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Supply Chain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08976" y="3392424"/>
            <a:ext cx="987551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Monthly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87968" y="3392424"/>
            <a:ext cx="91440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1">
                <a:solidFill>
                  <a:srgbClr val="F2A000"/>
                </a:solidFill>
                <a:latin typeface="Arial"/>
              </a:rPr>
              <a:t>Improving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21240" y="3374136"/>
            <a:ext cx="1499616" cy="4663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0" b="0">
                <a:solidFill>
                  <a:srgbClr val="000000"/>
                </a:solidFill>
                <a:latin typeface="Arial"/>
              </a:rPr>
              <a:t>Supplier segmentation
and scorecards
implemented.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9184" y="3895344"/>
            <a:ext cx="27889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118103" y="3895344"/>
            <a:ext cx="11887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4306824" y="3895344"/>
            <a:ext cx="12344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541264" y="3895344"/>
            <a:ext cx="11430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684264" y="3895344"/>
            <a:ext cx="107899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763256" y="3895344"/>
            <a:ext cx="107899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842248" y="3895344"/>
            <a:ext cx="1005840" cy="493776"/>
          </a:xfrm>
          <a:prstGeom prst="rect">
            <a:avLst/>
          </a:prstGeom>
          <a:solidFill>
            <a:srgbClr val="FFF6D8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848088" y="3895344"/>
            <a:ext cx="163677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20623" y="3931920"/>
            <a:ext cx="2624327" cy="420624"/>
          </a:xfrm>
          <a:prstGeom prst="rect">
            <a:avLst/>
          </a:prstGeom>
          <a:noFill/>
        </p:spPr>
        <p:txBody>
          <a:bodyPr wrap="square" lIns="64008" tIns="18288" rIns="36576" bIns="18288" anchor="ctr">
            <a:spAutoFit/>
          </a:bodyPr>
          <a:lstStyle/>
          <a:p>
            <a:r>
              <a:rPr sz="1030" b="1">
                <a:solidFill>
                  <a:srgbClr val="000000"/>
                </a:solidFill>
                <a:latin typeface="Arial"/>
              </a:rPr>
              <a:t>Exception Rate</a:t>
            </a:r>
          </a:p>
          <a:p>
            <a:pPr>
              <a:spcBef>
                <a:spcPts val="100"/>
              </a:spcBef>
            </a:pPr>
            <a:r>
              <a:rPr sz="940">
                <a:solidFill>
                  <a:srgbClr val="4D4D4D"/>
                </a:solidFill>
                <a:latin typeface="Arial"/>
              </a:rPr>
              <a:t>% of POs with exceptions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63823" y="3968496"/>
            <a:ext cx="109728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24%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52544" y="3968496"/>
            <a:ext cx="11430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10%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96128" y="3968496"/>
            <a:ext cx="1033271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057D9"/>
                </a:solidFill>
                <a:latin typeface="Arial"/>
              </a:rPr>
              <a:t>16%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29984" y="3968496"/>
            <a:ext cx="987551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Finance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08976" y="3968496"/>
            <a:ext cx="987551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Monthly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87968" y="3968496"/>
            <a:ext cx="9144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1">
                <a:solidFill>
                  <a:srgbClr val="F2A000"/>
                </a:solidFill>
                <a:latin typeface="Arial"/>
              </a:rPr>
              <a:t>Improving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21240" y="3950207"/>
            <a:ext cx="1499616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0" b="0">
                <a:solidFill>
                  <a:srgbClr val="000000"/>
                </a:solidFill>
                <a:latin typeface="Arial"/>
              </a:rPr>
              <a:t>Exception analytics
being rolled out.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9184" y="4389120"/>
            <a:ext cx="2788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118103" y="4389120"/>
            <a:ext cx="1188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306824" y="4389120"/>
            <a:ext cx="12344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5541264" y="4389120"/>
            <a:ext cx="11430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684264" y="4389120"/>
            <a:ext cx="107899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763256" y="4389120"/>
            <a:ext cx="107899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842248" y="4389120"/>
            <a:ext cx="1005840" cy="576072"/>
          </a:xfrm>
          <a:prstGeom prst="rect">
            <a:avLst/>
          </a:prstGeom>
          <a:solidFill>
            <a:srgbClr val="E8F4EC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9848088" y="4389120"/>
            <a:ext cx="1636776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20623" y="4425696"/>
            <a:ext cx="2624327" cy="502920"/>
          </a:xfrm>
          <a:prstGeom prst="rect">
            <a:avLst/>
          </a:prstGeom>
          <a:noFill/>
        </p:spPr>
        <p:txBody>
          <a:bodyPr wrap="square" lIns="64008" tIns="18288" rIns="36576" bIns="18288" anchor="ctr">
            <a:spAutoFit/>
          </a:bodyPr>
          <a:lstStyle/>
          <a:p>
            <a:r>
              <a:rPr sz="1030" b="1">
                <a:solidFill>
                  <a:srgbClr val="000000"/>
                </a:solidFill>
                <a:latin typeface="Arial"/>
              </a:rPr>
              <a:t>Payment Accuracy</a:t>
            </a:r>
          </a:p>
          <a:p>
            <a:pPr>
              <a:spcBef>
                <a:spcPts val="100"/>
              </a:spcBef>
            </a:pPr>
            <a:r>
              <a:rPr sz="940">
                <a:solidFill>
                  <a:srgbClr val="4D4D4D"/>
                </a:solidFill>
                <a:latin typeface="Arial"/>
              </a:rPr>
              <a:t>% payments without issue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63823" y="4462272"/>
            <a:ext cx="109728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93%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52544" y="4462272"/>
            <a:ext cx="114300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98%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596128" y="4462272"/>
            <a:ext cx="1033271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057D9"/>
                </a:solidFill>
                <a:latin typeface="Arial"/>
              </a:rPr>
              <a:t>95%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29984" y="4462272"/>
            <a:ext cx="987551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Finance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808976" y="4462272"/>
            <a:ext cx="987551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Monthly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87968" y="4462272"/>
            <a:ext cx="91440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1">
                <a:solidFill>
                  <a:srgbClr val="007A3D"/>
                </a:solidFill>
                <a:latin typeface="Arial"/>
              </a:rPr>
              <a:t>On track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921240" y="4443983"/>
            <a:ext cx="1499616" cy="4663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0" b="0">
                <a:solidFill>
                  <a:srgbClr val="000000"/>
                </a:solidFill>
                <a:latin typeface="Arial"/>
              </a:rPr>
              <a:t>3-way match rate
improvements aiding
accuracy.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29184" y="4965192"/>
            <a:ext cx="2788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118103" y="4965192"/>
            <a:ext cx="1188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306824" y="4965192"/>
            <a:ext cx="12344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541264" y="4965192"/>
            <a:ext cx="11430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6684264" y="4965192"/>
            <a:ext cx="107899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763256" y="4965192"/>
            <a:ext cx="107899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8842248" y="4965192"/>
            <a:ext cx="1005840" cy="576072"/>
          </a:xfrm>
          <a:prstGeom prst="rect">
            <a:avLst/>
          </a:prstGeom>
          <a:solidFill>
            <a:srgbClr val="E8F4EC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9848088" y="4965192"/>
            <a:ext cx="1636776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20623" y="5001768"/>
            <a:ext cx="2624327" cy="502920"/>
          </a:xfrm>
          <a:prstGeom prst="rect">
            <a:avLst/>
          </a:prstGeom>
          <a:noFill/>
        </p:spPr>
        <p:txBody>
          <a:bodyPr wrap="square" lIns="64008" tIns="18288" rIns="36576" bIns="18288" anchor="ctr">
            <a:spAutoFit/>
          </a:bodyPr>
          <a:lstStyle/>
          <a:p>
            <a:r>
              <a:rPr sz="1030" b="1">
                <a:solidFill>
                  <a:srgbClr val="000000"/>
                </a:solidFill>
                <a:latin typeface="Arial"/>
              </a:rPr>
              <a:t>Days Payables Outstanding (DPO)</a:t>
            </a:r>
          </a:p>
          <a:p>
            <a:pPr>
              <a:spcBef>
                <a:spcPts val="100"/>
              </a:spcBef>
            </a:pPr>
            <a:r>
              <a:rPr sz="940">
                <a:solidFill>
                  <a:srgbClr val="4D4D4D"/>
                </a:solidFill>
                <a:latin typeface="Arial"/>
              </a:rPr>
              <a:t>Average days to pay suppliers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63823" y="5038344"/>
            <a:ext cx="109728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32 days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352544" y="5038344"/>
            <a:ext cx="114300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35 days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96128" y="5038344"/>
            <a:ext cx="1033271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057D9"/>
                </a:solidFill>
                <a:latin typeface="Arial"/>
              </a:rPr>
              <a:t>30 days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729984" y="5038344"/>
            <a:ext cx="987551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Finance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6" y="5038344"/>
            <a:ext cx="987551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0">
                <a:solidFill>
                  <a:srgbClr val="000000"/>
                </a:solidFill>
                <a:latin typeface="Arial"/>
              </a:rPr>
              <a:t>Monthly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887968" y="5038344"/>
            <a:ext cx="91440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80" b="1">
                <a:solidFill>
                  <a:srgbClr val="007A3D"/>
                </a:solidFill>
                <a:latin typeface="Arial"/>
              </a:rPr>
              <a:t>On track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921240" y="5020055"/>
            <a:ext cx="1499616" cy="4663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0" b="0">
                <a:solidFill>
                  <a:srgbClr val="000000"/>
                </a:solidFill>
                <a:latin typeface="Arial"/>
              </a:rPr>
              <a:t>Dynamic discounting
opportunities
in progress.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29184" y="5577840"/>
            <a:ext cx="11155680" cy="658368"/>
          </a:xfrm>
          <a:prstGeom prst="rect">
            <a:avLst/>
          </a:prstGeom>
          <a:solidFill>
            <a:srgbClr val="F3F8FE"/>
          </a:solidFill>
          <a:ln w="9525">
            <a:solidFill>
              <a:srgbClr val="B9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329184" y="5577840"/>
            <a:ext cx="1389888" cy="658368"/>
          </a:xfrm>
          <a:prstGeom prst="rect">
            <a:avLst/>
          </a:prstGeom>
          <a:solidFill>
            <a:srgbClr val="003399"/>
          </a:solidFill>
          <a:ln w="9525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66344" y="5696712"/>
            <a:ext cx="1115568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30" b="1">
                <a:solidFill>
                  <a:srgbClr val="FFFFFF"/>
                </a:solidFill>
                <a:latin typeface="Arial"/>
              </a:rPr>
              <a:t>Scorecard
Summary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983480" y="5687568"/>
            <a:ext cx="9144" cy="438912"/>
          </a:xfrm>
          <a:prstGeom prst="rect">
            <a:avLst/>
          </a:prstGeom>
          <a:solidFill>
            <a:srgbClr val="B9CBE8"/>
          </a:solidFill>
          <a:ln>
            <a:solidFill>
              <a:srgbClr val="B9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8183879" y="5687568"/>
            <a:ext cx="9144" cy="438912"/>
          </a:xfrm>
          <a:prstGeom prst="rect">
            <a:avLst/>
          </a:prstGeom>
          <a:solidFill>
            <a:srgbClr val="B9CBE8"/>
          </a:solidFill>
          <a:ln>
            <a:solidFill>
              <a:srgbClr val="B9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2395728" y="5687568"/>
            <a:ext cx="36576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007A3D"/>
                </a:solidFill>
                <a:latin typeface="Arial"/>
              </a:rP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834640" y="5660136"/>
            <a:ext cx="21031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60" b="1">
                <a:solidFill>
                  <a:srgbClr val="007A3D"/>
                </a:solidFill>
                <a:latin typeface="Arial"/>
              </a:rPr>
              <a:t>On track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834640" y="5843016"/>
            <a:ext cx="214884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0" dirty="0">
                <a:solidFill>
                  <a:srgbClr val="000000"/>
                </a:solidFill>
                <a:latin typeface="Arial"/>
              </a:rPr>
              <a:t>KPIs meeting or exceeding
targets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394960" y="5687568"/>
            <a:ext cx="36576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2A000"/>
                </a:solidFill>
                <a:latin typeface="Arial"/>
              </a:rP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852160" y="5660136"/>
            <a:ext cx="21031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60" b="1">
                <a:solidFill>
                  <a:srgbClr val="F2A000"/>
                </a:solidFill>
                <a:latin typeface="Arial"/>
              </a:rPr>
              <a:t>Improving / At risk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852160" y="5843016"/>
            <a:ext cx="224028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0" dirty="0">
                <a:solidFill>
                  <a:srgbClr val="000000"/>
                </a:solidFill>
                <a:latin typeface="Arial"/>
              </a:rPr>
              <a:t>KPIs below target but
showing positive trend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686800" y="5687568"/>
            <a:ext cx="36576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D00000"/>
                </a:solidFill>
                <a:latin typeface="Arial"/>
              </a:rP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162288" y="5660136"/>
            <a:ext cx="21031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60" b="1" dirty="0">
                <a:solidFill>
                  <a:srgbClr val="D00000"/>
                </a:solidFill>
                <a:latin typeface="Arial"/>
              </a:rPr>
              <a:t>Off track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162288" y="5843016"/>
            <a:ext cx="214884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0" dirty="0">
                <a:solidFill>
                  <a:srgbClr val="000000"/>
                </a:solidFill>
                <a:latin typeface="Arial"/>
              </a:rPr>
              <a:t>KPIs requiring immediate
management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2</TotalTime>
  <Words>265</Words>
  <Application>Microsoft Macintosh PowerPoint</Application>
  <PresentationFormat>Custom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2</cp:revision>
  <dcterms:created xsi:type="dcterms:W3CDTF">2013-01-27T09:14:16Z</dcterms:created>
  <dcterms:modified xsi:type="dcterms:W3CDTF">2026-07-21T10:00:52Z</dcterms:modified>
  <cp:category/>
</cp:coreProperties>
</file>