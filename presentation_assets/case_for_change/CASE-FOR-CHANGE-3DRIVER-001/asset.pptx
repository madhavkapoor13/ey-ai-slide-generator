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87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7702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93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839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1018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542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57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17622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542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673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798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738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476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/>
          <p:nvPr/>
        </p:nvSpPr>
        <p:spPr>
          <a:xfrm>
            <a:off x="457199" y="237744"/>
            <a:ext cx="10194053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0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for change</a:t>
            </a:r>
            <a:endParaRPr lang="en-US" sz="2400" dirty="0"/>
          </a:p>
        </p:txBody>
      </p:sp>
      <p:sp>
        <p:nvSpPr>
          <p:cNvPr id="3" name="subtitle_text"/>
          <p:cNvSpPr/>
          <p:nvPr/>
        </p:nvSpPr>
        <p:spPr>
          <a:xfrm>
            <a:off x="457200" y="571500"/>
            <a:ext cx="11064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structural issues are limiting performance, increasing risk and constraining future scalability.</a:t>
            </a:r>
            <a:endParaRPr lang="en-US" sz="1100" i="1" dirty="0"/>
          </a:p>
        </p:txBody>
      </p:sp>
      <p:sp>
        <p:nvSpPr>
          <p:cNvPr id="5" name="Shape 3"/>
          <p:cNvSpPr/>
          <p:nvPr/>
        </p:nvSpPr>
        <p:spPr>
          <a:xfrm>
            <a:off x="356616" y="1184148"/>
            <a:ext cx="3703320" cy="384048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B8C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97380" y="1001268"/>
            <a:ext cx="621792" cy="347472"/>
          </a:xfrm>
          <a:prstGeom prst="rect">
            <a:avLst/>
          </a:prstGeom>
          <a:solidFill>
            <a:srgbClr val="0067E8"/>
          </a:solidFill>
          <a:ln w="12700">
            <a:solidFill>
              <a:srgbClr val="006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97964" y="107442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driver_1_title_text"/>
          <p:cNvSpPr/>
          <p:nvPr/>
        </p:nvSpPr>
        <p:spPr>
          <a:xfrm>
            <a:off x="630936" y="15681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under pressure</a:t>
            </a:r>
            <a:endParaRPr lang="en-US" sz="1800" dirty="0"/>
          </a:p>
        </p:txBody>
      </p:sp>
      <p:sp>
        <p:nvSpPr>
          <p:cNvPr id="9" name="driver_1_summary_text"/>
          <p:cNvSpPr/>
          <p:nvPr/>
        </p:nvSpPr>
        <p:spPr>
          <a:xfrm>
            <a:off x="612648" y="1879092"/>
            <a:ext cx="31912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and inefficiency are slowing execution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limiting the ability to deliver outcomes.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" y="2619756"/>
            <a:ext cx="3300984" cy="0"/>
          </a:xfrm>
          <a:prstGeom prst="line">
            <a:avLst/>
          </a:prstGeom>
          <a:noFill/>
          <a:ln w="10160">
            <a:solidFill>
              <a:srgbClr val="70B7FA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85216" y="273867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576072" y="308951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3" name="driver_1_evidence_1_text"/>
          <p:cNvSpPr/>
          <p:nvPr/>
        </p:nvSpPr>
        <p:spPr>
          <a:xfrm>
            <a:off x="795528" y="30529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handoffs and rework drive delays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" y="336564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5" name="driver_1_evidence_2_text"/>
          <p:cNvSpPr/>
          <p:nvPr/>
        </p:nvSpPr>
        <p:spPr>
          <a:xfrm>
            <a:off x="795528" y="33272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processes create bottlenecks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3913" y="3639311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driver_1_evidence_3_text"/>
          <p:cNvSpPr/>
          <p:nvPr/>
        </p:nvSpPr>
        <p:spPr>
          <a:xfrm>
            <a:off x="795528" y="3621023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performance and outcomes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" y="39319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576072" y="4275523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0" name="driver_1_impact_1_text"/>
          <p:cNvSpPr/>
          <p:nvPr/>
        </p:nvSpPr>
        <p:spPr>
          <a:xfrm>
            <a:off x="795528" y="4225683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cost to serve and lower productivity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3913" y="456742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2" name="driver_1_impact_2_text"/>
          <p:cNvSpPr/>
          <p:nvPr/>
        </p:nvSpPr>
        <p:spPr>
          <a:xfrm>
            <a:off x="795528" y="452909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decision-making and cycle times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52044" y="5408676"/>
            <a:ext cx="11430000" cy="658368"/>
          </a:xfrm>
          <a:prstGeom prst="rect">
            <a:avLst/>
          </a:prstGeom>
          <a:solidFill>
            <a:srgbClr val="EAF4FF"/>
          </a:solidFill>
          <a:ln w="13970">
            <a:solidFill>
              <a:srgbClr val="006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banner_takeaway_text"/>
          <p:cNvSpPr/>
          <p:nvPr/>
        </p:nvSpPr>
        <p:spPr>
          <a:xfrm>
            <a:off x="1453896" y="5488510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is required now to unlock value, reduce risk and build a scalable, future-ready operating model.</a:t>
            </a:r>
            <a:endParaRPr lang="en-US" sz="1620" dirty="0"/>
          </a:p>
        </p:txBody>
      </p:sp>
      <p:sp>
        <p:nvSpPr>
          <p:cNvPr id="65" name="Shape 3">
            <a:extLst>
              <a:ext uri="{FF2B5EF4-FFF2-40B4-BE49-F238E27FC236}">
                <a16:creationId xmlns:a16="http://schemas.microsoft.com/office/drawing/2014/main" id="{84B2A5BA-47BD-AE50-D2D5-DBAB32F265AC}"/>
              </a:ext>
            </a:extLst>
          </p:cNvPr>
          <p:cNvSpPr/>
          <p:nvPr/>
        </p:nvSpPr>
        <p:spPr>
          <a:xfrm>
            <a:off x="4279392" y="1184148"/>
            <a:ext cx="3703320" cy="384048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B8C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4">
            <a:extLst>
              <a:ext uri="{FF2B5EF4-FFF2-40B4-BE49-F238E27FC236}">
                <a16:creationId xmlns:a16="http://schemas.microsoft.com/office/drawing/2014/main" id="{B46F18DE-1842-3FE8-D0E8-5186D6C82A91}"/>
              </a:ext>
            </a:extLst>
          </p:cNvPr>
          <p:cNvSpPr/>
          <p:nvPr/>
        </p:nvSpPr>
        <p:spPr>
          <a:xfrm>
            <a:off x="5820156" y="1001268"/>
            <a:ext cx="621792" cy="347472"/>
          </a:xfrm>
          <a:prstGeom prst="rect">
            <a:avLst/>
          </a:prstGeom>
          <a:solidFill>
            <a:srgbClr val="0067E8"/>
          </a:solidFill>
          <a:ln w="12700">
            <a:solidFill>
              <a:srgbClr val="006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">
            <a:extLst>
              <a:ext uri="{FF2B5EF4-FFF2-40B4-BE49-F238E27FC236}">
                <a16:creationId xmlns:a16="http://schemas.microsoft.com/office/drawing/2014/main" id="{59E7326F-6FFD-6443-C364-7190B686EB27}"/>
              </a:ext>
            </a:extLst>
          </p:cNvPr>
          <p:cNvSpPr/>
          <p:nvPr/>
        </p:nvSpPr>
        <p:spPr>
          <a:xfrm>
            <a:off x="5920740" y="107442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68" name="driver_1_title_text">
            <a:extLst>
              <a:ext uri="{FF2B5EF4-FFF2-40B4-BE49-F238E27FC236}">
                <a16:creationId xmlns:a16="http://schemas.microsoft.com/office/drawing/2014/main" id="{DE108950-A563-FCE8-2D51-4D07CB0AC06E}"/>
              </a:ext>
            </a:extLst>
          </p:cNvPr>
          <p:cNvSpPr/>
          <p:nvPr/>
        </p:nvSpPr>
        <p:spPr>
          <a:xfrm>
            <a:off x="4553712" y="15681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and control exposure</a:t>
            </a:r>
            <a:endParaRPr lang="en-US" dirty="0"/>
          </a:p>
        </p:txBody>
      </p:sp>
      <p:sp>
        <p:nvSpPr>
          <p:cNvPr id="69" name="driver_1_summary_text">
            <a:extLst>
              <a:ext uri="{FF2B5EF4-FFF2-40B4-BE49-F238E27FC236}">
                <a16:creationId xmlns:a16="http://schemas.microsoft.com/office/drawing/2014/main" id="{D8A7E7FD-6DC3-B19C-4FEE-CCFEA05133A3}"/>
              </a:ext>
            </a:extLst>
          </p:cNvPr>
          <p:cNvSpPr/>
          <p:nvPr/>
        </p:nvSpPr>
        <p:spPr>
          <a:xfrm>
            <a:off x="4535424" y="1879092"/>
            <a:ext cx="31912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in governance and controls increase operational, financial and reputational risk.</a:t>
            </a:r>
            <a:endParaRPr lang="en-US" sz="1300" dirty="0"/>
          </a:p>
        </p:txBody>
      </p:sp>
      <p:sp>
        <p:nvSpPr>
          <p:cNvPr id="70" name="Shape 8">
            <a:extLst>
              <a:ext uri="{FF2B5EF4-FFF2-40B4-BE49-F238E27FC236}">
                <a16:creationId xmlns:a16="http://schemas.microsoft.com/office/drawing/2014/main" id="{50A9DC9E-D6F9-5DA3-666B-1A4166EA702F}"/>
              </a:ext>
            </a:extLst>
          </p:cNvPr>
          <p:cNvSpPr/>
          <p:nvPr/>
        </p:nvSpPr>
        <p:spPr>
          <a:xfrm>
            <a:off x="4480560" y="2619756"/>
            <a:ext cx="3300984" cy="0"/>
          </a:xfrm>
          <a:prstGeom prst="line">
            <a:avLst/>
          </a:prstGeom>
          <a:noFill/>
          <a:ln w="10160">
            <a:solidFill>
              <a:srgbClr val="70B7FA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71" name="Text 9">
            <a:extLst>
              <a:ext uri="{FF2B5EF4-FFF2-40B4-BE49-F238E27FC236}">
                <a16:creationId xmlns:a16="http://schemas.microsoft.com/office/drawing/2014/main" id="{7EB1F001-E2C8-28E5-6F5B-33C8CB3EB3F7}"/>
              </a:ext>
            </a:extLst>
          </p:cNvPr>
          <p:cNvSpPr/>
          <p:nvPr/>
        </p:nvSpPr>
        <p:spPr>
          <a:xfrm>
            <a:off x="4507992" y="273867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440" dirty="0"/>
          </a:p>
        </p:txBody>
      </p:sp>
      <p:sp>
        <p:nvSpPr>
          <p:cNvPr id="72" name="Text 10">
            <a:extLst>
              <a:ext uri="{FF2B5EF4-FFF2-40B4-BE49-F238E27FC236}">
                <a16:creationId xmlns:a16="http://schemas.microsoft.com/office/drawing/2014/main" id="{70A27AB3-EE96-B870-C422-AAEE4CF45536}"/>
              </a:ext>
            </a:extLst>
          </p:cNvPr>
          <p:cNvSpPr/>
          <p:nvPr/>
        </p:nvSpPr>
        <p:spPr>
          <a:xfrm>
            <a:off x="4498848" y="308951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3" name="driver_1_evidence_1_text">
            <a:extLst>
              <a:ext uri="{FF2B5EF4-FFF2-40B4-BE49-F238E27FC236}">
                <a16:creationId xmlns:a16="http://schemas.microsoft.com/office/drawing/2014/main" id="{AA818DE1-75FA-AA79-37C3-8F257DC04B2B}"/>
              </a:ext>
            </a:extLst>
          </p:cNvPr>
          <p:cNvSpPr/>
          <p:nvPr/>
        </p:nvSpPr>
        <p:spPr>
          <a:xfrm>
            <a:off x="4718304" y="30529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adherence to policies </a:t>
            </a:r>
            <a:endParaRPr lang="en-US" sz="1200" dirty="0"/>
          </a:p>
        </p:txBody>
      </p:sp>
      <p:sp>
        <p:nvSpPr>
          <p:cNvPr id="74" name="Text 12">
            <a:extLst>
              <a:ext uri="{FF2B5EF4-FFF2-40B4-BE49-F238E27FC236}">
                <a16:creationId xmlns:a16="http://schemas.microsoft.com/office/drawing/2014/main" id="{277878C7-B078-2665-452C-FE2E94DB7039}"/>
              </a:ext>
            </a:extLst>
          </p:cNvPr>
          <p:cNvSpPr/>
          <p:nvPr/>
        </p:nvSpPr>
        <p:spPr>
          <a:xfrm>
            <a:off x="4498848" y="336564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5" name="driver_1_evidence_2_text">
            <a:extLst>
              <a:ext uri="{FF2B5EF4-FFF2-40B4-BE49-F238E27FC236}">
                <a16:creationId xmlns:a16="http://schemas.microsoft.com/office/drawing/2014/main" id="{B3B07024-E905-1B61-9D97-D87BD1E9D5B2}"/>
              </a:ext>
            </a:extLst>
          </p:cNvPr>
          <p:cNvSpPr/>
          <p:nvPr/>
        </p:nvSpPr>
        <p:spPr>
          <a:xfrm>
            <a:off x="4718304" y="33272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visibility into key risks and exceptions</a:t>
            </a:r>
            <a:endParaRPr lang="en-US" sz="1200" dirty="0"/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07F9240C-EFFD-CA62-D826-10629BFAAB29}"/>
              </a:ext>
            </a:extLst>
          </p:cNvPr>
          <p:cNvSpPr/>
          <p:nvPr/>
        </p:nvSpPr>
        <p:spPr>
          <a:xfrm>
            <a:off x="4486689" y="3639311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7" name="driver_1_evidence_3_text">
            <a:extLst>
              <a:ext uri="{FF2B5EF4-FFF2-40B4-BE49-F238E27FC236}">
                <a16:creationId xmlns:a16="http://schemas.microsoft.com/office/drawing/2014/main" id="{1EE59A22-00E5-EB52-220B-8EC12674570C}"/>
              </a:ext>
            </a:extLst>
          </p:cNvPr>
          <p:cNvSpPr/>
          <p:nvPr/>
        </p:nvSpPr>
        <p:spPr>
          <a:xfrm>
            <a:off x="4718304" y="3621023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issue management and remediation</a:t>
            </a:r>
            <a:endParaRPr lang="en-US" sz="12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0C7DDB80-063B-E0BB-E526-CC44F3DB7D00}"/>
              </a:ext>
            </a:extLst>
          </p:cNvPr>
          <p:cNvSpPr/>
          <p:nvPr/>
        </p:nvSpPr>
        <p:spPr>
          <a:xfrm>
            <a:off x="4507992" y="39319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440" dirty="0"/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6E02B65B-B746-EEF6-7D7D-5E36475AA68C}"/>
              </a:ext>
            </a:extLst>
          </p:cNvPr>
          <p:cNvSpPr/>
          <p:nvPr/>
        </p:nvSpPr>
        <p:spPr>
          <a:xfrm>
            <a:off x="4498848" y="4275523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driver_1_impact_1_text">
            <a:extLst>
              <a:ext uri="{FF2B5EF4-FFF2-40B4-BE49-F238E27FC236}">
                <a16:creationId xmlns:a16="http://schemas.microsoft.com/office/drawing/2014/main" id="{78F0A7BE-2184-2824-1D88-125BA34E6693}"/>
              </a:ext>
            </a:extLst>
          </p:cNvPr>
          <p:cNvSpPr/>
          <p:nvPr/>
        </p:nvSpPr>
        <p:spPr>
          <a:xfrm>
            <a:off x="4718304" y="4225683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Elevated risk of non-compliance </a:t>
            </a:r>
            <a:endParaRPr lang="en-US" sz="1200" dirty="0"/>
          </a:p>
        </p:txBody>
      </p:sp>
      <p:sp>
        <p:nvSpPr>
          <p:cNvPr id="81" name="Text 19">
            <a:extLst>
              <a:ext uri="{FF2B5EF4-FFF2-40B4-BE49-F238E27FC236}">
                <a16:creationId xmlns:a16="http://schemas.microsoft.com/office/drawing/2014/main" id="{9CA3FD6F-EBAC-F1DF-CFFA-045344E967B4}"/>
              </a:ext>
            </a:extLst>
          </p:cNvPr>
          <p:cNvSpPr/>
          <p:nvPr/>
        </p:nvSpPr>
        <p:spPr>
          <a:xfrm>
            <a:off x="4486689" y="456742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2" name="driver_1_impact_2_text">
            <a:extLst>
              <a:ext uri="{FF2B5EF4-FFF2-40B4-BE49-F238E27FC236}">
                <a16:creationId xmlns:a16="http://schemas.microsoft.com/office/drawing/2014/main" id="{1EA6E78E-4381-231F-D2F1-58C98C39C1AC}"/>
              </a:ext>
            </a:extLst>
          </p:cNvPr>
          <p:cNvSpPr/>
          <p:nvPr/>
        </p:nvSpPr>
        <p:spPr>
          <a:xfrm>
            <a:off x="4718304" y="452909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audit findings and remediation cost</a:t>
            </a:r>
            <a:endParaRPr lang="en-US" sz="1200" dirty="0"/>
          </a:p>
        </p:txBody>
      </p:sp>
      <p:sp>
        <p:nvSpPr>
          <p:cNvPr id="83" name="Shape 3">
            <a:extLst>
              <a:ext uri="{FF2B5EF4-FFF2-40B4-BE49-F238E27FC236}">
                <a16:creationId xmlns:a16="http://schemas.microsoft.com/office/drawing/2014/main" id="{95290E22-FD8D-92A0-4629-7996E7214DDB}"/>
              </a:ext>
            </a:extLst>
          </p:cNvPr>
          <p:cNvSpPr/>
          <p:nvPr/>
        </p:nvSpPr>
        <p:spPr>
          <a:xfrm>
            <a:off x="8238744" y="1184148"/>
            <a:ext cx="3703320" cy="384048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B8C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4">
            <a:extLst>
              <a:ext uri="{FF2B5EF4-FFF2-40B4-BE49-F238E27FC236}">
                <a16:creationId xmlns:a16="http://schemas.microsoft.com/office/drawing/2014/main" id="{B36BB4D0-2601-1B8C-8175-ED5AFD422E16}"/>
              </a:ext>
            </a:extLst>
          </p:cNvPr>
          <p:cNvSpPr/>
          <p:nvPr/>
        </p:nvSpPr>
        <p:spPr>
          <a:xfrm>
            <a:off x="9779508" y="1001268"/>
            <a:ext cx="621792" cy="347472"/>
          </a:xfrm>
          <a:prstGeom prst="rect">
            <a:avLst/>
          </a:prstGeom>
          <a:solidFill>
            <a:srgbClr val="0067E8"/>
          </a:solidFill>
          <a:ln w="12700">
            <a:solidFill>
              <a:srgbClr val="006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5">
            <a:extLst>
              <a:ext uri="{FF2B5EF4-FFF2-40B4-BE49-F238E27FC236}">
                <a16:creationId xmlns:a16="http://schemas.microsoft.com/office/drawing/2014/main" id="{3239A08B-1454-A64F-68A7-2B3FAF9C1BDA}"/>
              </a:ext>
            </a:extLst>
          </p:cNvPr>
          <p:cNvSpPr/>
          <p:nvPr/>
        </p:nvSpPr>
        <p:spPr>
          <a:xfrm>
            <a:off x="9880092" y="107442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86" name="driver_1_title_text">
            <a:extLst>
              <a:ext uri="{FF2B5EF4-FFF2-40B4-BE49-F238E27FC236}">
                <a16:creationId xmlns:a16="http://schemas.microsoft.com/office/drawing/2014/main" id="{D64DE5EC-2986-743B-FC07-6F5C09906C74}"/>
              </a:ext>
            </a:extLst>
          </p:cNvPr>
          <p:cNvSpPr/>
          <p:nvPr/>
        </p:nvSpPr>
        <p:spPr>
          <a:xfrm>
            <a:off x="8513064" y="15681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readiness at risk</a:t>
            </a:r>
            <a:endParaRPr lang="en-US" dirty="0"/>
          </a:p>
        </p:txBody>
      </p:sp>
      <p:sp>
        <p:nvSpPr>
          <p:cNvPr id="87" name="driver_1_summary_text">
            <a:extLst>
              <a:ext uri="{FF2B5EF4-FFF2-40B4-BE49-F238E27FC236}">
                <a16:creationId xmlns:a16="http://schemas.microsoft.com/office/drawing/2014/main" id="{4B499216-86C8-1593-366E-0546DAE55DBF}"/>
              </a:ext>
            </a:extLst>
          </p:cNvPr>
          <p:cNvSpPr/>
          <p:nvPr/>
        </p:nvSpPr>
        <p:spPr>
          <a:xfrm>
            <a:off x="8494776" y="1933956"/>
            <a:ext cx="319125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ways of working limit agility and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 the ability to scale for growth.</a:t>
            </a:r>
            <a:endParaRPr lang="en-US" sz="1300" dirty="0"/>
          </a:p>
        </p:txBody>
      </p:sp>
      <p:sp>
        <p:nvSpPr>
          <p:cNvPr id="88" name="Shape 8">
            <a:extLst>
              <a:ext uri="{FF2B5EF4-FFF2-40B4-BE49-F238E27FC236}">
                <a16:creationId xmlns:a16="http://schemas.microsoft.com/office/drawing/2014/main" id="{47381245-459F-2DA0-680E-2D30D918C4F9}"/>
              </a:ext>
            </a:extLst>
          </p:cNvPr>
          <p:cNvSpPr/>
          <p:nvPr/>
        </p:nvSpPr>
        <p:spPr>
          <a:xfrm>
            <a:off x="8439912" y="2619756"/>
            <a:ext cx="3300984" cy="0"/>
          </a:xfrm>
          <a:prstGeom prst="line">
            <a:avLst/>
          </a:prstGeom>
          <a:noFill/>
          <a:ln w="10160">
            <a:solidFill>
              <a:srgbClr val="70B7FA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89" name="Text 9">
            <a:extLst>
              <a:ext uri="{FF2B5EF4-FFF2-40B4-BE49-F238E27FC236}">
                <a16:creationId xmlns:a16="http://schemas.microsoft.com/office/drawing/2014/main" id="{C20715BD-E22F-A5E7-D92E-7FB9EE1A3B4B}"/>
              </a:ext>
            </a:extLst>
          </p:cNvPr>
          <p:cNvSpPr/>
          <p:nvPr/>
        </p:nvSpPr>
        <p:spPr>
          <a:xfrm>
            <a:off x="8467344" y="273867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440" dirty="0"/>
          </a:p>
        </p:txBody>
      </p:sp>
      <p:sp>
        <p:nvSpPr>
          <p:cNvPr id="90" name="Text 10">
            <a:extLst>
              <a:ext uri="{FF2B5EF4-FFF2-40B4-BE49-F238E27FC236}">
                <a16:creationId xmlns:a16="http://schemas.microsoft.com/office/drawing/2014/main" id="{46259CCC-54B1-4994-4A4E-20F4C502E5BC}"/>
              </a:ext>
            </a:extLst>
          </p:cNvPr>
          <p:cNvSpPr/>
          <p:nvPr/>
        </p:nvSpPr>
        <p:spPr>
          <a:xfrm>
            <a:off x="8458200" y="308951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91" name="driver_1_evidence_1_text">
            <a:extLst>
              <a:ext uri="{FF2B5EF4-FFF2-40B4-BE49-F238E27FC236}">
                <a16:creationId xmlns:a16="http://schemas.microsoft.com/office/drawing/2014/main" id="{1D34E117-228A-7BE3-BE38-CA0E2596619A}"/>
              </a:ext>
            </a:extLst>
          </p:cNvPr>
          <p:cNvSpPr/>
          <p:nvPr/>
        </p:nvSpPr>
        <p:spPr>
          <a:xfrm>
            <a:off x="8677656" y="30529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systems and data limit scalability</a:t>
            </a:r>
            <a:endParaRPr lang="en-US" sz="1200" dirty="0"/>
          </a:p>
        </p:txBody>
      </p:sp>
      <p:sp>
        <p:nvSpPr>
          <p:cNvPr id="92" name="Text 12">
            <a:extLst>
              <a:ext uri="{FF2B5EF4-FFF2-40B4-BE49-F238E27FC236}">
                <a16:creationId xmlns:a16="http://schemas.microsoft.com/office/drawing/2014/main" id="{D31F2B5E-8957-9D83-ABE4-8C0D0F90430F}"/>
              </a:ext>
            </a:extLst>
          </p:cNvPr>
          <p:cNvSpPr/>
          <p:nvPr/>
        </p:nvSpPr>
        <p:spPr>
          <a:xfrm>
            <a:off x="8458200" y="336564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93" name="driver_1_evidence_2_text">
            <a:extLst>
              <a:ext uri="{FF2B5EF4-FFF2-40B4-BE49-F238E27FC236}">
                <a16:creationId xmlns:a16="http://schemas.microsoft.com/office/drawing/2014/main" id="{4F52805B-FB2E-A46A-359B-7479A95CF2A9}"/>
              </a:ext>
            </a:extLst>
          </p:cNvPr>
          <p:cNvSpPr/>
          <p:nvPr/>
        </p:nvSpPr>
        <p:spPr>
          <a:xfrm>
            <a:off x="8677656" y="33272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ways of working hinder collaboration</a:t>
            </a:r>
            <a:endParaRPr lang="en-US" sz="1200" dirty="0"/>
          </a:p>
        </p:txBody>
      </p:sp>
      <p:sp>
        <p:nvSpPr>
          <p:cNvPr id="94" name="Text 14">
            <a:extLst>
              <a:ext uri="{FF2B5EF4-FFF2-40B4-BE49-F238E27FC236}">
                <a16:creationId xmlns:a16="http://schemas.microsoft.com/office/drawing/2014/main" id="{86E888BB-ECB6-AC36-71BF-57FE88BDF123}"/>
              </a:ext>
            </a:extLst>
          </p:cNvPr>
          <p:cNvSpPr/>
          <p:nvPr/>
        </p:nvSpPr>
        <p:spPr>
          <a:xfrm>
            <a:off x="8446041" y="3639311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95" name="driver_1_evidence_3_text">
            <a:extLst>
              <a:ext uri="{FF2B5EF4-FFF2-40B4-BE49-F238E27FC236}">
                <a16:creationId xmlns:a16="http://schemas.microsoft.com/office/drawing/2014/main" id="{7BEB0CA4-AB9C-A64E-3AB9-F6B1DD466966}"/>
              </a:ext>
            </a:extLst>
          </p:cNvPr>
          <p:cNvSpPr/>
          <p:nvPr/>
        </p:nvSpPr>
        <p:spPr>
          <a:xfrm>
            <a:off x="8677656" y="3621023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skill and capability in emerging areas</a:t>
            </a:r>
            <a:endParaRPr lang="en-US" sz="1200" dirty="0"/>
          </a:p>
        </p:txBody>
      </p:sp>
      <p:sp>
        <p:nvSpPr>
          <p:cNvPr id="96" name="Text 16">
            <a:extLst>
              <a:ext uri="{FF2B5EF4-FFF2-40B4-BE49-F238E27FC236}">
                <a16:creationId xmlns:a16="http://schemas.microsoft.com/office/drawing/2014/main" id="{2914FA9B-D4EE-FE6C-07F6-A3061B6BA3A0}"/>
              </a:ext>
            </a:extLst>
          </p:cNvPr>
          <p:cNvSpPr/>
          <p:nvPr/>
        </p:nvSpPr>
        <p:spPr>
          <a:xfrm>
            <a:off x="8467344" y="39319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440" dirty="0"/>
          </a:p>
        </p:txBody>
      </p:sp>
      <p:sp>
        <p:nvSpPr>
          <p:cNvPr id="97" name="Text 17">
            <a:extLst>
              <a:ext uri="{FF2B5EF4-FFF2-40B4-BE49-F238E27FC236}">
                <a16:creationId xmlns:a16="http://schemas.microsoft.com/office/drawing/2014/main" id="{98A865AA-D0CD-CBF3-CDAD-AFE2CAFC978F}"/>
              </a:ext>
            </a:extLst>
          </p:cNvPr>
          <p:cNvSpPr/>
          <p:nvPr/>
        </p:nvSpPr>
        <p:spPr>
          <a:xfrm>
            <a:off x="8458200" y="4275523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98" name="driver_1_impact_1_text">
            <a:extLst>
              <a:ext uri="{FF2B5EF4-FFF2-40B4-BE49-F238E27FC236}">
                <a16:creationId xmlns:a16="http://schemas.microsoft.com/office/drawing/2014/main" id="{04AB8FD3-7DEE-A54E-2AB8-2BDA1FD3FEC1}"/>
              </a:ext>
            </a:extLst>
          </p:cNvPr>
          <p:cNvSpPr/>
          <p:nvPr/>
        </p:nvSpPr>
        <p:spPr>
          <a:xfrm>
            <a:off x="8677656" y="4225683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scaling to meet future demand</a:t>
            </a:r>
            <a:endParaRPr lang="en-US" sz="1200" dirty="0"/>
          </a:p>
        </p:txBody>
      </p:sp>
      <p:sp>
        <p:nvSpPr>
          <p:cNvPr id="99" name="Text 19">
            <a:extLst>
              <a:ext uri="{FF2B5EF4-FFF2-40B4-BE49-F238E27FC236}">
                <a16:creationId xmlns:a16="http://schemas.microsoft.com/office/drawing/2014/main" id="{90F39270-7D5C-ADB0-6C0C-56CB1B49869B}"/>
              </a:ext>
            </a:extLst>
          </p:cNvPr>
          <p:cNvSpPr/>
          <p:nvPr/>
        </p:nvSpPr>
        <p:spPr>
          <a:xfrm>
            <a:off x="8446041" y="456742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00" name="driver_1_impact_2_text">
            <a:extLst>
              <a:ext uri="{FF2B5EF4-FFF2-40B4-BE49-F238E27FC236}">
                <a16:creationId xmlns:a16="http://schemas.microsoft.com/office/drawing/2014/main" id="{9396EEA5-4EC6-C777-229A-953A314CD4FE}"/>
              </a:ext>
            </a:extLst>
          </p:cNvPr>
          <p:cNvSpPr/>
          <p:nvPr/>
        </p:nvSpPr>
        <p:spPr>
          <a:xfrm>
            <a:off x="8677656" y="452909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opportunities to innovate and grow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20</TotalTime>
  <Words>197</Words>
  <Application>Microsoft Macintosh PowerPoint</Application>
  <PresentationFormat>Widescreen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for change</dc:title>
  <dc:subject>Editable case for change slide</dc:subject>
  <dc:creator>OpenAI</dc:creator>
  <cp:lastModifiedBy>Madhav Kapoor</cp:lastModifiedBy>
  <cp:revision>7</cp:revision>
  <dcterms:created xsi:type="dcterms:W3CDTF">2026-07-15T14:34:14Z</dcterms:created>
  <dcterms:modified xsi:type="dcterms:W3CDTF">2026-07-21T07:25:28Z</dcterms:modified>
</cp:coreProperties>
</file>