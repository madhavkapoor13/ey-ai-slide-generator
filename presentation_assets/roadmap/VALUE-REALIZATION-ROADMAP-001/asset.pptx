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7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2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4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9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1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44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7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4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8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0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4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ext"/>
          <p:cNvSpPr txBox="1"/>
          <p:nvPr/>
        </p:nvSpPr>
        <p:spPr>
          <a:xfrm>
            <a:off x="460971" y="250259"/>
            <a:ext cx="9395409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Value Realization Roadmap</a:t>
            </a:r>
          </a:p>
        </p:txBody>
      </p:sp>
      <p:sp>
        <p:nvSpPr>
          <p:cNvPr id="4" name="subtitle_text"/>
          <p:cNvSpPr txBox="1"/>
          <p:nvPr/>
        </p:nvSpPr>
        <p:spPr>
          <a:xfrm>
            <a:off x="456399" y="606876"/>
            <a:ext cx="8231657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0047BA"/>
                </a:solidFill>
                <a:latin typeface="Arial"/>
              </a:rPr>
              <a:t>Clear benefit capture plan with measurable outcomes across three time horizons.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79" y="886239"/>
            <a:ext cx="1884134" cy="566928"/>
          </a:xfrm>
          <a:prstGeom prst="rect">
            <a:avLst/>
          </a:prstGeom>
          <a:solidFill>
            <a:srgbClr val="001F4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510" y="1005111"/>
            <a:ext cx="1792672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BENEFIT POOL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914" y="886239"/>
            <a:ext cx="2853641" cy="566928"/>
          </a:xfrm>
          <a:prstGeom prst="rect">
            <a:avLst/>
          </a:prstGeom>
          <a:solidFill>
            <a:srgbClr val="00338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645" y="1005111"/>
            <a:ext cx="2762178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FOUNDATION
0–6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1555" y="886239"/>
            <a:ext cx="2743885" cy="566928"/>
          </a:xfrm>
          <a:prstGeom prst="rect">
            <a:avLst/>
          </a:prstGeom>
          <a:solidFill>
            <a:srgbClr val="0B5BE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57286" y="1005111"/>
            <a:ext cx="2652422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ACCELERATE
6–12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55441" y="886239"/>
            <a:ext cx="2707300" cy="566928"/>
          </a:xfrm>
          <a:prstGeom prst="rect">
            <a:avLst/>
          </a:prstGeom>
          <a:solidFill>
            <a:srgbClr val="5EA0F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1172" y="1005111"/>
            <a:ext cx="2615837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SCALE
12–24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62741" y="886239"/>
            <a:ext cx="1646331" cy="566928"/>
          </a:xfrm>
          <a:prstGeom prst="rect">
            <a:avLst/>
          </a:prstGeom>
          <a:solidFill>
            <a:srgbClr val="001F4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08473" y="1005111"/>
            <a:ext cx="1554868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BENEFIT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79" y="1453167"/>
            <a:ext cx="1884134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7914" y="1453167"/>
            <a:ext cx="285364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11555" y="1453167"/>
            <a:ext cx="2743885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55441" y="1453167"/>
            <a:ext cx="2707300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362741" y="1453167"/>
            <a:ext cx="164633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enefit_1_pool_text"/>
          <p:cNvSpPr txBox="1"/>
          <p:nvPr/>
        </p:nvSpPr>
        <p:spPr>
          <a:xfrm>
            <a:off x="320120" y="1617758"/>
            <a:ext cx="1609746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Cost efficiency</a:t>
            </a:r>
          </a:p>
        </p:txBody>
      </p:sp>
      <p:sp>
        <p:nvSpPr>
          <p:cNvPr id="21" name="benefit_1_description_text"/>
          <p:cNvSpPr txBox="1"/>
          <p:nvPr/>
        </p:nvSpPr>
        <p:spPr>
          <a:xfrm>
            <a:off x="320120" y="1892079"/>
            <a:ext cx="1609746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Reduce operating cost
and drive productivity.</a:t>
            </a:r>
          </a:p>
        </p:txBody>
      </p:sp>
      <p:sp>
        <p:nvSpPr>
          <p:cNvPr id="22" name="benefit_1_foundation_text"/>
          <p:cNvSpPr txBox="1"/>
          <p:nvPr/>
        </p:nvSpPr>
        <p:spPr>
          <a:xfrm>
            <a:off x="2167669" y="1508031"/>
            <a:ext cx="2624984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Quick wins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Eliminate duplicate activities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Reduce manual effort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Capture early savings</a:t>
            </a:r>
          </a:p>
        </p:txBody>
      </p:sp>
      <p:sp>
        <p:nvSpPr>
          <p:cNvPr id="23" name="benefit_1_accelerate_text"/>
          <p:cNvSpPr txBox="1"/>
          <p:nvPr/>
        </p:nvSpPr>
        <p:spPr>
          <a:xfrm>
            <a:off x="5021310" y="1508031"/>
            <a:ext cx="2515228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Process automation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Automate standard processes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Reduce cycle time and rework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Drive productivity improvement</a:t>
            </a:r>
          </a:p>
        </p:txBody>
      </p:sp>
      <p:sp>
        <p:nvSpPr>
          <p:cNvPr id="24" name="benefit_1_scale_text"/>
          <p:cNvSpPr txBox="1"/>
          <p:nvPr/>
        </p:nvSpPr>
        <p:spPr>
          <a:xfrm>
            <a:off x="7765196" y="1508031"/>
            <a:ext cx="2478643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Structural savings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End-to-end process redesign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Optimize resource mix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Deliver sustainable cost out</a:t>
            </a:r>
          </a:p>
        </p:txBody>
      </p:sp>
      <p:sp>
        <p:nvSpPr>
          <p:cNvPr id="25" name="benefit_1_owner_text"/>
          <p:cNvSpPr txBox="1"/>
          <p:nvPr/>
        </p:nvSpPr>
        <p:spPr>
          <a:xfrm>
            <a:off x="10454204" y="1754919"/>
            <a:ext cx="14634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Arial"/>
              </a:rPr>
              <a:t>Operations
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79" y="2422431"/>
            <a:ext cx="1884134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57914" y="2422431"/>
            <a:ext cx="285364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11555" y="2422431"/>
            <a:ext cx="2743885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655441" y="2422431"/>
            <a:ext cx="2707300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362741" y="2422431"/>
            <a:ext cx="164633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enefit_2_pool_text"/>
          <p:cNvSpPr txBox="1"/>
          <p:nvPr/>
        </p:nvSpPr>
        <p:spPr>
          <a:xfrm>
            <a:off x="320120" y="2587023"/>
            <a:ext cx="1609746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Working capital</a:t>
            </a:r>
          </a:p>
        </p:txBody>
      </p:sp>
      <p:sp>
        <p:nvSpPr>
          <p:cNvPr id="32" name="benefit_2_description_text"/>
          <p:cNvSpPr txBox="1"/>
          <p:nvPr/>
        </p:nvSpPr>
        <p:spPr>
          <a:xfrm>
            <a:off x="320120" y="2861343"/>
            <a:ext cx="1609746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Improve cash flow and
optimize inventory.</a:t>
            </a:r>
          </a:p>
        </p:txBody>
      </p:sp>
      <p:sp>
        <p:nvSpPr>
          <p:cNvPr id="33" name="benefit_2_foundation_text"/>
          <p:cNvSpPr txBox="1"/>
          <p:nvPr/>
        </p:nvSpPr>
        <p:spPr>
          <a:xfrm>
            <a:off x="2167669" y="2477295"/>
            <a:ext cx="2624984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Baseline visibility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Establish KPI baseline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Improve data accuracy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Increase aging visibility</a:t>
            </a:r>
          </a:p>
        </p:txBody>
      </p:sp>
      <p:sp>
        <p:nvSpPr>
          <p:cNvPr id="34" name="benefit_2_accelerate_text"/>
          <p:cNvSpPr txBox="1"/>
          <p:nvPr/>
        </p:nvSpPr>
        <p:spPr>
          <a:xfrm>
            <a:off x="5021310" y="2477295"/>
            <a:ext cx="2515228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Policy improvement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Standardize policies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Improve approval thresholds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Reduce exception durations</a:t>
            </a:r>
          </a:p>
        </p:txBody>
      </p:sp>
      <p:sp>
        <p:nvSpPr>
          <p:cNvPr id="35" name="benefit_2_scale_text"/>
          <p:cNvSpPr txBox="1"/>
          <p:nvPr/>
        </p:nvSpPr>
        <p:spPr>
          <a:xfrm>
            <a:off x="7765196" y="2477295"/>
            <a:ext cx="2478643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Inventory optimization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Demand-driven planning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Optimize inventory levels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Improve cash conversion cycle</a:t>
            </a:r>
          </a:p>
        </p:txBody>
      </p:sp>
      <p:sp>
        <p:nvSpPr>
          <p:cNvPr id="36" name="benefit_2_owner_text"/>
          <p:cNvSpPr txBox="1"/>
          <p:nvPr/>
        </p:nvSpPr>
        <p:spPr>
          <a:xfrm>
            <a:off x="10454204" y="2724183"/>
            <a:ext cx="14634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Arial"/>
              </a:rPr>
              <a:t>Finance
Lead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79" y="3391695"/>
            <a:ext cx="1884134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057914" y="3391695"/>
            <a:ext cx="285364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911555" y="3391695"/>
            <a:ext cx="2743885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55441" y="3391695"/>
            <a:ext cx="2707300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362741" y="3391695"/>
            <a:ext cx="164633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enefit_3_pool_text"/>
          <p:cNvSpPr txBox="1"/>
          <p:nvPr/>
        </p:nvSpPr>
        <p:spPr>
          <a:xfrm>
            <a:off x="320120" y="3556287"/>
            <a:ext cx="1609746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Customer experience</a:t>
            </a:r>
          </a:p>
        </p:txBody>
      </p:sp>
      <p:sp>
        <p:nvSpPr>
          <p:cNvPr id="43" name="benefit_3_description_text"/>
          <p:cNvSpPr txBox="1"/>
          <p:nvPr/>
        </p:nvSpPr>
        <p:spPr>
          <a:xfrm>
            <a:off x="320120" y="3830606"/>
            <a:ext cx="1609746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Enhance service quality
and responsiveness.</a:t>
            </a:r>
          </a:p>
        </p:txBody>
      </p:sp>
      <p:sp>
        <p:nvSpPr>
          <p:cNvPr id="44" name="benefit_3_foundation_text"/>
          <p:cNvSpPr txBox="1"/>
          <p:nvPr/>
        </p:nvSpPr>
        <p:spPr>
          <a:xfrm>
            <a:off x="2167669" y="3446559"/>
            <a:ext cx="2624984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Service stabilization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Resolve key pain points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Improve service consistency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Strengthen SLA performance</a:t>
            </a:r>
          </a:p>
        </p:txBody>
      </p:sp>
      <p:sp>
        <p:nvSpPr>
          <p:cNvPr id="45" name="benefit_3_accelerate_text"/>
          <p:cNvSpPr txBox="1"/>
          <p:nvPr/>
        </p:nvSpPr>
        <p:spPr>
          <a:xfrm>
            <a:off x="5021310" y="3446559"/>
            <a:ext cx="2515228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Faster resolution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Automate case handling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Reduce resolution time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Improve first-time resolution</a:t>
            </a:r>
          </a:p>
        </p:txBody>
      </p:sp>
      <p:sp>
        <p:nvSpPr>
          <p:cNvPr id="46" name="benefit_3_scale_text"/>
          <p:cNvSpPr txBox="1"/>
          <p:nvPr/>
        </p:nvSpPr>
        <p:spPr>
          <a:xfrm>
            <a:off x="7765196" y="3446559"/>
            <a:ext cx="2478643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Predictive service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Predict customer needs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Proactive outreach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Improve customer satisfaction</a:t>
            </a:r>
          </a:p>
        </p:txBody>
      </p:sp>
      <p:sp>
        <p:nvSpPr>
          <p:cNvPr id="47" name="benefit_3_owner_text"/>
          <p:cNvSpPr txBox="1"/>
          <p:nvPr/>
        </p:nvSpPr>
        <p:spPr>
          <a:xfrm>
            <a:off x="10454204" y="3693447"/>
            <a:ext cx="14634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Arial"/>
              </a:rPr>
              <a:t>Customer
Experience Lead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779" y="4360959"/>
            <a:ext cx="1884134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057914" y="4360959"/>
            <a:ext cx="285364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911555" y="4360959"/>
            <a:ext cx="2743885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655441" y="4360959"/>
            <a:ext cx="2707300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362741" y="4360959"/>
            <a:ext cx="1646331" cy="969264"/>
          </a:xfrm>
          <a:prstGeom prst="rect">
            <a:avLst/>
          </a:prstGeom>
          <a:solidFill>
            <a:srgbClr val="F4F8F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benefit_4_pool_text"/>
          <p:cNvSpPr txBox="1"/>
          <p:nvPr/>
        </p:nvSpPr>
        <p:spPr>
          <a:xfrm>
            <a:off x="320120" y="4525550"/>
            <a:ext cx="1609746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Risk and control</a:t>
            </a:r>
          </a:p>
        </p:txBody>
      </p:sp>
      <p:sp>
        <p:nvSpPr>
          <p:cNvPr id="54" name="benefit_4_description_text"/>
          <p:cNvSpPr txBox="1"/>
          <p:nvPr/>
        </p:nvSpPr>
        <p:spPr>
          <a:xfrm>
            <a:off x="320120" y="4799871"/>
            <a:ext cx="1609746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Arial"/>
              </a:rPr>
              <a:t>Strengthen controls and
ensure compliance.</a:t>
            </a:r>
          </a:p>
        </p:txBody>
      </p:sp>
      <p:sp>
        <p:nvSpPr>
          <p:cNvPr id="55" name="benefit_4_foundation_text"/>
          <p:cNvSpPr txBox="1"/>
          <p:nvPr/>
        </p:nvSpPr>
        <p:spPr>
          <a:xfrm>
            <a:off x="2167669" y="4415822"/>
            <a:ext cx="2624984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Control remediation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Address critical control gaps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Prioritize high-risk areas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Ensure compliance basics</a:t>
            </a:r>
          </a:p>
        </p:txBody>
      </p:sp>
      <p:sp>
        <p:nvSpPr>
          <p:cNvPr id="56" name="benefit_4_accelerate_text"/>
          <p:cNvSpPr txBox="1"/>
          <p:nvPr/>
        </p:nvSpPr>
        <p:spPr>
          <a:xfrm>
            <a:off x="5021310" y="4415822"/>
            <a:ext cx="2515228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Embedded monitoring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Implement control automation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Real-time alerts and monitoring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Reduce manual risk reviews</a:t>
            </a:r>
          </a:p>
        </p:txBody>
      </p:sp>
      <p:sp>
        <p:nvSpPr>
          <p:cNvPr id="57" name="benefit_4_scale_text"/>
          <p:cNvSpPr txBox="1"/>
          <p:nvPr/>
        </p:nvSpPr>
        <p:spPr>
          <a:xfrm>
            <a:off x="7765196" y="4415822"/>
            <a:ext cx="2478643" cy="877824"/>
          </a:xfrm>
          <a:prstGeom prst="rect">
            <a:avLst/>
          </a:prstGeom>
          <a:noFill/>
        </p:spPr>
        <p:txBody>
          <a:bodyPr wrap="square" lIns="109728" tIns="73152" rIns="73152" bIns="27432">
            <a:spAutoFit/>
          </a:bodyPr>
          <a:lstStyle/>
          <a:p>
            <a:r>
              <a:rPr sz="1150" b="1">
                <a:solidFill>
                  <a:srgbClr val="0047BA"/>
                </a:solidFill>
                <a:latin typeface="Arial"/>
              </a:rPr>
              <a:t>Continuous assurance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Continuous control monitoring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Predict and prevent risk</a:t>
            </a:r>
          </a:p>
          <a:p>
            <a:pPr>
              <a:spcAft>
                <a:spcPts val="100"/>
              </a:spcAft>
              <a:defRPr sz="1050">
                <a:solidFill>
                  <a:srgbClr val="000000"/>
                </a:solidFill>
                <a:latin typeface="Arial"/>
              </a:defRPr>
            </a:pPr>
            <a:r>
              <a:t>•  Independent assurance at scale</a:t>
            </a:r>
          </a:p>
        </p:txBody>
      </p:sp>
      <p:sp>
        <p:nvSpPr>
          <p:cNvPr id="58" name="benefit_4_owner_text"/>
          <p:cNvSpPr txBox="1"/>
          <p:nvPr/>
        </p:nvSpPr>
        <p:spPr>
          <a:xfrm>
            <a:off x="10454204" y="4662711"/>
            <a:ext cx="14634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50" b="0">
                <a:solidFill>
                  <a:srgbClr val="000000"/>
                </a:solidFill>
                <a:latin typeface="Arial"/>
              </a:rPr>
              <a:t>Risk &amp; Compliance
Lead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9509" y="5558821"/>
            <a:ext cx="1838403" cy="822960"/>
          </a:xfrm>
          <a:prstGeom prst="rect">
            <a:avLst/>
          </a:prstGeom>
          <a:solidFill>
            <a:srgbClr val="001F4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4144" y="5802339"/>
            <a:ext cx="1853769" cy="381643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CUMULATIVE
BENEFITS REALIZED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914" y="5558821"/>
            <a:ext cx="995115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2057914" y="5567967"/>
            <a:ext cx="9841403" cy="0"/>
          </a:xfrm>
          <a:prstGeom prst="line">
            <a:avLst/>
          </a:prstGeom>
          <a:ln w="12700">
            <a:solidFill>
              <a:srgbClr val="003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234675" y="5517675"/>
            <a:ext cx="100609" cy="100584"/>
          </a:xfrm>
          <a:prstGeom prst="ellipse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milestone_1_value_text"/>
          <p:cNvSpPr txBox="1"/>
          <p:nvPr/>
        </p:nvSpPr>
        <p:spPr>
          <a:xfrm>
            <a:off x="2964859" y="5650263"/>
            <a:ext cx="64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0338D"/>
                </a:solidFill>
                <a:latin typeface="Arial"/>
              </a:rPr>
              <a:t>10%</a:t>
            </a:r>
          </a:p>
        </p:txBody>
      </p:sp>
      <p:sp>
        <p:nvSpPr>
          <p:cNvPr id="65" name="milestone_1_description_text"/>
          <p:cNvSpPr txBox="1"/>
          <p:nvPr/>
        </p:nvSpPr>
        <p:spPr>
          <a:xfrm>
            <a:off x="2324619" y="5952015"/>
            <a:ext cx="19207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Initial benefits captured
from quick wins</a:t>
            </a:r>
          </a:p>
        </p:txBody>
      </p:sp>
      <p:sp>
        <p:nvSpPr>
          <p:cNvPr id="66" name="Oval 65"/>
          <p:cNvSpPr/>
          <p:nvPr/>
        </p:nvSpPr>
        <p:spPr>
          <a:xfrm>
            <a:off x="6095999" y="5517675"/>
            <a:ext cx="100609" cy="100584"/>
          </a:xfrm>
          <a:prstGeom prst="ellipse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ilestone_2_value_text"/>
          <p:cNvSpPr txBox="1"/>
          <p:nvPr/>
        </p:nvSpPr>
        <p:spPr>
          <a:xfrm>
            <a:off x="5826184" y="5650263"/>
            <a:ext cx="64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0338D"/>
                </a:solidFill>
                <a:latin typeface="Arial"/>
              </a:rPr>
              <a:t>45%</a:t>
            </a:r>
          </a:p>
        </p:txBody>
      </p:sp>
      <p:sp>
        <p:nvSpPr>
          <p:cNvPr id="68" name="milestone_2_description_text"/>
          <p:cNvSpPr txBox="1"/>
          <p:nvPr/>
        </p:nvSpPr>
        <p:spPr>
          <a:xfrm>
            <a:off x="5185944" y="5952015"/>
            <a:ext cx="19207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Meaningful benefits achieved
through automation and process
improvements</a:t>
            </a:r>
          </a:p>
        </p:txBody>
      </p:sp>
      <p:sp>
        <p:nvSpPr>
          <p:cNvPr id="69" name="Oval 68"/>
          <p:cNvSpPr/>
          <p:nvPr/>
        </p:nvSpPr>
        <p:spPr>
          <a:xfrm>
            <a:off x="8688056" y="5517675"/>
            <a:ext cx="100609" cy="100584"/>
          </a:xfrm>
          <a:prstGeom prst="ellipse">
            <a:avLst/>
          </a:prstGeom>
          <a:solidFill>
            <a:srgbClr val="00338D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milestone_3_value_text"/>
          <p:cNvSpPr txBox="1"/>
          <p:nvPr/>
        </p:nvSpPr>
        <p:spPr>
          <a:xfrm>
            <a:off x="8418240" y="5650263"/>
            <a:ext cx="64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00338D"/>
                </a:solidFill>
                <a:latin typeface="Arial"/>
              </a:rPr>
              <a:t>100%</a:t>
            </a:r>
          </a:p>
        </p:txBody>
      </p:sp>
      <p:sp>
        <p:nvSpPr>
          <p:cNvPr id="71" name="milestone_3_description_text"/>
          <p:cNvSpPr txBox="1"/>
          <p:nvPr/>
        </p:nvSpPr>
        <p:spPr>
          <a:xfrm>
            <a:off x="7778000" y="5952015"/>
            <a:ext cx="19207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Full value realized at scale
with sustained performance
improvement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52377" y="5558821"/>
            <a:ext cx="1856696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otal_value_text"/>
          <p:cNvSpPr txBox="1"/>
          <p:nvPr/>
        </p:nvSpPr>
        <p:spPr>
          <a:xfrm>
            <a:off x="10271278" y="5695983"/>
            <a:ext cx="160060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Total Value
100% by 24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4</TotalTime>
  <Words>306</Words>
  <Application>Microsoft Macintosh PowerPoint</Application>
  <PresentationFormat>Widescreen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3</cp:revision>
  <dcterms:created xsi:type="dcterms:W3CDTF">2013-01-27T09:14:16Z</dcterms:created>
  <dcterms:modified xsi:type="dcterms:W3CDTF">2026-07-21T07:28:07Z</dcterms:modified>
  <cp:category/>
</cp:coreProperties>
</file>