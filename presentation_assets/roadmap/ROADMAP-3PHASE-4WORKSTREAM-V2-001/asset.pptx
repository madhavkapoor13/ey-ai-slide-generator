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08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1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5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69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3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5421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368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9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0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55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ext"/>
          <p:cNvSpPr txBox="1"/>
          <p:nvPr/>
        </p:nvSpPr>
        <p:spPr>
          <a:xfrm>
            <a:off x="489099" y="300842"/>
            <a:ext cx="982448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>
                <a:solidFill>
                  <a:srgbClr val="070C25"/>
                </a:solidFill>
                <a:latin typeface="Arial"/>
              </a:rPr>
              <a:t>Implementation roadmap by workstream</a:t>
            </a:r>
          </a:p>
        </p:txBody>
      </p:sp>
      <p:sp>
        <p:nvSpPr>
          <p:cNvPr id="3" name="subtitle_text"/>
          <p:cNvSpPr txBox="1"/>
          <p:nvPr/>
        </p:nvSpPr>
        <p:spPr>
          <a:xfrm>
            <a:off x="489099" y="628413"/>
            <a:ext cx="1016482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 dirty="0">
                <a:solidFill>
                  <a:schemeClr val="accent1"/>
                </a:solidFill>
                <a:latin typeface="Arial"/>
              </a:rPr>
              <a:t>A three-phase plan sequences priority workstreams from diagnostic through design and scaled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0304" y="997745"/>
            <a:ext cx="533386" cy="472440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6" name="phase_1_title_text"/>
          <p:cNvSpPr txBox="1"/>
          <p:nvPr/>
        </p:nvSpPr>
        <p:spPr>
          <a:xfrm>
            <a:off x="3124186" y="1051085"/>
            <a:ext cx="125726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070C25"/>
                </a:solidFill>
                <a:latin typeface="Arial"/>
              </a:rPr>
              <a:t>Diagnose</a:t>
            </a:r>
          </a:p>
        </p:txBody>
      </p:sp>
      <p:sp>
        <p:nvSpPr>
          <p:cNvPr id="7" name="phase_1_timing_text"/>
          <p:cNvSpPr txBox="1"/>
          <p:nvPr/>
        </p:nvSpPr>
        <p:spPr>
          <a:xfrm>
            <a:off x="3124186" y="1325405"/>
            <a:ext cx="1142971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0066FF"/>
                </a:solidFill>
                <a:latin typeface="Arial"/>
              </a:rPr>
              <a:t>Weeks 1–4</a:t>
            </a:r>
          </a:p>
        </p:txBody>
      </p:sp>
      <p:sp>
        <p:nvSpPr>
          <p:cNvPr id="8" name="Rectangle 7"/>
          <p:cNvSpPr/>
          <p:nvPr/>
        </p:nvSpPr>
        <p:spPr>
          <a:xfrm>
            <a:off x="5562524" y="997745"/>
            <a:ext cx="533386" cy="472440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9" name="phase_2_title_text"/>
          <p:cNvSpPr txBox="1"/>
          <p:nvPr/>
        </p:nvSpPr>
        <p:spPr>
          <a:xfrm>
            <a:off x="6286407" y="1051085"/>
            <a:ext cx="1257269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070C25"/>
                </a:solidFill>
                <a:latin typeface="Arial"/>
              </a:rPr>
              <a:t>Design</a:t>
            </a:r>
          </a:p>
        </p:txBody>
      </p:sp>
      <p:sp>
        <p:nvSpPr>
          <p:cNvPr id="10" name="phase_2_timing_text"/>
          <p:cNvSpPr txBox="1"/>
          <p:nvPr/>
        </p:nvSpPr>
        <p:spPr>
          <a:xfrm>
            <a:off x="6286407" y="1325405"/>
            <a:ext cx="1142971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0066FF"/>
                </a:solidFill>
                <a:latin typeface="Arial"/>
              </a:rPr>
              <a:t>Weeks 5–10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24746" y="997745"/>
            <a:ext cx="533386" cy="472440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2" name="phase_3_title_text"/>
          <p:cNvSpPr txBox="1"/>
          <p:nvPr/>
        </p:nvSpPr>
        <p:spPr>
          <a:xfrm>
            <a:off x="9448629" y="1020605"/>
            <a:ext cx="119631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070C25"/>
                </a:solidFill>
                <a:latin typeface="Arial"/>
              </a:rPr>
              <a:t>Deploy</a:t>
            </a:r>
          </a:p>
        </p:txBody>
      </p:sp>
      <p:sp>
        <p:nvSpPr>
          <p:cNvPr id="13" name="phase_3_timing_text"/>
          <p:cNvSpPr txBox="1"/>
          <p:nvPr/>
        </p:nvSpPr>
        <p:spPr>
          <a:xfrm>
            <a:off x="9448628" y="1325405"/>
            <a:ext cx="1142971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0066FF"/>
                </a:solidFill>
                <a:latin typeface="Arial"/>
              </a:rPr>
              <a:t>Weeks 11–20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53" y="1584485"/>
            <a:ext cx="11201119" cy="0"/>
          </a:xfrm>
          <a:prstGeom prst="line">
            <a:avLst/>
          </a:prstGeom>
          <a:ln w="15240">
            <a:solidFill>
              <a:srgbClr val="00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53" y="1759745"/>
            <a:ext cx="1714457" cy="640080"/>
          </a:xfrm>
          <a:prstGeom prst="rect">
            <a:avLst/>
          </a:prstGeom>
          <a:solidFill>
            <a:srgbClr val="EBF5FF"/>
          </a:solidFill>
          <a:ln w="635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53" y="2552225"/>
            <a:ext cx="1714457" cy="640080"/>
          </a:xfrm>
          <a:prstGeom prst="rect">
            <a:avLst/>
          </a:prstGeom>
          <a:solidFill>
            <a:srgbClr val="EBF5FF"/>
          </a:solidFill>
          <a:ln w="635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53" y="3344704"/>
            <a:ext cx="1714457" cy="640080"/>
          </a:xfrm>
          <a:prstGeom prst="rect">
            <a:avLst/>
          </a:prstGeom>
          <a:solidFill>
            <a:srgbClr val="EBF5FF"/>
          </a:solidFill>
          <a:ln w="635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53" y="4137185"/>
            <a:ext cx="1714457" cy="640080"/>
          </a:xfrm>
          <a:prstGeom prst="rect">
            <a:avLst/>
          </a:prstGeom>
          <a:solidFill>
            <a:srgbClr val="EBF5FF"/>
          </a:solidFill>
          <a:ln w="635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457253" y="1584485"/>
            <a:ext cx="11201119" cy="0"/>
          </a:xfrm>
          <a:prstGeom prst="line">
            <a:avLst/>
          </a:prstGeom>
          <a:ln w="9525">
            <a:solidFill>
              <a:srgbClr val="46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53" y="2384585"/>
            <a:ext cx="11201119" cy="0"/>
          </a:xfrm>
          <a:prstGeom prst="line">
            <a:avLst/>
          </a:prstGeom>
          <a:ln w="9525">
            <a:solidFill>
              <a:srgbClr val="46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53" y="3177065"/>
            <a:ext cx="11201119" cy="0"/>
          </a:xfrm>
          <a:prstGeom prst="line">
            <a:avLst/>
          </a:prstGeom>
          <a:ln w="9525">
            <a:solidFill>
              <a:srgbClr val="46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53" y="3969545"/>
            <a:ext cx="11201119" cy="0"/>
          </a:xfrm>
          <a:prstGeom prst="line">
            <a:avLst/>
          </a:prstGeom>
          <a:ln w="9525">
            <a:solidFill>
              <a:srgbClr val="46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53" y="4762025"/>
            <a:ext cx="11201119" cy="0"/>
          </a:xfrm>
          <a:prstGeom prst="line">
            <a:avLst/>
          </a:prstGeom>
          <a:ln w="9525">
            <a:solidFill>
              <a:srgbClr val="46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171710" y="1584485"/>
            <a:ext cx="0" cy="3177540"/>
          </a:xfrm>
          <a:prstGeom prst="line">
            <a:avLst/>
          </a:prstGeom>
          <a:ln w="7620">
            <a:solidFill>
              <a:srgbClr val="A0D2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10128" y="1584485"/>
            <a:ext cx="0" cy="3177540"/>
          </a:xfrm>
          <a:prstGeom prst="line">
            <a:avLst/>
          </a:prstGeom>
          <a:ln w="7620">
            <a:solidFill>
              <a:srgbClr val="A0D2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350" y="1584485"/>
            <a:ext cx="0" cy="3177540"/>
          </a:xfrm>
          <a:prstGeom prst="line">
            <a:avLst/>
          </a:prstGeom>
          <a:ln w="7620">
            <a:solidFill>
              <a:srgbClr val="A0D2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658373" y="1584485"/>
            <a:ext cx="0" cy="3177540"/>
          </a:xfrm>
          <a:prstGeom prst="line">
            <a:avLst/>
          </a:prstGeom>
          <a:ln w="7620">
            <a:solidFill>
              <a:srgbClr val="A0D2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workstream_1_label_text"/>
          <p:cNvSpPr txBox="1"/>
          <p:nvPr/>
        </p:nvSpPr>
        <p:spPr>
          <a:xfrm>
            <a:off x="603461" y="1835945"/>
            <a:ext cx="1324415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dirty="0">
                <a:solidFill>
                  <a:srgbClr val="070C25"/>
                </a:solidFill>
                <a:latin typeface="Arial"/>
              </a:rPr>
              <a:t>Process
redesign</a:t>
            </a:r>
          </a:p>
        </p:txBody>
      </p:sp>
      <p:sp>
        <p:nvSpPr>
          <p:cNvPr id="30" name="workstream_2_label_text"/>
          <p:cNvSpPr txBox="1"/>
          <p:nvPr/>
        </p:nvSpPr>
        <p:spPr>
          <a:xfrm>
            <a:off x="603461" y="2620806"/>
            <a:ext cx="1324415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dirty="0">
                <a:solidFill>
                  <a:srgbClr val="070C25"/>
                </a:solidFill>
                <a:latin typeface="Arial"/>
              </a:rPr>
              <a:t>Technology
enablement</a:t>
            </a:r>
          </a:p>
        </p:txBody>
      </p:sp>
      <p:sp>
        <p:nvSpPr>
          <p:cNvPr id="31" name="workstream_3_label_text"/>
          <p:cNvSpPr txBox="1"/>
          <p:nvPr/>
        </p:nvSpPr>
        <p:spPr>
          <a:xfrm>
            <a:off x="603461" y="3413286"/>
            <a:ext cx="1324415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dirty="0">
                <a:solidFill>
                  <a:srgbClr val="070C25"/>
                </a:solidFill>
                <a:latin typeface="Arial"/>
              </a:rPr>
              <a:t>Data &amp;
analytics</a:t>
            </a:r>
          </a:p>
        </p:txBody>
      </p:sp>
      <p:sp>
        <p:nvSpPr>
          <p:cNvPr id="32" name="workstream_4_label_text"/>
          <p:cNvSpPr txBox="1"/>
          <p:nvPr/>
        </p:nvSpPr>
        <p:spPr>
          <a:xfrm>
            <a:off x="603461" y="4205766"/>
            <a:ext cx="1324416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dirty="0">
                <a:solidFill>
                  <a:srgbClr val="070C25"/>
                </a:solidFill>
                <a:latin typeface="Arial"/>
              </a:rPr>
              <a:t>Change &amp;
adoption</a:t>
            </a:r>
          </a:p>
        </p:txBody>
      </p:sp>
      <p:sp>
        <p:nvSpPr>
          <p:cNvPr id="33" name="workstream_1_phase_1_activity_text"/>
          <p:cNvSpPr/>
          <p:nvPr/>
        </p:nvSpPr>
        <p:spPr>
          <a:xfrm>
            <a:off x="2438402" y="1630205"/>
            <a:ext cx="2971707" cy="739141"/>
          </a:xfrm>
          <a:prstGeom prst="rightArrow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rial"/>
              </a:rPr>
              <a:t>Assess current-state process
and control gaps</a:t>
            </a:r>
          </a:p>
        </p:txBody>
      </p:sp>
      <p:sp>
        <p:nvSpPr>
          <p:cNvPr id="34" name="workstream_1_phase_2_activity_text"/>
          <p:cNvSpPr/>
          <p:nvPr/>
        </p:nvSpPr>
        <p:spPr>
          <a:xfrm>
            <a:off x="5600622" y="1630205"/>
            <a:ext cx="2971693" cy="739140"/>
          </a:xfrm>
          <a:prstGeom prst="rightArrow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rial"/>
              </a:rPr>
              <a:t>Define future workflows
and governance</a:t>
            </a:r>
          </a:p>
        </p:txBody>
      </p:sp>
      <p:sp>
        <p:nvSpPr>
          <p:cNvPr id="35" name="workstream_1_phase_3_activity_text"/>
          <p:cNvSpPr/>
          <p:nvPr/>
        </p:nvSpPr>
        <p:spPr>
          <a:xfrm>
            <a:off x="8762845" y="1630205"/>
            <a:ext cx="2842188" cy="739140"/>
          </a:xfrm>
          <a:prstGeom prst="rightArrow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rial"/>
              </a:rPr>
              <a:t>Pilot redesigned processes
and scale rollout</a:t>
            </a:r>
          </a:p>
        </p:txBody>
      </p:sp>
      <p:sp>
        <p:nvSpPr>
          <p:cNvPr id="36" name="workstream_2_phase_1_activity_text"/>
          <p:cNvSpPr/>
          <p:nvPr/>
        </p:nvSpPr>
        <p:spPr>
          <a:xfrm>
            <a:off x="2438402" y="2415064"/>
            <a:ext cx="2971705" cy="746761"/>
          </a:xfrm>
          <a:prstGeom prst="rightArrow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rial"/>
              </a:rPr>
              <a:t>Review systems landscape
and pain points</a:t>
            </a:r>
          </a:p>
        </p:txBody>
      </p:sp>
      <p:sp>
        <p:nvSpPr>
          <p:cNvPr id="37" name="workstream_2_phase_2_activity_text"/>
          <p:cNvSpPr/>
          <p:nvPr/>
        </p:nvSpPr>
        <p:spPr>
          <a:xfrm>
            <a:off x="5600622" y="2415064"/>
            <a:ext cx="2971695" cy="746761"/>
          </a:xfrm>
          <a:prstGeom prst="rightArrow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rial"/>
              </a:rPr>
              <a:t>Prioritize automation use cases
and solution design</a:t>
            </a:r>
          </a:p>
        </p:txBody>
      </p:sp>
      <p:sp>
        <p:nvSpPr>
          <p:cNvPr id="38" name="workstream_2_phase_3_activity_text"/>
          <p:cNvSpPr/>
          <p:nvPr/>
        </p:nvSpPr>
        <p:spPr>
          <a:xfrm>
            <a:off x="8762845" y="2376965"/>
            <a:ext cx="2842188" cy="784860"/>
          </a:xfrm>
          <a:prstGeom prst="rightArrow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rial"/>
              </a:rPr>
              <a:t>Configure solutions
and launch releases</a:t>
            </a:r>
          </a:p>
        </p:txBody>
      </p:sp>
      <p:sp>
        <p:nvSpPr>
          <p:cNvPr id="39" name="workstream_3_phase_1_activity_text"/>
          <p:cNvSpPr/>
          <p:nvPr/>
        </p:nvSpPr>
        <p:spPr>
          <a:xfrm>
            <a:off x="2438402" y="3207545"/>
            <a:ext cx="2971704" cy="746760"/>
          </a:xfrm>
          <a:prstGeom prst="rightArrow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rial"/>
              </a:rPr>
              <a:t>Assess data availability
and quality</a:t>
            </a:r>
          </a:p>
        </p:txBody>
      </p:sp>
      <p:sp>
        <p:nvSpPr>
          <p:cNvPr id="40" name="workstream_3_phase_2_activity_text"/>
          <p:cNvSpPr/>
          <p:nvPr/>
        </p:nvSpPr>
        <p:spPr>
          <a:xfrm>
            <a:off x="5600622" y="3184685"/>
            <a:ext cx="2971697" cy="769620"/>
          </a:xfrm>
          <a:prstGeom prst="rightArrow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rial"/>
              </a:rPr>
              <a:t>Define KPI model and
insight requirements</a:t>
            </a:r>
          </a:p>
        </p:txBody>
      </p:sp>
      <p:sp>
        <p:nvSpPr>
          <p:cNvPr id="41" name="workstream_3_phase_3_activity_text"/>
          <p:cNvSpPr/>
          <p:nvPr/>
        </p:nvSpPr>
        <p:spPr>
          <a:xfrm>
            <a:off x="8762845" y="3184685"/>
            <a:ext cx="2842188" cy="769620"/>
          </a:xfrm>
          <a:prstGeom prst="rightArrow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rial"/>
              </a:rPr>
              <a:t>Build dashboards and
embed monitoring</a:t>
            </a:r>
          </a:p>
        </p:txBody>
      </p:sp>
      <p:sp>
        <p:nvSpPr>
          <p:cNvPr id="42" name="workstream_4_phase_1_activity_text"/>
          <p:cNvSpPr/>
          <p:nvPr/>
        </p:nvSpPr>
        <p:spPr>
          <a:xfrm>
            <a:off x="2438402" y="4000025"/>
            <a:ext cx="2971703" cy="746760"/>
          </a:xfrm>
          <a:prstGeom prst="rightArrow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rial"/>
              </a:rPr>
              <a:t>Identify stakeholders
and readiness gaps</a:t>
            </a:r>
          </a:p>
        </p:txBody>
      </p:sp>
      <p:sp>
        <p:nvSpPr>
          <p:cNvPr id="43" name="workstream_4_phase_2_activity_text"/>
          <p:cNvSpPr/>
          <p:nvPr/>
        </p:nvSpPr>
        <p:spPr>
          <a:xfrm>
            <a:off x="5600622" y="4000025"/>
            <a:ext cx="2971699" cy="746760"/>
          </a:xfrm>
          <a:prstGeom prst="rightArrow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rial"/>
              </a:rPr>
              <a:t>Develop change plan, training
and communications</a:t>
            </a:r>
          </a:p>
        </p:txBody>
      </p:sp>
      <p:sp>
        <p:nvSpPr>
          <p:cNvPr id="44" name="workstream_4_phase_3_activity_text"/>
          <p:cNvSpPr/>
          <p:nvPr/>
        </p:nvSpPr>
        <p:spPr>
          <a:xfrm>
            <a:off x="8762845" y="3984784"/>
            <a:ext cx="2842188" cy="762001"/>
          </a:xfrm>
          <a:prstGeom prst="rightArrow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rial"/>
              </a:rPr>
              <a:t>Execute training, adoption
support and reinforcement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53" y="5013485"/>
            <a:ext cx="11201119" cy="0"/>
          </a:xfrm>
          <a:prstGeom prst="line">
            <a:avLst/>
          </a:prstGeom>
          <a:ln w="17780">
            <a:solidFill>
              <a:srgbClr val="00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ight Triangle 45"/>
          <p:cNvSpPr/>
          <p:nvPr/>
        </p:nvSpPr>
        <p:spPr>
          <a:xfrm>
            <a:off x="11544076" y="4967765"/>
            <a:ext cx="137156" cy="91440"/>
          </a:xfrm>
          <a:prstGeom prst="rtTriangle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Diamond 46"/>
          <p:cNvSpPr/>
          <p:nvPr/>
        </p:nvSpPr>
        <p:spPr>
          <a:xfrm>
            <a:off x="5410129" y="4906805"/>
            <a:ext cx="190495" cy="190500"/>
          </a:xfrm>
          <a:prstGeom prst="diamond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phase_1_outcome_text"/>
          <p:cNvSpPr txBox="1"/>
          <p:nvPr/>
        </p:nvSpPr>
        <p:spPr>
          <a:xfrm>
            <a:off x="4785305" y="5188744"/>
            <a:ext cx="150110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>
                <a:solidFill>
                  <a:srgbClr val="070C25"/>
                </a:solidFill>
                <a:latin typeface="Arial"/>
              </a:rPr>
              <a:t>Opportunity baseline
confirmed</a:t>
            </a:r>
          </a:p>
        </p:txBody>
      </p:sp>
      <p:sp>
        <p:nvSpPr>
          <p:cNvPr id="49" name="Diamond 48"/>
          <p:cNvSpPr/>
          <p:nvPr/>
        </p:nvSpPr>
        <p:spPr>
          <a:xfrm>
            <a:off x="7543676" y="4906805"/>
            <a:ext cx="190495" cy="190500"/>
          </a:xfrm>
          <a:prstGeom prst="diamond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phase_2_outcome_text"/>
          <p:cNvSpPr txBox="1"/>
          <p:nvPr/>
        </p:nvSpPr>
        <p:spPr>
          <a:xfrm>
            <a:off x="6918851" y="5188745"/>
            <a:ext cx="1447763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0" dirty="0">
                <a:solidFill>
                  <a:srgbClr val="070C25"/>
                </a:solidFill>
                <a:latin typeface="Arial"/>
              </a:rPr>
              <a:t>Target-state blueprint
approved</a:t>
            </a:r>
          </a:p>
        </p:txBody>
      </p:sp>
      <p:sp>
        <p:nvSpPr>
          <p:cNvPr id="51" name="Diamond 50"/>
          <p:cNvSpPr/>
          <p:nvPr/>
        </p:nvSpPr>
        <p:spPr>
          <a:xfrm>
            <a:off x="9982015" y="4906805"/>
            <a:ext cx="190495" cy="190500"/>
          </a:xfrm>
          <a:prstGeom prst="diamond">
            <a:avLst/>
          </a:prstGeom>
          <a:solidFill>
            <a:srgbClr val="007AE6"/>
          </a:solidFill>
          <a:ln>
            <a:solidFill>
              <a:srgbClr val="00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phase_3_outcome_text"/>
          <p:cNvSpPr txBox="1"/>
          <p:nvPr/>
        </p:nvSpPr>
        <p:spPr>
          <a:xfrm>
            <a:off x="9357190" y="5188745"/>
            <a:ext cx="1447763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0" dirty="0">
                <a:solidFill>
                  <a:srgbClr val="070C25"/>
                </a:solidFill>
                <a:latin typeface="Arial"/>
              </a:rPr>
              <a:t>Benefits tracking
activated</a:t>
            </a:r>
          </a:p>
        </p:txBody>
      </p:sp>
      <p:sp>
        <p:nvSpPr>
          <p:cNvPr id="53" name="takeaway_text"/>
          <p:cNvSpPr/>
          <p:nvPr/>
        </p:nvSpPr>
        <p:spPr>
          <a:xfrm>
            <a:off x="457253" y="5699285"/>
            <a:ext cx="11239218" cy="457200"/>
          </a:xfrm>
          <a:prstGeom prst="rect">
            <a:avLst/>
          </a:prstGeom>
          <a:solidFill>
            <a:srgbClr val="EBF5FF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dirty="0">
                <a:solidFill>
                  <a:srgbClr val="0066FF"/>
                </a:solidFill>
                <a:latin typeface="Arial"/>
              </a:rPr>
              <a:t>A workstream-led roadmap enables coordinated delivery, faster value capture and controlled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9</TotalTime>
  <Words>152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 Kapoor</cp:lastModifiedBy>
  <cp:revision>4</cp:revision>
  <dcterms:created xsi:type="dcterms:W3CDTF">2013-01-27T09:14:16Z</dcterms:created>
  <dcterms:modified xsi:type="dcterms:W3CDTF">2026-07-21T07:28:18Z</dcterms:modified>
  <cp:category/>
</cp:coreProperties>
</file>