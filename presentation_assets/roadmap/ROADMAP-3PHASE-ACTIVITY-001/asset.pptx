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624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71280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24324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6350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46601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7312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87880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72F54E-4194-5DC9-591C-0D5B29EDF843}"/>
              </a:ext>
            </a:extLst>
          </p:cNvPr>
          <p:cNvSpPr/>
          <p:nvPr/>
        </p:nvSpPr>
        <p:spPr bwMode="auto">
          <a:xfrm>
            <a:off x="481584" y="796996"/>
            <a:ext cx="11228832" cy="36000"/>
          </a:xfrm>
          <a:prstGeom prst="rect">
            <a:avLst/>
          </a:prstGeom>
          <a:gradFill>
            <a:gsLst>
              <a:gs pos="0">
                <a:srgbClr val="1A9AFA"/>
              </a:gs>
              <a:gs pos="100000">
                <a:srgbClr val="072E65"/>
              </a:gs>
            </a:gsLst>
            <a:lin ang="0" scaled="0"/>
          </a:gradFill>
        </p:spPr>
        <p:txBody>
          <a:bodyPr vert="horz" lIns="0" tIns="0" rIns="0" bIns="0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1A9AFA"/>
              </a:buClr>
              <a:buSzPct val="100000"/>
              <a:buFont typeface="Wingdings" pitchFamily="2" charset="2"/>
              <a:buNone/>
              <a:tabLst/>
            </a:pPr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191924"/>
              </a:solidFill>
              <a:effectLst/>
              <a:uLnTx/>
              <a:uFillTx/>
              <a:latin typeface="EYInterstate Ligh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2222D9-DFA4-44EC-7B21-7B0D8325944A}"/>
              </a:ext>
            </a:extLst>
          </p:cNvPr>
          <p:cNvGrpSpPr>
            <a:grpSpLocks noChangeAspect="1"/>
          </p:cNvGrpSpPr>
          <p:nvPr/>
        </p:nvGrpSpPr>
        <p:grpSpPr>
          <a:xfrm>
            <a:off x="11023155" y="6339264"/>
            <a:ext cx="954455" cy="331649"/>
            <a:chOff x="9258171" y="4332267"/>
            <a:chExt cx="2341035" cy="755058"/>
          </a:xfrm>
        </p:grpSpPr>
        <p:sp>
          <p:nvSpPr>
            <p:cNvPr id="7" name="Freeform 107">
              <a:extLst>
                <a:ext uri="{FF2B5EF4-FFF2-40B4-BE49-F238E27FC236}">
                  <a16:creationId xmlns:a16="http://schemas.microsoft.com/office/drawing/2014/main" id="{F6892F0E-E1F0-977C-E068-4C2DA97438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91892" y="4824181"/>
              <a:ext cx="190838" cy="259589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8" name="Freeform 108">
              <a:extLst>
                <a:ext uri="{FF2B5EF4-FFF2-40B4-BE49-F238E27FC236}">
                  <a16:creationId xmlns:a16="http://schemas.microsoft.com/office/drawing/2014/main" id="{23B08D2D-137C-E384-CA07-2770C6EF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95771" y="4884632"/>
              <a:ext cx="157649" cy="20269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9" name="Freeform 109">
              <a:extLst>
                <a:ext uri="{FF2B5EF4-FFF2-40B4-BE49-F238E27FC236}">
                  <a16:creationId xmlns:a16="http://schemas.microsoft.com/office/drawing/2014/main" id="{8EF04CA6-5131-DF28-7E63-763A18A267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91350" y="4884632"/>
              <a:ext cx="114977" cy="199136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0" name="Freeform 110">
              <a:extLst>
                <a:ext uri="{FF2B5EF4-FFF2-40B4-BE49-F238E27FC236}">
                  <a16:creationId xmlns:a16="http://schemas.microsoft.com/office/drawing/2014/main" id="{2B7B0642-8B14-1497-BA29-31E87A6F40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28849" y="4813512"/>
              <a:ext cx="112606" cy="273813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1" name="Freeform 111">
              <a:extLst>
                <a:ext uri="{FF2B5EF4-FFF2-40B4-BE49-F238E27FC236}">
                  <a16:creationId xmlns:a16="http://schemas.microsoft.com/office/drawing/2014/main" id="{EF9531E5-0ED0-BA5E-0DF7-A9C752AF96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78201" y="4813512"/>
              <a:ext cx="156464" cy="270256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2" name="Freeform 112">
              <a:extLst>
                <a:ext uri="{FF2B5EF4-FFF2-40B4-BE49-F238E27FC236}">
                  <a16:creationId xmlns:a16="http://schemas.microsoft.com/office/drawing/2014/main" id="{84AE5315-97DF-0794-2A8A-53E2C7BF4C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61929" y="4884632"/>
              <a:ext cx="167132" cy="20269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3" name="Freeform 113">
              <a:extLst>
                <a:ext uri="{FF2B5EF4-FFF2-40B4-BE49-F238E27FC236}">
                  <a16:creationId xmlns:a16="http://schemas.microsoft.com/office/drawing/2014/main" id="{612E0877-FC6A-7D52-48C1-CD1B183F34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57507" y="4884632"/>
              <a:ext cx="155278" cy="199136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" name="Freeform 114">
              <a:extLst>
                <a:ext uri="{FF2B5EF4-FFF2-40B4-BE49-F238E27FC236}">
                  <a16:creationId xmlns:a16="http://schemas.microsoft.com/office/drawing/2014/main" id="{3747C2F1-C10A-B025-2AFB-6AAD0580A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41235" y="4884632"/>
              <a:ext cx="173060" cy="20269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5" name="Freeform 115">
              <a:extLst>
                <a:ext uri="{FF2B5EF4-FFF2-40B4-BE49-F238E27FC236}">
                  <a16:creationId xmlns:a16="http://schemas.microsoft.com/office/drawing/2014/main" id="{E2766335-8EAF-2F71-CAAF-ACA3FD467E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42742" y="4884632"/>
              <a:ext cx="156464" cy="199136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" name="Freeform 117">
              <a:extLst>
                <a:ext uri="{FF2B5EF4-FFF2-40B4-BE49-F238E27FC236}">
                  <a16:creationId xmlns:a16="http://schemas.microsoft.com/office/drawing/2014/main" id="{64294034-D582-128D-A72C-6B8C265EA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58171" y="4332267"/>
              <a:ext cx="733721" cy="267886"/>
            </a:xfrm>
            <a:custGeom>
              <a:avLst/>
              <a:gdLst>
                <a:gd name="T0" fmla="*/ 619 w 619"/>
                <a:gd name="T1" fmla="*/ 0 h 226"/>
                <a:gd name="T2" fmla="*/ 0 w 619"/>
                <a:gd name="T3" fmla="*/ 226 h 226"/>
                <a:gd name="T4" fmla="*/ 619 w 619"/>
                <a:gd name="T5" fmla="*/ 117 h 226"/>
                <a:gd name="T6" fmla="*/ 619 w 619"/>
                <a:gd name="T7" fmla="*/ 0 h 226"/>
                <a:gd name="T8" fmla="*/ 619 w 619"/>
                <a:gd name="T9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226">
                  <a:moveTo>
                    <a:pt x="619" y="0"/>
                  </a:moveTo>
                  <a:lnTo>
                    <a:pt x="0" y="226"/>
                  </a:lnTo>
                  <a:lnTo>
                    <a:pt x="619" y="117"/>
                  </a:lnTo>
                  <a:lnTo>
                    <a:pt x="619" y="0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" name="Freeform 118">
              <a:extLst>
                <a:ext uri="{FF2B5EF4-FFF2-40B4-BE49-F238E27FC236}">
                  <a16:creationId xmlns:a16="http://schemas.microsoft.com/office/drawing/2014/main" id="{A21A1AA8-4217-A9D3-44D7-613C584FC9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264100" y="4711579"/>
              <a:ext cx="616374" cy="372194"/>
            </a:xfrm>
            <a:custGeom>
              <a:avLst/>
              <a:gdLst>
                <a:gd name="T0" fmla="*/ 418 w 520"/>
                <a:gd name="T1" fmla="*/ 0 h 314"/>
                <a:gd name="T2" fmla="*/ 364 w 520"/>
                <a:gd name="T3" fmla="*/ 102 h 314"/>
                <a:gd name="T4" fmla="*/ 311 w 520"/>
                <a:gd name="T5" fmla="*/ 0 h 314"/>
                <a:gd name="T6" fmla="*/ 207 w 520"/>
                <a:gd name="T7" fmla="*/ 0 h 314"/>
                <a:gd name="T8" fmla="*/ 318 w 520"/>
                <a:gd name="T9" fmla="*/ 189 h 314"/>
                <a:gd name="T10" fmla="*/ 318 w 520"/>
                <a:gd name="T11" fmla="*/ 314 h 314"/>
                <a:gd name="T12" fmla="*/ 410 w 520"/>
                <a:gd name="T13" fmla="*/ 314 h 314"/>
                <a:gd name="T14" fmla="*/ 410 w 520"/>
                <a:gd name="T15" fmla="*/ 189 h 314"/>
                <a:gd name="T16" fmla="*/ 520 w 520"/>
                <a:gd name="T17" fmla="*/ 0 h 314"/>
                <a:gd name="T18" fmla="*/ 418 w 520"/>
                <a:gd name="T19" fmla="*/ 0 h 314"/>
                <a:gd name="T20" fmla="*/ 0 w 520"/>
                <a:gd name="T21" fmla="*/ 0 h 314"/>
                <a:gd name="T22" fmla="*/ 0 w 520"/>
                <a:gd name="T23" fmla="*/ 314 h 314"/>
                <a:gd name="T24" fmla="*/ 251 w 520"/>
                <a:gd name="T25" fmla="*/ 314 h 314"/>
                <a:gd name="T26" fmla="*/ 251 w 520"/>
                <a:gd name="T27" fmla="*/ 242 h 314"/>
                <a:gd name="T28" fmla="*/ 94 w 520"/>
                <a:gd name="T29" fmla="*/ 242 h 314"/>
                <a:gd name="T30" fmla="*/ 94 w 520"/>
                <a:gd name="T31" fmla="*/ 189 h 314"/>
                <a:gd name="T32" fmla="*/ 207 w 520"/>
                <a:gd name="T33" fmla="*/ 189 h 314"/>
                <a:gd name="T34" fmla="*/ 207 w 520"/>
                <a:gd name="T35" fmla="*/ 124 h 314"/>
                <a:gd name="T36" fmla="*/ 94 w 520"/>
                <a:gd name="T37" fmla="*/ 124 h 314"/>
                <a:gd name="T38" fmla="*/ 94 w 520"/>
                <a:gd name="T39" fmla="*/ 72 h 314"/>
                <a:gd name="T40" fmla="*/ 219 w 520"/>
                <a:gd name="T41" fmla="*/ 72 h 314"/>
                <a:gd name="T42" fmla="*/ 178 w 520"/>
                <a:gd name="T43" fmla="*/ 0 h 314"/>
                <a:gd name="T44" fmla="*/ 0 w 520"/>
                <a:gd name="T4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0" h="314">
                  <a:moveTo>
                    <a:pt x="418" y="0"/>
                  </a:moveTo>
                  <a:lnTo>
                    <a:pt x="364" y="102"/>
                  </a:lnTo>
                  <a:lnTo>
                    <a:pt x="311" y="0"/>
                  </a:lnTo>
                  <a:lnTo>
                    <a:pt x="207" y="0"/>
                  </a:lnTo>
                  <a:lnTo>
                    <a:pt x="318" y="189"/>
                  </a:lnTo>
                  <a:lnTo>
                    <a:pt x="318" y="314"/>
                  </a:lnTo>
                  <a:lnTo>
                    <a:pt x="410" y="314"/>
                  </a:lnTo>
                  <a:lnTo>
                    <a:pt x="410" y="189"/>
                  </a:lnTo>
                  <a:lnTo>
                    <a:pt x="520" y="0"/>
                  </a:lnTo>
                  <a:lnTo>
                    <a:pt x="418" y="0"/>
                  </a:lnTo>
                  <a:close/>
                  <a:moveTo>
                    <a:pt x="0" y="0"/>
                  </a:moveTo>
                  <a:lnTo>
                    <a:pt x="0" y="314"/>
                  </a:lnTo>
                  <a:lnTo>
                    <a:pt x="251" y="314"/>
                  </a:lnTo>
                  <a:lnTo>
                    <a:pt x="251" y="242"/>
                  </a:lnTo>
                  <a:lnTo>
                    <a:pt x="94" y="242"/>
                  </a:lnTo>
                  <a:lnTo>
                    <a:pt x="94" y="189"/>
                  </a:lnTo>
                  <a:lnTo>
                    <a:pt x="207" y="189"/>
                  </a:lnTo>
                  <a:lnTo>
                    <a:pt x="207" y="124"/>
                  </a:lnTo>
                  <a:lnTo>
                    <a:pt x="94" y="124"/>
                  </a:lnTo>
                  <a:lnTo>
                    <a:pt x="94" y="72"/>
                  </a:lnTo>
                  <a:lnTo>
                    <a:pt x="219" y="72"/>
                  </a:lnTo>
                  <a:lnTo>
                    <a:pt x="1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518290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81639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20509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41748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98699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09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950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text"/>
          <p:cNvSpPr txBox="1"/>
          <p:nvPr/>
        </p:nvSpPr>
        <p:spPr>
          <a:xfrm>
            <a:off x="530352" y="265175"/>
            <a:ext cx="8683986" cy="3931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roadmap</a:t>
            </a:r>
            <a:endParaRPr lang="en-US" sz="2400" dirty="0"/>
          </a:p>
        </p:txBody>
      </p:sp>
      <p:sp>
        <p:nvSpPr>
          <p:cNvPr id="3" name="subtitle_text"/>
          <p:cNvSpPr txBox="1"/>
          <p:nvPr/>
        </p:nvSpPr>
        <p:spPr>
          <a:xfrm>
            <a:off x="530352" y="630733"/>
            <a:ext cx="10607040" cy="173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006B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three-phase plan will sequence the transformation from diagnosis to scaled execution.</a:t>
            </a:r>
            <a:endParaRPr lang="en-US" sz="1100" i="1" dirty="0"/>
          </a:p>
        </p:txBody>
      </p:sp>
      <p:sp>
        <p:nvSpPr>
          <p:cNvPr id="5" name="Shape 3"/>
          <p:cNvSpPr/>
          <p:nvPr/>
        </p:nvSpPr>
        <p:spPr>
          <a:xfrm>
            <a:off x="248412" y="1170028"/>
            <a:ext cx="3776472" cy="352044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6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3004" y="1170028"/>
            <a:ext cx="530352" cy="566928"/>
          </a:xfrm>
          <a:prstGeom prst="rect">
            <a:avLst/>
          </a:prstGeom>
          <a:solidFill>
            <a:srgbClr val="006BE6"/>
          </a:solidFill>
          <a:ln w="12700">
            <a:solidFill>
              <a:srgbClr val="006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hase_1_number"/>
          <p:cNvSpPr txBox="1"/>
          <p:nvPr/>
        </p:nvSpPr>
        <p:spPr>
          <a:xfrm>
            <a:off x="504444" y="134376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phase_1_title_text"/>
          <p:cNvSpPr txBox="1"/>
          <p:nvPr/>
        </p:nvSpPr>
        <p:spPr>
          <a:xfrm>
            <a:off x="1117092" y="1334620"/>
            <a:ext cx="2816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70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</a:t>
            </a:r>
            <a:endParaRPr lang="en-US" sz="1700" dirty="0"/>
          </a:p>
        </p:txBody>
      </p:sp>
      <p:sp>
        <p:nvSpPr>
          <p:cNvPr id="9" name="phase_1_timing_text"/>
          <p:cNvSpPr txBox="1"/>
          <p:nvPr/>
        </p:nvSpPr>
        <p:spPr>
          <a:xfrm>
            <a:off x="1117092" y="1581508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06B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Weeks 1–4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4716" y="1883260"/>
            <a:ext cx="3493008" cy="0"/>
          </a:xfrm>
          <a:prstGeom prst="line">
            <a:avLst/>
          </a:prstGeom>
          <a:noFill/>
          <a:ln w="12700">
            <a:solidFill>
              <a:srgbClr val="006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hase_1_objective_text"/>
          <p:cNvSpPr/>
          <p:nvPr/>
        </p:nvSpPr>
        <p:spPr>
          <a:xfrm>
            <a:off x="413004" y="2047852"/>
            <a:ext cx="3447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6B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Objective: </a:t>
            </a:r>
            <a:r>
              <a:rPr lang="en-US" sz="1300" dirty="0">
                <a:solidFill>
                  <a:srgbClr val="070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 the fact base and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70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value pools.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94716" y="2541628"/>
            <a:ext cx="3493008" cy="0"/>
          </a:xfrm>
          <a:prstGeom prst="line">
            <a:avLst/>
          </a:prstGeom>
          <a:noFill/>
          <a:ln w="11430">
            <a:solidFill>
              <a:srgbClr val="006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hase_1_activities_label"/>
          <p:cNvSpPr txBox="1"/>
          <p:nvPr/>
        </p:nvSpPr>
        <p:spPr>
          <a:xfrm>
            <a:off x="413004" y="2697076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6B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Activities</a:t>
            </a:r>
            <a:endParaRPr lang="en-US" sz="1250" dirty="0"/>
          </a:p>
        </p:txBody>
      </p:sp>
      <p:sp>
        <p:nvSpPr>
          <p:cNvPr id="14" name="phase_1_activity_1_bullet"/>
          <p:cNvSpPr txBox="1"/>
          <p:nvPr/>
        </p:nvSpPr>
        <p:spPr>
          <a:xfrm>
            <a:off x="431292" y="3035404"/>
            <a:ext cx="91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▪</a:t>
            </a:r>
            <a:endParaRPr lang="en-US" sz="950" dirty="0"/>
          </a:p>
        </p:txBody>
      </p:sp>
      <p:sp>
        <p:nvSpPr>
          <p:cNvPr id="15" name="phase_1_activity_1_text"/>
          <p:cNvSpPr txBox="1"/>
          <p:nvPr/>
        </p:nvSpPr>
        <p:spPr>
          <a:xfrm>
            <a:off x="659892" y="3017115"/>
            <a:ext cx="3136392" cy="283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current-state processes and controls</a:t>
            </a:r>
            <a:endParaRPr lang="en-US" sz="1220" dirty="0"/>
          </a:p>
        </p:txBody>
      </p:sp>
      <p:sp>
        <p:nvSpPr>
          <p:cNvPr id="16" name="phase_1_activity_2_bullet"/>
          <p:cNvSpPr txBox="1"/>
          <p:nvPr/>
        </p:nvSpPr>
        <p:spPr>
          <a:xfrm>
            <a:off x="431292" y="3355444"/>
            <a:ext cx="91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▪</a:t>
            </a:r>
            <a:endParaRPr lang="en-US" sz="950" dirty="0"/>
          </a:p>
        </p:txBody>
      </p:sp>
      <p:sp>
        <p:nvSpPr>
          <p:cNvPr id="17" name="phase_1_activity_2_text"/>
          <p:cNvSpPr txBox="1"/>
          <p:nvPr/>
        </p:nvSpPr>
        <p:spPr>
          <a:xfrm>
            <a:off x="659892" y="3337156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Quantify pain points and value leakage</a:t>
            </a:r>
            <a:endParaRPr lang="en-US" sz="1220" dirty="0"/>
          </a:p>
        </p:txBody>
      </p:sp>
      <p:sp>
        <p:nvSpPr>
          <p:cNvPr id="18" name="phase_1_activity_3_bullet"/>
          <p:cNvSpPr txBox="1"/>
          <p:nvPr/>
        </p:nvSpPr>
        <p:spPr>
          <a:xfrm>
            <a:off x="431292" y="3675484"/>
            <a:ext cx="91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▪</a:t>
            </a:r>
            <a:endParaRPr lang="en-US" sz="950" dirty="0"/>
          </a:p>
        </p:txBody>
      </p:sp>
      <p:sp>
        <p:nvSpPr>
          <p:cNvPr id="19" name="phase_1_activity_3_text"/>
          <p:cNvSpPr txBox="1"/>
          <p:nvPr/>
        </p:nvSpPr>
        <p:spPr>
          <a:xfrm>
            <a:off x="659892" y="3657196"/>
            <a:ext cx="3136392" cy="356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scope, governance and success metrics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394716" y="4032100"/>
            <a:ext cx="3493008" cy="0"/>
          </a:xfrm>
          <a:prstGeom prst="line">
            <a:avLst/>
          </a:prstGeom>
          <a:noFill/>
          <a:ln w="11430">
            <a:solidFill>
              <a:srgbClr val="006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phase_1_deliverable_text"/>
          <p:cNvSpPr/>
          <p:nvPr/>
        </p:nvSpPr>
        <p:spPr>
          <a:xfrm>
            <a:off x="413004" y="4196692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6B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Deliverable: </a:t>
            </a:r>
            <a:r>
              <a:rPr lang="en-US" sz="1250" dirty="0">
                <a:solidFill>
                  <a:srgbClr val="070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Prioritized opportunity baseline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07764" y="1170028"/>
            <a:ext cx="3776472" cy="352044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6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72356" y="1170028"/>
            <a:ext cx="530352" cy="566928"/>
          </a:xfrm>
          <a:prstGeom prst="rect">
            <a:avLst/>
          </a:prstGeom>
          <a:solidFill>
            <a:srgbClr val="006BE6"/>
          </a:solidFill>
          <a:ln w="12700">
            <a:solidFill>
              <a:srgbClr val="006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phase_2_number"/>
          <p:cNvSpPr txBox="1"/>
          <p:nvPr/>
        </p:nvSpPr>
        <p:spPr>
          <a:xfrm>
            <a:off x="4463796" y="134376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900" dirty="0"/>
          </a:p>
        </p:txBody>
      </p:sp>
      <p:sp>
        <p:nvSpPr>
          <p:cNvPr id="25" name="phase_2_title_text"/>
          <p:cNvSpPr txBox="1"/>
          <p:nvPr/>
        </p:nvSpPr>
        <p:spPr>
          <a:xfrm>
            <a:off x="5076444" y="1288900"/>
            <a:ext cx="2816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70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</a:t>
            </a:r>
            <a:endParaRPr lang="en-US" sz="1700" dirty="0"/>
          </a:p>
        </p:txBody>
      </p:sp>
      <p:sp>
        <p:nvSpPr>
          <p:cNvPr id="26" name="phase_2_timing_text"/>
          <p:cNvSpPr txBox="1"/>
          <p:nvPr/>
        </p:nvSpPr>
        <p:spPr>
          <a:xfrm>
            <a:off x="5076444" y="1581508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06B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Weeks 5–10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354068" y="1883260"/>
            <a:ext cx="3493008" cy="0"/>
          </a:xfrm>
          <a:prstGeom prst="line">
            <a:avLst/>
          </a:prstGeom>
          <a:noFill/>
          <a:ln w="12700">
            <a:solidFill>
              <a:srgbClr val="006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phase_2_objective_text"/>
          <p:cNvSpPr/>
          <p:nvPr/>
        </p:nvSpPr>
        <p:spPr>
          <a:xfrm>
            <a:off x="4372356" y="2047852"/>
            <a:ext cx="3447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6B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Objective: </a:t>
            </a:r>
            <a:r>
              <a:rPr lang="en-US" sz="1300" dirty="0">
                <a:solidFill>
                  <a:srgbClr val="070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the future-state model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70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implementation plan.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354068" y="2541628"/>
            <a:ext cx="3493008" cy="0"/>
          </a:xfrm>
          <a:prstGeom prst="line">
            <a:avLst/>
          </a:prstGeom>
          <a:noFill/>
          <a:ln w="11430">
            <a:solidFill>
              <a:srgbClr val="006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phase_2_activities_label"/>
          <p:cNvSpPr txBox="1"/>
          <p:nvPr/>
        </p:nvSpPr>
        <p:spPr>
          <a:xfrm>
            <a:off x="4372356" y="2697076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6B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Activities</a:t>
            </a:r>
            <a:endParaRPr lang="en-US" sz="1250" dirty="0"/>
          </a:p>
        </p:txBody>
      </p:sp>
      <p:sp>
        <p:nvSpPr>
          <p:cNvPr id="31" name="phase_2_activity_1_bullet"/>
          <p:cNvSpPr txBox="1"/>
          <p:nvPr/>
        </p:nvSpPr>
        <p:spPr>
          <a:xfrm>
            <a:off x="4390644" y="3035404"/>
            <a:ext cx="91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▪</a:t>
            </a:r>
            <a:endParaRPr lang="en-US" sz="950" dirty="0"/>
          </a:p>
        </p:txBody>
      </p:sp>
      <p:sp>
        <p:nvSpPr>
          <p:cNvPr id="32" name="phase_2_activity_1_text"/>
          <p:cNvSpPr txBox="1"/>
          <p:nvPr/>
        </p:nvSpPr>
        <p:spPr>
          <a:xfrm>
            <a:off x="4619244" y="3017115"/>
            <a:ext cx="3136392" cy="283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target operating model and workflows</a:t>
            </a:r>
            <a:endParaRPr lang="en-US" sz="1220" dirty="0"/>
          </a:p>
        </p:txBody>
      </p:sp>
      <p:sp>
        <p:nvSpPr>
          <p:cNvPr id="33" name="phase_2_activity_2_bullet"/>
          <p:cNvSpPr txBox="1"/>
          <p:nvPr/>
        </p:nvSpPr>
        <p:spPr>
          <a:xfrm>
            <a:off x="4390644" y="3355444"/>
            <a:ext cx="91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▪</a:t>
            </a:r>
            <a:endParaRPr lang="en-US" sz="950" dirty="0"/>
          </a:p>
        </p:txBody>
      </p:sp>
      <p:sp>
        <p:nvSpPr>
          <p:cNvPr id="34" name="phase_2_activity_2_text"/>
          <p:cNvSpPr txBox="1"/>
          <p:nvPr/>
        </p:nvSpPr>
        <p:spPr>
          <a:xfrm>
            <a:off x="4619244" y="3337156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use cases, enablers and quick wins</a:t>
            </a:r>
            <a:endParaRPr lang="en-US" sz="1220" dirty="0"/>
          </a:p>
        </p:txBody>
      </p:sp>
      <p:sp>
        <p:nvSpPr>
          <p:cNvPr id="35" name="phase_2_activity_3_bullet"/>
          <p:cNvSpPr txBox="1"/>
          <p:nvPr/>
        </p:nvSpPr>
        <p:spPr>
          <a:xfrm>
            <a:off x="4390644" y="3675484"/>
            <a:ext cx="91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▪</a:t>
            </a:r>
            <a:endParaRPr lang="en-US" sz="950" dirty="0"/>
          </a:p>
        </p:txBody>
      </p:sp>
      <p:sp>
        <p:nvSpPr>
          <p:cNvPr id="36" name="phase_2_activity_3_text"/>
          <p:cNvSpPr txBox="1"/>
          <p:nvPr/>
        </p:nvSpPr>
        <p:spPr>
          <a:xfrm>
            <a:off x="4619244" y="3657196"/>
            <a:ext cx="3136392" cy="356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 business case, roadmap and</a:t>
            </a:r>
            <a:endParaRPr lang="en-US" sz="12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approach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4354068" y="4032100"/>
            <a:ext cx="3493008" cy="0"/>
          </a:xfrm>
          <a:prstGeom prst="line">
            <a:avLst/>
          </a:prstGeom>
          <a:noFill/>
          <a:ln w="11430">
            <a:solidFill>
              <a:srgbClr val="006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hase_2_deliverable_text"/>
          <p:cNvSpPr/>
          <p:nvPr/>
        </p:nvSpPr>
        <p:spPr>
          <a:xfrm>
            <a:off x="4372356" y="4196692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6B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Deliverable: </a:t>
            </a:r>
            <a:r>
              <a:rPr lang="en-US" sz="1250" dirty="0">
                <a:solidFill>
                  <a:srgbClr val="070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Target-state blueprint and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070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case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157972" y="1170028"/>
            <a:ext cx="3776472" cy="352044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6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322564" y="1170028"/>
            <a:ext cx="530352" cy="566928"/>
          </a:xfrm>
          <a:prstGeom prst="rect">
            <a:avLst/>
          </a:prstGeom>
          <a:solidFill>
            <a:srgbClr val="006BE6"/>
          </a:solidFill>
          <a:ln w="12700">
            <a:solidFill>
              <a:srgbClr val="006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phase_3_number"/>
          <p:cNvSpPr txBox="1"/>
          <p:nvPr/>
        </p:nvSpPr>
        <p:spPr>
          <a:xfrm>
            <a:off x="8414004" y="134376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900" dirty="0"/>
          </a:p>
        </p:txBody>
      </p:sp>
      <p:sp>
        <p:nvSpPr>
          <p:cNvPr id="42" name="phase_3_title_text"/>
          <p:cNvSpPr txBox="1"/>
          <p:nvPr/>
        </p:nvSpPr>
        <p:spPr>
          <a:xfrm>
            <a:off x="9026652" y="1279756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70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1700" dirty="0"/>
          </a:p>
        </p:txBody>
      </p:sp>
      <p:sp>
        <p:nvSpPr>
          <p:cNvPr id="43" name="phase_3_timing_text"/>
          <p:cNvSpPr txBox="1"/>
          <p:nvPr/>
        </p:nvSpPr>
        <p:spPr>
          <a:xfrm>
            <a:off x="9026652" y="1581508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06B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Weeks 11–20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304276" y="1883260"/>
            <a:ext cx="3493008" cy="0"/>
          </a:xfrm>
          <a:prstGeom prst="line">
            <a:avLst/>
          </a:prstGeom>
          <a:noFill/>
          <a:ln w="12700">
            <a:solidFill>
              <a:srgbClr val="006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phase_3_objective_text"/>
          <p:cNvSpPr/>
          <p:nvPr/>
        </p:nvSpPr>
        <p:spPr>
          <a:xfrm>
            <a:off x="8322564" y="2047852"/>
            <a:ext cx="3447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6B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Objective: </a:t>
            </a:r>
            <a:r>
              <a:rPr lang="en-US" sz="1300" dirty="0">
                <a:solidFill>
                  <a:srgbClr val="070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priority changes and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70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 adoption.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304276" y="2541628"/>
            <a:ext cx="3493008" cy="0"/>
          </a:xfrm>
          <a:prstGeom prst="line">
            <a:avLst/>
          </a:prstGeom>
          <a:noFill/>
          <a:ln w="11430">
            <a:solidFill>
              <a:srgbClr val="006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phase_3_activities_label"/>
          <p:cNvSpPr txBox="1"/>
          <p:nvPr/>
        </p:nvSpPr>
        <p:spPr>
          <a:xfrm>
            <a:off x="8322564" y="2697076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6B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Activities</a:t>
            </a:r>
            <a:endParaRPr lang="en-US" sz="1250" dirty="0"/>
          </a:p>
        </p:txBody>
      </p:sp>
      <p:sp>
        <p:nvSpPr>
          <p:cNvPr id="48" name="phase_3_activity_1_bullet"/>
          <p:cNvSpPr txBox="1"/>
          <p:nvPr/>
        </p:nvSpPr>
        <p:spPr>
          <a:xfrm>
            <a:off x="8340852" y="3035404"/>
            <a:ext cx="91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▪</a:t>
            </a:r>
            <a:endParaRPr lang="en-US" sz="950" dirty="0"/>
          </a:p>
        </p:txBody>
      </p:sp>
      <p:sp>
        <p:nvSpPr>
          <p:cNvPr id="49" name="phase_3_activity_1_text"/>
          <p:cNvSpPr txBox="1"/>
          <p:nvPr/>
        </p:nvSpPr>
        <p:spPr>
          <a:xfrm>
            <a:off x="8569452" y="3017115"/>
            <a:ext cx="3136392" cy="33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pilot initiatives and governance routines</a:t>
            </a:r>
            <a:endParaRPr lang="en-US" sz="1220" dirty="0"/>
          </a:p>
        </p:txBody>
      </p:sp>
      <p:sp>
        <p:nvSpPr>
          <p:cNvPr id="50" name="phase_3_activity_2_bullet"/>
          <p:cNvSpPr txBox="1"/>
          <p:nvPr/>
        </p:nvSpPr>
        <p:spPr>
          <a:xfrm>
            <a:off x="8340852" y="3355444"/>
            <a:ext cx="91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▪</a:t>
            </a:r>
            <a:endParaRPr lang="en-US" sz="950" dirty="0"/>
          </a:p>
        </p:txBody>
      </p:sp>
      <p:sp>
        <p:nvSpPr>
          <p:cNvPr id="51" name="phase_3_activity_2_text"/>
          <p:cNvSpPr txBox="1"/>
          <p:nvPr/>
        </p:nvSpPr>
        <p:spPr>
          <a:xfrm>
            <a:off x="8569452" y="3337156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KPIs, risks and benefit realization</a:t>
            </a:r>
            <a:endParaRPr lang="en-US" sz="1220" dirty="0"/>
          </a:p>
        </p:txBody>
      </p:sp>
      <p:sp>
        <p:nvSpPr>
          <p:cNvPr id="52" name="phase_3_activity_3_bullet"/>
          <p:cNvSpPr txBox="1"/>
          <p:nvPr/>
        </p:nvSpPr>
        <p:spPr>
          <a:xfrm>
            <a:off x="8340852" y="3675484"/>
            <a:ext cx="91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▪</a:t>
            </a:r>
            <a:endParaRPr lang="en-US" sz="950" dirty="0"/>
          </a:p>
        </p:txBody>
      </p:sp>
      <p:sp>
        <p:nvSpPr>
          <p:cNvPr id="53" name="phase_3_activity_3_text"/>
          <p:cNvSpPr txBox="1"/>
          <p:nvPr/>
        </p:nvSpPr>
        <p:spPr>
          <a:xfrm>
            <a:off x="8569452" y="3657196"/>
            <a:ext cx="3136392" cy="356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successful interventions across the model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8304276" y="4032100"/>
            <a:ext cx="3493008" cy="0"/>
          </a:xfrm>
          <a:prstGeom prst="line">
            <a:avLst/>
          </a:prstGeom>
          <a:noFill/>
          <a:ln w="11430">
            <a:solidFill>
              <a:srgbClr val="006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phase_3_deliverable_text"/>
          <p:cNvSpPr/>
          <p:nvPr/>
        </p:nvSpPr>
        <p:spPr>
          <a:xfrm>
            <a:off x="8322564" y="4196692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6B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Deliverable: </a:t>
            </a:r>
            <a:r>
              <a:rPr lang="en-US" sz="1250" dirty="0">
                <a:solidFill>
                  <a:srgbClr val="070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Activated roadmap and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070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impact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348996" y="5047084"/>
            <a:ext cx="11109960" cy="0"/>
          </a:xfrm>
          <a:prstGeom prst="line">
            <a:avLst/>
          </a:prstGeom>
          <a:noFill/>
          <a:ln w="25400">
            <a:solidFill>
              <a:srgbClr val="006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275844" y="4973932"/>
            <a:ext cx="146304" cy="146304"/>
          </a:xfrm>
          <a:prstGeom prst="ellipse">
            <a:avLst/>
          </a:prstGeom>
          <a:solidFill>
            <a:srgbClr val="006BE6"/>
          </a:solidFill>
          <a:ln w="12700">
            <a:solidFill>
              <a:srgbClr val="006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 rot="5400000">
            <a:off x="11404092" y="4955644"/>
            <a:ext cx="164592" cy="182880"/>
          </a:xfrm>
          <a:prstGeom prst="triangle">
            <a:avLst/>
          </a:prstGeom>
          <a:solidFill>
            <a:srgbClr val="006BE6"/>
          </a:solidFill>
          <a:ln w="12700">
            <a:solidFill>
              <a:srgbClr val="006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030427" y="4973932"/>
            <a:ext cx="164592" cy="164592"/>
          </a:xfrm>
          <a:prstGeom prst="diamond">
            <a:avLst/>
          </a:prstGeom>
          <a:solidFill>
            <a:srgbClr val="006BE6"/>
          </a:solidFill>
          <a:ln w="12700">
            <a:solidFill>
              <a:srgbClr val="006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999009" y="4964788"/>
            <a:ext cx="164592" cy="164592"/>
          </a:xfrm>
          <a:prstGeom prst="diamond">
            <a:avLst/>
          </a:prstGeom>
          <a:solidFill>
            <a:srgbClr val="006BE6"/>
          </a:solidFill>
          <a:ln w="12700">
            <a:solidFill>
              <a:srgbClr val="006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239268" y="5431132"/>
            <a:ext cx="11329416" cy="548640"/>
          </a:xfrm>
          <a:prstGeom prst="rect">
            <a:avLst/>
          </a:prstGeom>
          <a:solidFill>
            <a:srgbClr val="EEF6FF"/>
          </a:solidFill>
          <a:ln w="12700">
            <a:solidFill>
              <a:srgbClr val="006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akeaway_text"/>
          <p:cNvSpPr txBox="1"/>
          <p:nvPr/>
        </p:nvSpPr>
        <p:spPr>
          <a:xfrm>
            <a:off x="943356" y="5440276"/>
            <a:ext cx="9848088" cy="521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6B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phased approach reduces execution risk while accelerating value capture and organizational adoption.</a:t>
            </a:r>
            <a:endParaRPr lang="en-US" sz="1600" dirty="0"/>
          </a:p>
        </p:txBody>
      </p:sp>
      <p:sp>
        <p:nvSpPr>
          <p:cNvPr id="64" name="footer_page_number"/>
          <p:cNvSpPr txBox="1"/>
          <p:nvPr/>
        </p:nvSpPr>
        <p:spPr>
          <a:xfrm>
            <a:off x="9557004" y="62266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y tem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y temp" id="{73531C1D-6AE1-E449-8BB8-2383CD9BA9E4}" vid="{07C013BB-F2D3-844E-B176-62F60C4A8C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ey temp</Template>
  <TotalTime>9</TotalTime>
  <Words>162</Words>
  <Application>Microsoft Macintosh PowerPoint</Application>
  <PresentationFormat>Widescreen</PresentationFormat>
  <Paragraphs>46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EYInterstate Light</vt:lpstr>
      <vt:lpstr>Wingdings</vt:lpstr>
      <vt:lpstr>ey temp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Implementation roadmap</dc:title>
  <dc:subject>Editable implementation roadmap slide</dc:subject>
  <dc:creator>OpenAI</dc:creator>
  <cp:lastModifiedBy>Madhav Kapoor</cp:lastModifiedBy>
  <cp:revision>5</cp:revision>
  <dcterms:created xsi:type="dcterms:W3CDTF">2026-07-15T11:36:05Z</dcterms:created>
  <dcterms:modified xsi:type="dcterms:W3CDTF">2026-07-21T07:28:30Z</dcterms:modified>
</cp:coreProperties>
</file>