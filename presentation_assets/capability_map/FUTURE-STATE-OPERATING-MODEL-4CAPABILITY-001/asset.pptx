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52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006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27896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59004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619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99564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20354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72F54E-4194-5DC9-591C-0D5B29EDF843}"/>
              </a:ext>
            </a:extLst>
          </p:cNvPr>
          <p:cNvSpPr/>
          <p:nvPr/>
        </p:nvSpPr>
        <p:spPr bwMode="auto">
          <a:xfrm>
            <a:off x="481584" y="796996"/>
            <a:ext cx="11228832" cy="36000"/>
          </a:xfrm>
          <a:prstGeom prst="rect">
            <a:avLst/>
          </a:prstGeom>
          <a:gradFill>
            <a:gsLst>
              <a:gs pos="0">
                <a:srgbClr val="1A9AFA"/>
              </a:gs>
              <a:gs pos="100000">
                <a:srgbClr val="072E65"/>
              </a:gs>
            </a:gsLst>
            <a:lin ang="0" scaled="0"/>
          </a:gradFill>
        </p:spPr>
        <p:txBody>
          <a:bodyPr vert="horz" lIns="0" tIns="0" rIns="0" bIns="0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1A9AFA"/>
              </a:buClr>
              <a:buSzPct val="100000"/>
              <a:buFont typeface="Wingdings" pitchFamily="2" charset="2"/>
              <a:buNone/>
              <a:tabLst/>
            </a:pP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191924"/>
              </a:solidFill>
              <a:effectLst/>
              <a:uLnTx/>
              <a:uFillTx/>
              <a:latin typeface="EYInterstate Ligh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222D9-DFA4-44EC-7B21-7B0D8325944A}"/>
              </a:ext>
            </a:extLst>
          </p:cNvPr>
          <p:cNvGrpSpPr>
            <a:grpSpLocks noChangeAspect="1"/>
          </p:cNvGrpSpPr>
          <p:nvPr/>
        </p:nvGrpSpPr>
        <p:grpSpPr>
          <a:xfrm>
            <a:off x="11023155" y="6339264"/>
            <a:ext cx="954455" cy="331649"/>
            <a:chOff x="9258171" y="4332267"/>
            <a:chExt cx="2341035" cy="755058"/>
          </a:xfrm>
        </p:grpSpPr>
        <p:sp>
          <p:nvSpPr>
            <p:cNvPr id="7" name="Freeform 107">
              <a:extLst>
                <a:ext uri="{FF2B5EF4-FFF2-40B4-BE49-F238E27FC236}">
                  <a16:creationId xmlns:a16="http://schemas.microsoft.com/office/drawing/2014/main" id="{F6892F0E-E1F0-977C-E068-4C2DA97438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91892" y="4824181"/>
              <a:ext cx="190838" cy="259589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" name="Freeform 108">
              <a:extLst>
                <a:ext uri="{FF2B5EF4-FFF2-40B4-BE49-F238E27FC236}">
                  <a16:creationId xmlns:a16="http://schemas.microsoft.com/office/drawing/2014/main" id="{23B08D2D-137C-E384-CA07-2770C6EF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95771" y="4884632"/>
              <a:ext cx="157649" cy="20269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Freeform 109">
              <a:extLst>
                <a:ext uri="{FF2B5EF4-FFF2-40B4-BE49-F238E27FC236}">
                  <a16:creationId xmlns:a16="http://schemas.microsoft.com/office/drawing/2014/main" id="{8EF04CA6-5131-DF28-7E63-763A18A26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91350" y="4884632"/>
              <a:ext cx="114977" cy="199136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Freeform 110">
              <a:extLst>
                <a:ext uri="{FF2B5EF4-FFF2-40B4-BE49-F238E27FC236}">
                  <a16:creationId xmlns:a16="http://schemas.microsoft.com/office/drawing/2014/main" id="{2B7B0642-8B14-1497-BA29-31E87A6F40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28849" y="4813512"/>
              <a:ext cx="112606" cy="2738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1" name="Freeform 111">
              <a:extLst>
                <a:ext uri="{FF2B5EF4-FFF2-40B4-BE49-F238E27FC236}">
                  <a16:creationId xmlns:a16="http://schemas.microsoft.com/office/drawing/2014/main" id="{EF9531E5-0ED0-BA5E-0DF7-A9C752AF96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78201" y="4813512"/>
              <a:ext cx="156464" cy="270256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2" name="Freeform 112">
              <a:extLst>
                <a:ext uri="{FF2B5EF4-FFF2-40B4-BE49-F238E27FC236}">
                  <a16:creationId xmlns:a16="http://schemas.microsoft.com/office/drawing/2014/main" id="{84AE5315-97DF-0794-2A8A-53E2C7BF4C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61929" y="4884632"/>
              <a:ext cx="167132" cy="20269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Freeform 113">
              <a:extLst>
                <a:ext uri="{FF2B5EF4-FFF2-40B4-BE49-F238E27FC236}">
                  <a16:creationId xmlns:a16="http://schemas.microsoft.com/office/drawing/2014/main" id="{612E0877-FC6A-7D52-48C1-CD1B183F3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57507" y="4884632"/>
              <a:ext cx="155278" cy="199136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" name="Freeform 114">
              <a:extLst>
                <a:ext uri="{FF2B5EF4-FFF2-40B4-BE49-F238E27FC236}">
                  <a16:creationId xmlns:a16="http://schemas.microsoft.com/office/drawing/2014/main" id="{3747C2F1-C10A-B025-2AFB-6AAD0580A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41235" y="4884632"/>
              <a:ext cx="173060" cy="20269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Freeform 115">
              <a:extLst>
                <a:ext uri="{FF2B5EF4-FFF2-40B4-BE49-F238E27FC236}">
                  <a16:creationId xmlns:a16="http://schemas.microsoft.com/office/drawing/2014/main" id="{E2766335-8EAF-2F71-CAAF-ACA3FD46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42742" y="4884632"/>
              <a:ext cx="156464" cy="199136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" name="Freeform 117">
              <a:extLst>
                <a:ext uri="{FF2B5EF4-FFF2-40B4-BE49-F238E27FC236}">
                  <a16:creationId xmlns:a16="http://schemas.microsoft.com/office/drawing/2014/main" id="{64294034-D582-128D-A72C-6B8C265EA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58171" y="4332267"/>
              <a:ext cx="733721" cy="267886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Freeform 118">
              <a:extLst>
                <a:ext uri="{FF2B5EF4-FFF2-40B4-BE49-F238E27FC236}">
                  <a16:creationId xmlns:a16="http://schemas.microsoft.com/office/drawing/2014/main" id="{A21A1AA8-4217-A9D3-44D7-613C584FC9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264100" y="4711579"/>
              <a:ext cx="616374" cy="37219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186887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3696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36752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39402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113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5168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80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text"/>
          <p:cNvSpPr/>
          <p:nvPr/>
        </p:nvSpPr>
        <p:spPr>
          <a:xfrm>
            <a:off x="493776" y="265176"/>
            <a:ext cx="9162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507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state operating model</a:t>
            </a:r>
            <a:endParaRPr lang="en-US" sz="2400" dirty="0"/>
          </a:p>
        </p:txBody>
      </p:sp>
      <p:sp>
        <p:nvSpPr>
          <p:cNvPr id="3" name="subtitle_text"/>
          <p:cNvSpPr/>
          <p:nvPr/>
        </p:nvSpPr>
        <p:spPr>
          <a:xfrm>
            <a:off x="489656" y="6035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0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integrated capabilities will enable an agile, data-driven and scalable enterprise.</a:t>
            </a:r>
            <a:endParaRPr lang="en-US" sz="1100" i="1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2779776" cy="4023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9B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27048" y="1243584"/>
            <a:ext cx="457200" cy="292608"/>
          </a:xfrm>
          <a:prstGeom prst="rect">
            <a:avLst/>
          </a:prstGeom>
          <a:solidFill>
            <a:srgbClr val="006BFF"/>
          </a:solidFill>
          <a:ln w="12700">
            <a:solidFill>
              <a:srgbClr val="00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91056" y="129387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capability_1_title_text"/>
          <p:cNvSpPr/>
          <p:nvPr/>
        </p:nvSpPr>
        <p:spPr>
          <a:xfrm>
            <a:off x="493776" y="177393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70" b="1" dirty="0">
                <a:solidFill>
                  <a:srgbClr val="00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&amp; organization</a:t>
            </a:r>
            <a:endParaRPr lang="en-US" sz="1370" dirty="0"/>
          </a:p>
        </p:txBody>
      </p:sp>
      <p:sp>
        <p:nvSpPr>
          <p:cNvPr id="9" name="capability_1_summary_text"/>
          <p:cNvSpPr/>
          <p:nvPr/>
        </p:nvSpPr>
        <p:spPr>
          <a:xfrm>
            <a:off x="493776" y="2176271"/>
            <a:ext cx="2523744" cy="557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Empower people with clear roles, accountability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a culture of performance.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" y="2761488"/>
            <a:ext cx="2523744" cy="0"/>
          </a:xfrm>
          <a:prstGeom prst="line">
            <a:avLst/>
          </a:prstGeom>
          <a:noFill/>
          <a:ln w="9525">
            <a:solidFill>
              <a:srgbClr val="9B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" y="294436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elements</a:t>
            </a:r>
            <a:endParaRPr lang="en-US" sz="1200" dirty="0"/>
          </a:p>
        </p:txBody>
      </p:sp>
      <p:sp>
        <p:nvSpPr>
          <p:cNvPr id="12" name="capability_1_elements_text"/>
          <p:cNvSpPr/>
          <p:nvPr/>
        </p:nvSpPr>
        <p:spPr>
          <a:xfrm>
            <a:off x="484632" y="3246120"/>
            <a:ext cx="2542032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 Clear roles and accountabilities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 Performance-driven culture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 Capability building and development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 Change enablement and adoption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443984"/>
            <a:ext cx="2596896" cy="786384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5216" y="455371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200" dirty="0"/>
          </a:p>
        </p:txBody>
      </p:sp>
      <p:sp>
        <p:nvSpPr>
          <p:cNvPr id="15" name="capability_1_outcome_text"/>
          <p:cNvSpPr/>
          <p:nvPr/>
        </p:nvSpPr>
        <p:spPr>
          <a:xfrm>
            <a:off x="585216" y="4773168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Engaged people delivering consistent,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high-quality outcomes.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389888"/>
            <a:ext cx="2779776" cy="4023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9B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53128" y="1243584"/>
            <a:ext cx="457200" cy="292608"/>
          </a:xfrm>
          <a:prstGeom prst="rect">
            <a:avLst/>
          </a:prstGeom>
          <a:solidFill>
            <a:srgbClr val="006BFF"/>
          </a:solidFill>
          <a:ln w="12700">
            <a:solidFill>
              <a:srgbClr val="00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17136" y="129387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capability_2_title_text"/>
          <p:cNvSpPr/>
          <p:nvPr/>
        </p:nvSpPr>
        <p:spPr>
          <a:xfrm>
            <a:off x="3419856" y="177393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70" b="1" dirty="0">
                <a:solidFill>
                  <a:srgbClr val="00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&amp; governance</a:t>
            </a:r>
            <a:endParaRPr lang="en-US" sz="1370" dirty="0"/>
          </a:p>
        </p:txBody>
      </p:sp>
      <p:sp>
        <p:nvSpPr>
          <p:cNvPr id="20" name="capability_2_summary_text"/>
          <p:cNvSpPr/>
          <p:nvPr/>
        </p:nvSpPr>
        <p:spPr>
          <a:xfrm>
            <a:off x="3419856" y="2176272"/>
            <a:ext cx="2523744" cy="557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 and control end-to-end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processes with robust governance.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19856" y="2761488"/>
            <a:ext cx="2523744" cy="0"/>
          </a:xfrm>
          <a:prstGeom prst="line">
            <a:avLst/>
          </a:prstGeom>
          <a:noFill/>
          <a:ln w="9525">
            <a:solidFill>
              <a:srgbClr val="9B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19856" y="294436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elements</a:t>
            </a:r>
            <a:endParaRPr lang="en-US" sz="1200" dirty="0"/>
          </a:p>
        </p:txBody>
      </p:sp>
      <p:sp>
        <p:nvSpPr>
          <p:cNvPr id="23" name="capability_2_elements_text"/>
          <p:cNvSpPr/>
          <p:nvPr/>
        </p:nvSpPr>
        <p:spPr>
          <a:xfrm>
            <a:off x="3410712" y="3246120"/>
            <a:ext cx="2542032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 End-to-end process standardization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 Policy-based controls and compliance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 Exception and risk management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 Performance monitoring and KPIs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4443984"/>
            <a:ext cx="2596896" cy="786384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11296" y="455371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200" dirty="0"/>
          </a:p>
        </p:txBody>
      </p:sp>
      <p:sp>
        <p:nvSpPr>
          <p:cNvPr id="26" name="capability_2_outcome_text"/>
          <p:cNvSpPr/>
          <p:nvPr/>
        </p:nvSpPr>
        <p:spPr>
          <a:xfrm>
            <a:off x="3511296" y="4773168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Efficient, compliant and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exception-light processes.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1389888"/>
            <a:ext cx="2779776" cy="4023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9B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79208" y="1243584"/>
            <a:ext cx="457200" cy="292608"/>
          </a:xfrm>
          <a:prstGeom prst="rect">
            <a:avLst/>
          </a:prstGeom>
          <a:solidFill>
            <a:srgbClr val="006BFF"/>
          </a:solidFill>
          <a:ln w="12700">
            <a:solidFill>
              <a:srgbClr val="00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443216" y="129387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30" name="capability_3_title_text"/>
          <p:cNvSpPr/>
          <p:nvPr/>
        </p:nvSpPr>
        <p:spPr>
          <a:xfrm>
            <a:off x="6345936" y="177393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70" b="1" dirty="0">
                <a:solidFill>
                  <a:srgbClr val="00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&amp; data</a:t>
            </a:r>
            <a:endParaRPr lang="en-US" sz="1370" dirty="0"/>
          </a:p>
        </p:txBody>
      </p:sp>
      <p:sp>
        <p:nvSpPr>
          <p:cNvPr id="31" name="capability_3_summary_text"/>
          <p:cNvSpPr/>
          <p:nvPr/>
        </p:nvSpPr>
        <p:spPr>
          <a:xfrm>
            <a:off x="6345936" y="2176272"/>
            <a:ext cx="2523744" cy="557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Leverage integrated platforms and trusted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to drive insights and automation.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45936" y="2761488"/>
            <a:ext cx="2523744" cy="0"/>
          </a:xfrm>
          <a:prstGeom prst="line">
            <a:avLst/>
          </a:prstGeom>
          <a:noFill/>
          <a:ln w="9525">
            <a:solidFill>
              <a:srgbClr val="9B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45936" y="294436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elements</a:t>
            </a:r>
            <a:endParaRPr lang="en-US" sz="1200" dirty="0"/>
          </a:p>
        </p:txBody>
      </p:sp>
      <p:sp>
        <p:nvSpPr>
          <p:cNvPr id="34" name="capability_3_elements_text"/>
          <p:cNvSpPr/>
          <p:nvPr/>
        </p:nvSpPr>
        <p:spPr>
          <a:xfrm>
            <a:off x="6336792" y="3246120"/>
            <a:ext cx="2542032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 Integrated platforms and interfaces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 Automation and workflow orchestration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 Single source of truth for data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 Advanced analytics and insights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09360" y="4443984"/>
            <a:ext cx="2596896" cy="786384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37376" y="455371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200" dirty="0"/>
          </a:p>
        </p:txBody>
      </p:sp>
      <p:sp>
        <p:nvSpPr>
          <p:cNvPr id="37" name="capability_3_outcome_text"/>
          <p:cNvSpPr/>
          <p:nvPr/>
        </p:nvSpPr>
        <p:spPr>
          <a:xfrm>
            <a:off x="6437376" y="4773168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visibility and data-driven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making.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144000" y="1389888"/>
            <a:ext cx="2779776" cy="4023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9B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0305288" y="1243584"/>
            <a:ext cx="457200" cy="292608"/>
          </a:xfrm>
          <a:prstGeom prst="rect">
            <a:avLst/>
          </a:prstGeom>
          <a:solidFill>
            <a:srgbClr val="006BFF"/>
          </a:solidFill>
          <a:ln w="12700">
            <a:solidFill>
              <a:srgbClr val="00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369296" y="129387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41" name="capability_4_title_text"/>
          <p:cNvSpPr/>
          <p:nvPr/>
        </p:nvSpPr>
        <p:spPr>
          <a:xfrm>
            <a:off x="9272016" y="177393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70" b="1" dirty="0">
                <a:solidFill>
                  <a:srgbClr val="00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 &amp; ecosystem</a:t>
            </a:r>
            <a:endParaRPr lang="en-US" sz="1370" dirty="0"/>
          </a:p>
        </p:txBody>
      </p:sp>
      <p:sp>
        <p:nvSpPr>
          <p:cNvPr id="42" name="capability_4_summary_text"/>
          <p:cNvSpPr/>
          <p:nvPr/>
        </p:nvSpPr>
        <p:spPr>
          <a:xfrm>
            <a:off x="9272016" y="2176272"/>
            <a:ext cx="2523744" cy="557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collaborative supplier relationships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ecosystem partnerships.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272016" y="2761488"/>
            <a:ext cx="2523744" cy="0"/>
          </a:xfrm>
          <a:prstGeom prst="line">
            <a:avLst/>
          </a:prstGeom>
          <a:noFill/>
          <a:ln w="9525">
            <a:solidFill>
              <a:srgbClr val="9B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272016" y="294436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elements</a:t>
            </a:r>
            <a:endParaRPr lang="en-US" sz="1200" dirty="0"/>
          </a:p>
        </p:txBody>
      </p:sp>
      <p:sp>
        <p:nvSpPr>
          <p:cNvPr id="45" name="capability_4_elements_text"/>
          <p:cNvSpPr/>
          <p:nvPr/>
        </p:nvSpPr>
        <p:spPr>
          <a:xfrm>
            <a:off x="9262872" y="3246120"/>
            <a:ext cx="2542032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 Strategic supplier management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 Transparent performance management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 Risk and continuity management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 Innovation and value co-creation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235440" y="4443984"/>
            <a:ext cx="2596896" cy="786384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363456" y="455371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200" dirty="0"/>
          </a:p>
        </p:txBody>
      </p:sp>
      <p:sp>
        <p:nvSpPr>
          <p:cNvPr id="48" name="capability_4_outcome_text"/>
          <p:cNvSpPr/>
          <p:nvPr/>
        </p:nvSpPr>
        <p:spPr>
          <a:xfrm>
            <a:off x="9363456" y="4773168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Resilient ecosystem delivering shared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sustainable value.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5596128"/>
            <a:ext cx="11484864" cy="658368"/>
          </a:xfrm>
          <a:prstGeom prst="rect">
            <a:avLst/>
          </a:prstGeom>
          <a:solidFill>
            <a:srgbClr val="EEF6FF"/>
          </a:solidFill>
          <a:ln w="8890">
            <a:solidFill>
              <a:srgbClr val="D6E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enabler_1_title_text"/>
          <p:cNvSpPr/>
          <p:nvPr/>
        </p:nvSpPr>
        <p:spPr>
          <a:xfrm>
            <a:off x="484632" y="5815584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0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integration</a:t>
            </a:r>
            <a:endParaRPr lang="en-US" sz="920" dirty="0"/>
          </a:p>
        </p:txBody>
      </p:sp>
      <p:sp>
        <p:nvSpPr>
          <p:cNvPr id="51" name="enabler_1_body_text"/>
          <p:cNvSpPr/>
          <p:nvPr/>
        </p:nvSpPr>
        <p:spPr>
          <a:xfrm>
            <a:off x="530352" y="6035040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Seamless flow of work across all capabilities.</a:t>
            </a:r>
            <a:endParaRPr lang="en-US" sz="790" dirty="0"/>
          </a:p>
        </p:txBody>
      </p:sp>
      <p:sp>
        <p:nvSpPr>
          <p:cNvPr id="52" name="Shape 50"/>
          <p:cNvSpPr/>
          <p:nvPr/>
        </p:nvSpPr>
        <p:spPr>
          <a:xfrm>
            <a:off x="3236976" y="5724144"/>
            <a:ext cx="0" cy="493776"/>
          </a:xfrm>
          <a:prstGeom prst="line">
            <a:avLst/>
          </a:prstGeom>
          <a:noFill/>
          <a:ln w="10160">
            <a:solidFill>
              <a:srgbClr val="00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enabler_2_title_text"/>
          <p:cNvSpPr/>
          <p:nvPr/>
        </p:nvSpPr>
        <p:spPr>
          <a:xfrm>
            <a:off x="3355848" y="5815584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0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 governance</a:t>
            </a:r>
            <a:endParaRPr lang="en-US" sz="920" dirty="0"/>
          </a:p>
        </p:txBody>
      </p:sp>
      <p:sp>
        <p:nvSpPr>
          <p:cNvPr id="54" name="enabler_2_body_text"/>
          <p:cNvSpPr/>
          <p:nvPr/>
        </p:nvSpPr>
        <p:spPr>
          <a:xfrm>
            <a:off x="3401568" y="6035040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 controls, risk management and compliance.</a:t>
            </a:r>
            <a:endParaRPr lang="en-US" sz="790" dirty="0"/>
          </a:p>
        </p:txBody>
      </p:sp>
      <p:sp>
        <p:nvSpPr>
          <p:cNvPr id="55" name="Shape 53"/>
          <p:cNvSpPr/>
          <p:nvPr/>
        </p:nvSpPr>
        <p:spPr>
          <a:xfrm>
            <a:off x="6108192" y="5724144"/>
            <a:ext cx="0" cy="493776"/>
          </a:xfrm>
          <a:prstGeom prst="line">
            <a:avLst/>
          </a:prstGeom>
          <a:noFill/>
          <a:ln w="10160">
            <a:solidFill>
              <a:srgbClr val="00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enabler_3_title_text"/>
          <p:cNvSpPr/>
          <p:nvPr/>
        </p:nvSpPr>
        <p:spPr>
          <a:xfrm>
            <a:off x="6227064" y="5815584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0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improvement</a:t>
            </a:r>
            <a:endParaRPr lang="en-US" sz="920" dirty="0"/>
          </a:p>
        </p:txBody>
      </p:sp>
      <p:sp>
        <p:nvSpPr>
          <p:cNvPr id="57" name="enabler_3_body_text"/>
          <p:cNvSpPr/>
          <p:nvPr/>
        </p:nvSpPr>
        <p:spPr>
          <a:xfrm>
            <a:off x="6272784" y="6035040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Data-led insights drive ongoing optimization.</a:t>
            </a:r>
            <a:endParaRPr lang="en-US" sz="790" dirty="0"/>
          </a:p>
        </p:txBody>
      </p:sp>
      <p:sp>
        <p:nvSpPr>
          <p:cNvPr id="58" name="Shape 56"/>
          <p:cNvSpPr/>
          <p:nvPr/>
        </p:nvSpPr>
        <p:spPr>
          <a:xfrm>
            <a:off x="8979408" y="5724144"/>
            <a:ext cx="0" cy="493776"/>
          </a:xfrm>
          <a:prstGeom prst="line">
            <a:avLst/>
          </a:prstGeom>
          <a:noFill/>
          <a:ln w="10160">
            <a:solidFill>
              <a:srgbClr val="00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enabler_4_title_text"/>
          <p:cNvSpPr/>
          <p:nvPr/>
        </p:nvSpPr>
        <p:spPr>
          <a:xfrm>
            <a:off x="9098280" y="5815584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0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centricity</a:t>
            </a:r>
            <a:endParaRPr lang="en-US" sz="920" dirty="0"/>
          </a:p>
        </p:txBody>
      </p:sp>
      <p:sp>
        <p:nvSpPr>
          <p:cNvPr id="60" name="enabler_4_body_text"/>
          <p:cNvSpPr/>
          <p:nvPr/>
        </p:nvSpPr>
        <p:spPr>
          <a:xfrm>
            <a:off x="9144000" y="6035040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around customer needs and experience.</a:t>
            </a:r>
            <a:endParaRPr lang="en-US" sz="790" dirty="0"/>
          </a:p>
        </p:txBody>
      </p:sp>
      <p:sp>
        <p:nvSpPr>
          <p:cNvPr id="63" name="Text 61"/>
          <p:cNvSpPr/>
          <p:nvPr/>
        </p:nvSpPr>
        <p:spPr>
          <a:xfrm>
            <a:off x="10954512" y="656539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10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tem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y temp" id="{73531C1D-6AE1-E449-8BB8-2383CD9BA9E4}" vid="{07C013BB-F2D3-844E-B176-62F60C4A8C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ey temp</Template>
  <TotalTime>5</TotalTime>
  <Words>232</Words>
  <Application>Microsoft Macintosh PowerPoint</Application>
  <PresentationFormat>Widescreen</PresentationFormat>
  <Paragraphs>59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EYInterstate Light</vt:lpstr>
      <vt:lpstr>Wingdings</vt:lpstr>
      <vt:lpstr>ey temp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 state operating model</dc:title>
  <dc:subject>Editable future state operating model slide</dc:subject>
  <dc:creator>OpenAI</dc:creator>
  <cp:lastModifiedBy>Madhav Kapoor</cp:lastModifiedBy>
  <cp:revision>4</cp:revision>
  <dcterms:created xsi:type="dcterms:W3CDTF">2026-07-15T14:30:08Z</dcterms:created>
  <dcterms:modified xsi:type="dcterms:W3CDTF">2026-07-21T07:25:11Z</dcterms:modified>
</cp:coreProperties>
</file>