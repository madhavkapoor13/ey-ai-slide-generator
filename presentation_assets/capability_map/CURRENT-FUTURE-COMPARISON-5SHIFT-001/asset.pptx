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5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9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1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6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6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8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77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9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8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7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358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34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 txBox="1"/>
          <p:nvPr/>
        </p:nvSpPr>
        <p:spPr>
          <a:xfrm>
            <a:off x="436997" y="211538"/>
            <a:ext cx="1048264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dirty="0">
                <a:solidFill>
                  <a:srgbClr val="030822"/>
                </a:solidFill>
                <a:latin typeface="Arial"/>
              </a:rPr>
              <a:t>Current state vs. future state</a:t>
            </a:r>
          </a:p>
        </p:txBody>
      </p:sp>
      <p:sp>
        <p:nvSpPr>
          <p:cNvPr id="3" name="subtitle_text"/>
          <p:cNvSpPr txBox="1"/>
          <p:nvPr/>
        </p:nvSpPr>
        <p:spPr>
          <a:xfrm>
            <a:off x="436997" y="574691"/>
            <a:ext cx="6081921" cy="20621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0" i="1" dirty="0">
                <a:solidFill>
                  <a:srgbClr val="005CE6"/>
                </a:solidFill>
                <a:latin typeface="Arial"/>
              </a:rPr>
              <a:t>Five structural shifts will simplify execution, strengthen control and enable scalable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39" y="1310640"/>
            <a:ext cx="3848099" cy="320040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39" y="1371600"/>
            <a:ext cx="3848099" cy="1905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CURRENT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8639" y="1310640"/>
            <a:ext cx="3276599" cy="320040"/>
          </a:xfrm>
          <a:prstGeom prst="rect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58639" y="1371600"/>
            <a:ext cx="3276599" cy="1905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TRANSFORMATION SHIFTS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0499" y="1310640"/>
            <a:ext cx="4023359" cy="320040"/>
          </a:xfrm>
          <a:prstGeom prst="rect">
            <a:avLst/>
          </a:prstGeom>
          <a:solidFill>
            <a:srgbClr val="EBF5FF"/>
          </a:solidFill>
          <a:ln>
            <a:solidFill>
              <a:srgbClr val="EB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0499" y="1371600"/>
            <a:ext cx="4023359" cy="1905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005CE6"/>
                </a:solidFill>
                <a:latin typeface="Arial"/>
              </a:rPr>
              <a:t>FUTURE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39" y="1729740"/>
            <a:ext cx="3848099" cy="65532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urrent_1_text"/>
          <p:cNvSpPr txBox="1"/>
          <p:nvPr/>
        </p:nvSpPr>
        <p:spPr>
          <a:xfrm>
            <a:off x="563879" y="1912620"/>
            <a:ext cx="3428999" cy="2438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0" dirty="0">
                <a:solidFill>
                  <a:srgbClr val="030822"/>
                </a:solidFill>
                <a:latin typeface="Arial"/>
              </a:rPr>
              <a:t>Fragmented ownership across teams</a:t>
            </a:r>
          </a:p>
        </p:txBody>
      </p:sp>
      <p:sp>
        <p:nvSpPr>
          <p:cNvPr id="13" name="current_1_box"/>
          <p:cNvSpPr/>
          <p:nvPr/>
        </p:nvSpPr>
        <p:spPr>
          <a:xfrm>
            <a:off x="4358639" y="1729740"/>
            <a:ext cx="3276599" cy="655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hift_1_text"/>
          <p:cNvSpPr txBox="1"/>
          <p:nvPr/>
        </p:nvSpPr>
        <p:spPr>
          <a:xfrm>
            <a:off x="4472939" y="1935480"/>
            <a:ext cx="3047999" cy="213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50" b="0" dirty="0">
                <a:solidFill>
                  <a:srgbClr val="005CE6"/>
                </a:solidFill>
                <a:latin typeface="Arial"/>
              </a:rPr>
              <a:t>Clarify accountability</a:t>
            </a:r>
          </a:p>
        </p:txBody>
      </p:sp>
      <p:sp>
        <p:nvSpPr>
          <p:cNvPr id="15" name="future_1_box"/>
          <p:cNvSpPr/>
          <p:nvPr/>
        </p:nvSpPr>
        <p:spPr>
          <a:xfrm>
            <a:off x="7810499" y="1729740"/>
            <a:ext cx="4023359" cy="655320"/>
          </a:xfrm>
          <a:prstGeom prst="rect">
            <a:avLst/>
          </a:prstGeom>
          <a:solidFill>
            <a:srgbClr val="EBF5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uture_1_text"/>
          <p:cNvSpPr txBox="1"/>
          <p:nvPr/>
        </p:nvSpPr>
        <p:spPr>
          <a:xfrm>
            <a:off x="8115299" y="1897380"/>
            <a:ext cx="3451859" cy="3429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50" b="0" dirty="0">
                <a:solidFill>
                  <a:srgbClr val="030822"/>
                </a:solidFill>
                <a:latin typeface="Arial"/>
              </a:rPr>
              <a:t>End-to-end accountability by process</a:t>
            </a:r>
          </a:p>
        </p:txBody>
      </p:sp>
      <p:sp>
        <p:nvSpPr>
          <p:cNvPr id="17" name="arrow_1_box"/>
          <p:cNvSpPr/>
          <p:nvPr/>
        </p:nvSpPr>
        <p:spPr>
          <a:xfrm>
            <a:off x="4213858" y="1935480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Triangle 17"/>
          <p:cNvSpPr/>
          <p:nvPr/>
        </p:nvSpPr>
        <p:spPr>
          <a:xfrm>
            <a:off x="7680959" y="1935480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39" y="2480310"/>
            <a:ext cx="3848099" cy="65532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urrent_2_text"/>
          <p:cNvSpPr txBox="1"/>
          <p:nvPr/>
        </p:nvSpPr>
        <p:spPr>
          <a:xfrm>
            <a:off x="563879" y="2663190"/>
            <a:ext cx="3428999" cy="2438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0" dirty="0">
                <a:solidFill>
                  <a:srgbClr val="030822"/>
                </a:solidFill>
                <a:latin typeface="Arial"/>
              </a:rPr>
              <a:t>Manual approvals and handoffs</a:t>
            </a:r>
          </a:p>
        </p:txBody>
      </p:sp>
      <p:sp>
        <p:nvSpPr>
          <p:cNvPr id="21" name="current_2_box"/>
          <p:cNvSpPr/>
          <p:nvPr/>
        </p:nvSpPr>
        <p:spPr>
          <a:xfrm>
            <a:off x="4358639" y="2480310"/>
            <a:ext cx="3276599" cy="655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hift_2_text"/>
          <p:cNvSpPr txBox="1"/>
          <p:nvPr/>
        </p:nvSpPr>
        <p:spPr>
          <a:xfrm>
            <a:off x="4472939" y="2686050"/>
            <a:ext cx="3047999" cy="213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50" b="0">
                <a:solidFill>
                  <a:srgbClr val="005CE6"/>
                </a:solidFill>
                <a:latin typeface="Arial"/>
              </a:rPr>
              <a:t>Standardize and automate</a:t>
            </a:r>
          </a:p>
        </p:txBody>
      </p:sp>
      <p:sp>
        <p:nvSpPr>
          <p:cNvPr id="23" name="future_2_box"/>
          <p:cNvSpPr/>
          <p:nvPr/>
        </p:nvSpPr>
        <p:spPr>
          <a:xfrm>
            <a:off x="7810499" y="2480310"/>
            <a:ext cx="4023359" cy="655320"/>
          </a:xfrm>
          <a:prstGeom prst="rect">
            <a:avLst/>
          </a:prstGeom>
          <a:solidFill>
            <a:srgbClr val="EBF5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uture_2_text"/>
          <p:cNvSpPr txBox="1"/>
          <p:nvPr/>
        </p:nvSpPr>
        <p:spPr>
          <a:xfrm>
            <a:off x="8115299" y="2575560"/>
            <a:ext cx="3512822" cy="4832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0" dirty="0">
                <a:solidFill>
                  <a:srgbClr val="030822"/>
                </a:solidFill>
                <a:latin typeface="Arial"/>
              </a:rPr>
              <a:t>Policy-driven workflow and
straight-through processing</a:t>
            </a:r>
          </a:p>
        </p:txBody>
      </p:sp>
      <p:sp>
        <p:nvSpPr>
          <p:cNvPr id="25" name="arrow_2_box"/>
          <p:cNvSpPr/>
          <p:nvPr/>
        </p:nvSpPr>
        <p:spPr>
          <a:xfrm>
            <a:off x="4213858" y="2686050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Triangle 25"/>
          <p:cNvSpPr/>
          <p:nvPr/>
        </p:nvSpPr>
        <p:spPr>
          <a:xfrm>
            <a:off x="7680959" y="2686050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39" y="3230880"/>
            <a:ext cx="3848099" cy="65532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urrent_3_text"/>
          <p:cNvSpPr txBox="1"/>
          <p:nvPr/>
        </p:nvSpPr>
        <p:spPr>
          <a:xfrm>
            <a:off x="563879" y="3413760"/>
            <a:ext cx="3428999" cy="2438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0" dirty="0">
                <a:solidFill>
                  <a:srgbClr val="030822"/>
                </a:solidFill>
                <a:latin typeface="Arial"/>
              </a:rPr>
              <a:t>Multiple data sources and limited visibility</a:t>
            </a:r>
          </a:p>
        </p:txBody>
      </p:sp>
      <p:sp>
        <p:nvSpPr>
          <p:cNvPr id="29" name="current_3_box"/>
          <p:cNvSpPr/>
          <p:nvPr/>
        </p:nvSpPr>
        <p:spPr>
          <a:xfrm>
            <a:off x="4358639" y="3230880"/>
            <a:ext cx="3276599" cy="655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shift_3_text"/>
          <p:cNvSpPr txBox="1"/>
          <p:nvPr/>
        </p:nvSpPr>
        <p:spPr>
          <a:xfrm>
            <a:off x="4472939" y="3436620"/>
            <a:ext cx="3047999" cy="213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50" b="0" dirty="0">
                <a:solidFill>
                  <a:srgbClr val="005CE6"/>
                </a:solidFill>
                <a:latin typeface="Arial"/>
              </a:rPr>
              <a:t>Integrate and govern data</a:t>
            </a:r>
          </a:p>
        </p:txBody>
      </p:sp>
      <p:sp>
        <p:nvSpPr>
          <p:cNvPr id="31" name="future_3_box"/>
          <p:cNvSpPr/>
          <p:nvPr/>
        </p:nvSpPr>
        <p:spPr>
          <a:xfrm>
            <a:off x="7810499" y="3230880"/>
            <a:ext cx="4023359" cy="655320"/>
          </a:xfrm>
          <a:prstGeom prst="rect">
            <a:avLst/>
          </a:prstGeom>
          <a:solidFill>
            <a:srgbClr val="EBF5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uture_3_text"/>
          <p:cNvSpPr txBox="1"/>
          <p:nvPr/>
        </p:nvSpPr>
        <p:spPr>
          <a:xfrm>
            <a:off x="8115299" y="3326130"/>
            <a:ext cx="3512822" cy="4832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0" dirty="0">
                <a:solidFill>
                  <a:srgbClr val="030822"/>
                </a:solidFill>
                <a:latin typeface="Arial"/>
              </a:rPr>
              <a:t>Trusted data foundation and
real-time visibility</a:t>
            </a:r>
          </a:p>
        </p:txBody>
      </p:sp>
      <p:sp>
        <p:nvSpPr>
          <p:cNvPr id="33" name="arrow_3_box"/>
          <p:cNvSpPr/>
          <p:nvPr/>
        </p:nvSpPr>
        <p:spPr>
          <a:xfrm>
            <a:off x="4213858" y="3436620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Triangle 33"/>
          <p:cNvSpPr/>
          <p:nvPr/>
        </p:nvSpPr>
        <p:spPr>
          <a:xfrm>
            <a:off x="7680959" y="3436620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39" y="3981450"/>
            <a:ext cx="3848099" cy="65532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urrent_4_text"/>
          <p:cNvSpPr txBox="1"/>
          <p:nvPr/>
        </p:nvSpPr>
        <p:spPr>
          <a:xfrm>
            <a:off x="563879" y="4164330"/>
            <a:ext cx="3428999" cy="2438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0" dirty="0">
                <a:solidFill>
                  <a:srgbClr val="030822"/>
                </a:solidFill>
                <a:latin typeface="Arial"/>
              </a:rPr>
              <a:t>Reactive issue resolution</a:t>
            </a:r>
          </a:p>
        </p:txBody>
      </p:sp>
      <p:sp>
        <p:nvSpPr>
          <p:cNvPr id="37" name="current_4_box"/>
          <p:cNvSpPr/>
          <p:nvPr/>
        </p:nvSpPr>
        <p:spPr>
          <a:xfrm>
            <a:off x="4358639" y="3981450"/>
            <a:ext cx="3276599" cy="655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shift_4_text"/>
          <p:cNvSpPr txBox="1"/>
          <p:nvPr/>
        </p:nvSpPr>
        <p:spPr>
          <a:xfrm>
            <a:off x="4472939" y="4187189"/>
            <a:ext cx="3047999" cy="213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50" b="0" dirty="0">
                <a:solidFill>
                  <a:srgbClr val="005CE6"/>
                </a:solidFill>
                <a:latin typeface="Arial"/>
              </a:rPr>
              <a:t>Embed controls and insights</a:t>
            </a:r>
          </a:p>
        </p:txBody>
      </p:sp>
      <p:sp>
        <p:nvSpPr>
          <p:cNvPr id="39" name="future_4_box"/>
          <p:cNvSpPr/>
          <p:nvPr/>
        </p:nvSpPr>
        <p:spPr>
          <a:xfrm>
            <a:off x="7810499" y="3981450"/>
            <a:ext cx="4023359" cy="655320"/>
          </a:xfrm>
          <a:prstGeom prst="rect">
            <a:avLst/>
          </a:prstGeom>
          <a:solidFill>
            <a:srgbClr val="EBF5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uture_4_text"/>
          <p:cNvSpPr txBox="1"/>
          <p:nvPr/>
        </p:nvSpPr>
        <p:spPr>
          <a:xfrm>
            <a:off x="8115299" y="4072229"/>
            <a:ext cx="3272171" cy="4832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0" dirty="0">
                <a:solidFill>
                  <a:srgbClr val="030822"/>
                </a:solidFill>
                <a:latin typeface="Arial"/>
              </a:rPr>
              <a:t>Predictive intervention and
exception management</a:t>
            </a:r>
          </a:p>
        </p:txBody>
      </p:sp>
      <p:sp>
        <p:nvSpPr>
          <p:cNvPr id="41" name="arrow_4_box"/>
          <p:cNvSpPr/>
          <p:nvPr/>
        </p:nvSpPr>
        <p:spPr>
          <a:xfrm>
            <a:off x="4213858" y="4187189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ight Triangle 41"/>
          <p:cNvSpPr/>
          <p:nvPr/>
        </p:nvSpPr>
        <p:spPr>
          <a:xfrm>
            <a:off x="7680959" y="4187189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39" y="4732020"/>
            <a:ext cx="3848099" cy="65532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urrent_5_text"/>
          <p:cNvSpPr txBox="1"/>
          <p:nvPr/>
        </p:nvSpPr>
        <p:spPr>
          <a:xfrm>
            <a:off x="563879" y="4914900"/>
            <a:ext cx="3428999" cy="2438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0" dirty="0">
                <a:solidFill>
                  <a:srgbClr val="030822"/>
                </a:solidFill>
                <a:latin typeface="Arial"/>
              </a:rPr>
              <a:t>Inconsistent KPI tracking</a:t>
            </a:r>
          </a:p>
        </p:txBody>
      </p:sp>
      <p:sp>
        <p:nvSpPr>
          <p:cNvPr id="45" name="current_5_box"/>
          <p:cNvSpPr/>
          <p:nvPr/>
        </p:nvSpPr>
        <p:spPr>
          <a:xfrm>
            <a:off x="4358639" y="4732020"/>
            <a:ext cx="3276599" cy="6553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shift_5_text"/>
          <p:cNvSpPr txBox="1"/>
          <p:nvPr/>
        </p:nvSpPr>
        <p:spPr>
          <a:xfrm>
            <a:off x="4472939" y="4937760"/>
            <a:ext cx="3047999" cy="2133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50" b="0" dirty="0">
                <a:solidFill>
                  <a:srgbClr val="005CE6"/>
                </a:solidFill>
                <a:latin typeface="Arial"/>
              </a:rPr>
              <a:t>Measure performance transparently</a:t>
            </a:r>
          </a:p>
        </p:txBody>
      </p:sp>
      <p:sp>
        <p:nvSpPr>
          <p:cNvPr id="47" name="future_5_box"/>
          <p:cNvSpPr/>
          <p:nvPr/>
        </p:nvSpPr>
        <p:spPr>
          <a:xfrm>
            <a:off x="7810499" y="4732020"/>
            <a:ext cx="4023359" cy="655320"/>
          </a:xfrm>
          <a:prstGeom prst="rect">
            <a:avLst/>
          </a:prstGeom>
          <a:solidFill>
            <a:srgbClr val="EBF5FF"/>
          </a:solidFill>
          <a:ln w="6350">
            <a:solidFill>
              <a:srgbClr val="BFD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future_5_text"/>
          <p:cNvSpPr txBox="1"/>
          <p:nvPr/>
        </p:nvSpPr>
        <p:spPr>
          <a:xfrm>
            <a:off x="8115299" y="4827270"/>
            <a:ext cx="3512822" cy="48320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0" dirty="0">
                <a:solidFill>
                  <a:srgbClr val="030822"/>
                </a:solidFill>
                <a:latin typeface="Arial"/>
              </a:rPr>
              <a:t>Real-time KPI management and
decision support</a:t>
            </a:r>
          </a:p>
        </p:txBody>
      </p:sp>
      <p:sp>
        <p:nvSpPr>
          <p:cNvPr id="49" name="arrow_5_box"/>
          <p:cNvSpPr/>
          <p:nvPr/>
        </p:nvSpPr>
        <p:spPr>
          <a:xfrm>
            <a:off x="4213858" y="4937760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ght Triangle 49"/>
          <p:cNvSpPr/>
          <p:nvPr/>
        </p:nvSpPr>
        <p:spPr>
          <a:xfrm>
            <a:off x="7680959" y="4937760"/>
            <a:ext cx="76199" cy="243840"/>
          </a:xfrm>
          <a:prstGeom prst="rtTriangle">
            <a:avLst/>
          </a:prstGeom>
          <a:solidFill>
            <a:srgbClr val="005CE6"/>
          </a:solidFill>
          <a:ln>
            <a:solidFill>
              <a:srgbClr val="005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20039" y="5547360"/>
            <a:ext cx="11529059" cy="563880"/>
          </a:xfrm>
          <a:prstGeom prst="rect">
            <a:avLst/>
          </a:prstGeom>
          <a:solidFill>
            <a:srgbClr val="EBF5FF"/>
          </a:solidFill>
          <a:ln w="10160"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akeaway_text"/>
          <p:cNvSpPr txBox="1"/>
          <p:nvPr/>
        </p:nvSpPr>
        <p:spPr>
          <a:xfrm>
            <a:off x="636270" y="5700803"/>
            <a:ext cx="10919459" cy="25699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30" b="1" dirty="0">
                <a:solidFill>
                  <a:srgbClr val="005CE6"/>
                </a:solidFill>
                <a:latin typeface="Arial"/>
              </a:rPr>
              <a:t>The target state replaces fragmented, manual execution with an integrated, controlled and insight-led operating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5</TotalTime>
  <Words>110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5</cp:revision>
  <dcterms:created xsi:type="dcterms:W3CDTF">2013-01-27T09:14:16Z</dcterms:created>
  <dcterms:modified xsi:type="dcterms:W3CDTF">2026-07-21T07:24:44Z</dcterms:modified>
  <cp:category/>
</cp:coreProperties>
</file>