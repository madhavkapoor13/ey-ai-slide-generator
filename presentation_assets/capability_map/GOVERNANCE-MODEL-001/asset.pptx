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588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899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219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740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587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204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B72F54E-4194-5DC9-591C-0D5B29EDF843}"/>
              </a:ext>
            </a:extLst>
          </p:cNvPr>
          <p:cNvSpPr/>
          <p:nvPr/>
        </p:nvSpPr>
        <p:spPr bwMode="auto">
          <a:xfrm>
            <a:off x="481584" y="796996"/>
            <a:ext cx="11228832" cy="36000"/>
          </a:xfrm>
          <a:prstGeom prst="rect">
            <a:avLst/>
          </a:prstGeom>
          <a:gradFill>
            <a:gsLst>
              <a:gs pos="0">
                <a:srgbClr val="1A9AFA"/>
              </a:gs>
              <a:gs pos="100000">
                <a:srgbClr val="072E65"/>
              </a:gs>
            </a:gsLst>
            <a:lin ang="0" scaled="0"/>
          </a:gradFill>
        </p:spPr>
        <p:txBody>
          <a:bodyPr vert="horz" lIns="0" tIns="0" rIns="0" bIns="0" rtlCol="0" anchor="t" anchorCtr="0">
            <a:noAutofit/>
          </a:bodyPr>
          <a:lstStyle/>
          <a:p>
            <a:pPr marR="0" lvl="0" indent="0" fontAlgn="auto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1A9AFA"/>
              </a:buClr>
              <a:buSzPct val="100000"/>
              <a:buFont typeface="Wingdings" pitchFamily="2" charset="2"/>
              <a:buNone/>
              <a:tabLst/>
            </a:pPr>
            <a:endParaRPr kumimoji="0" lang="en-US" sz="800" b="0" i="0" u="none" strike="noStrike" cap="none" spc="0" normalizeH="0" baseline="0">
              <a:ln>
                <a:noFill/>
              </a:ln>
              <a:solidFill>
                <a:srgbClr val="191924"/>
              </a:solidFill>
              <a:effectLst/>
              <a:uLnTx/>
              <a:uFillTx/>
              <a:latin typeface="EYInterstate Light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F2222D9-DFA4-44EC-7B21-7B0D8325944A}"/>
              </a:ext>
            </a:extLst>
          </p:cNvPr>
          <p:cNvGrpSpPr>
            <a:grpSpLocks noChangeAspect="1"/>
          </p:cNvGrpSpPr>
          <p:nvPr/>
        </p:nvGrpSpPr>
        <p:grpSpPr>
          <a:xfrm>
            <a:off x="11023155" y="6339264"/>
            <a:ext cx="954455" cy="331649"/>
            <a:chOff x="9258171" y="4332267"/>
            <a:chExt cx="2341035" cy="755058"/>
          </a:xfrm>
        </p:grpSpPr>
        <p:sp>
          <p:nvSpPr>
            <p:cNvPr id="7" name="Freeform 107">
              <a:extLst>
                <a:ext uri="{FF2B5EF4-FFF2-40B4-BE49-F238E27FC236}">
                  <a16:creationId xmlns:a16="http://schemas.microsoft.com/office/drawing/2014/main" id="{F6892F0E-E1F0-977C-E068-4C2DA97438A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91892" y="4824181"/>
              <a:ext cx="190838" cy="259589"/>
            </a:xfrm>
            <a:custGeom>
              <a:avLst/>
              <a:gdLst>
                <a:gd name="T0" fmla="*/ 118 w 148"/>
                <a:gd name="T1" fmla="*/ 63 h 201"/>
                <a:gd name="T2" fmla="*/ 115 w 148"/>
                <a:gd name="T3" fmla="*/ 48 h 201"/>
                <a:gd name="T4" fmla="*/ 108 w 148"/>
                <a:gd name="T5" fmla="*/ 37 h 201"/>
                <a:gd name="T6" fmla="*/ 98 w 148"/>
                <a:gd name="T7" fmla="*/ 31 h 201"/>
                <a:gd name="T8" fmla="*/ 83 w 148"/>
                <a:gd name="T9" fmla="*/ 28 h 201"/>
                <a:gd name="T10" fmla="*/ 30 w 148"/>
                <a:gd name="T11" fmla="*/ 28 h 201"/>
                <a:gd name="T12" fmla="*/ 30 w 148"/>
                <a:gd name="T13" fmla="*/ 98 h 201"/>
                <a:gd name="T14" fmla="*/ 83 w 148"/>
                <a:gd name="T15" fmla="*/ 98 h 201"/>
                <a:gd name="T16" fmla="*/ 109 w 148"/>
                <a:gd name="T17" fmla="*/ 88 h 201"/>
                <a:gd name="T18" fmla="*/ 118 w 148"/>
                <a:gd name="T19" fmla="*/ 63 h 201"/>
                <a:gd name="T20" fmla="*/ 148 w 148"/>
                <a:gd name="T21" fmla="*/ 63 h 201"/>
                <a:gd name="T22" fmla="*/ 144 w 148"/>
                <a:gd name="T23" fmla="*/ 90 h 201"/>
                <a:gd name="T24" fmla="*/ 130 w 148"/>
                <a:gd name="T25" fmla="*/ 110 h 201"/>
                <a:gd name="T26" fmla="*/ 109 w 148"/>
                <a:gd name="T27" fmla="*/ 122 h 201"/>
                <a:gd name="T28" fmla="*/ 82 w 148"/>
                <a:gd name="T29" fmla="*/ 126 h 201"/>
                <a:gd name="T30" fmla="*/ 30 w 148"/>
                <a:gd name="T31" fmla="*/ 126 h 201"/>
                <a:gd name="T32" fmla="*/ 30 w 148"/>
                <a:gd name="T33" fmla="*/ 201 h 201"/>
                <a:gd name="T34" fmla="*/ 0 w 148"/>
                <a:gd name="T35" fmla="*/ 201 h 201"/>
                <a:gd name="T36" fmla="*/ 0 w 148"/>
                <a:gd name="T37" fmla="*/ 0 h 201"/>
                <a:gd name="T38" fmla="*/ 84 w 148"/>
                <a:gd name="T39" fmla="*/ 0 h 201"/>
                <a:gd name="T40" fmla="*/ 110 w 148"/>
                <a:gd name="T41" fmla="*/ 4 h 201"/>
                <a:gd name="T42" fmla="*/ 130 w 148"/>
                <a:gd name="T43" fmla="*/ 16 h 201"/>
                <a:gd name="T44" fmla="*/ 144 w 148"/>
                <a:gd name="T45" fmla="*/ 35 h 201"/>
                <a:gd name="T46" fmla="*/ 148 w 148"/>
                <a:gd name="T47" fmla="*/ 63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48" h="201">
                  <a:moveTo>
                    <a:pt x="118" y="63"/>
                  </a:moveTo>
                  <a:cubicBezTo>
                    <a:pt x="118" y="57"/>
                    <a:pt x="117" y="52"/>
                    <a:pt x="115" y="48"/>
                  </a:cubicBezTo>
                  <a:cubicBezTo>
                    <a:pt x="114" y="44"/>
                    <a:pt x="111" y="40"/>
                    <a:pt x="108" y="37"/>
                  </a:cubicBezTo>
                  <a:cubicBezTo>
                    <a:pt x="105" y="34"/>
                    <a:pt x="102" y="32"/>
                    <a:pt x="98" y="31"/>
                  </a:cubicBezTo>
                  <a:cubicBezTo>
                    <a:pt x="93" y="29"/>
                    <a:pt x="89" y="28"/>
                    <a:pt x="83" y="28"/>
                  </a:cubicBezTo>
                  <a:cubicBezTo>
                    <a:pt x="30" y="28"/>
                    <a:pt x="30" y="28"/>
                    <a:pt x="30" y="28"/>
                  </a:cubicBezTo>
                  <a:cubicBezTo>
                    <a:pt x="30" y="98"/>
                    <a:pt x="30" y="98"/>
                    <a:pt x="30" y="98"/>
                  </a:cubicBezTo>
                  <a:cubicBezTo>
                    <a:pt x="83" y="98"/>
                    <a:pt x="83" y="98"/>
                    <a:pt x="83" y="98"/>
                  </a:cubicBezTo>
                  <a:cubicBezTo>
                    <a:pt x="95" y="98"/>
                    <a:pt x="104" y="94"/>
                    <a:pt x="109" y="88"/>
                  </a:cubicBezTo>
                  <a:cubicBezTo>
                    <a:pt x="115" y="82"/>
                    <a:pt x="118" y="74"/>
                    <a:pt x="118" y="63"/>
                  </a:cubicBezTo>
                  <a:moveTo>
                    <a:pt x="148" y="63"/>
                  </a:moveTo>
                  <a:cubicBezTo>
                    <a:pt x="148" y="73"/>
                    <a:pt x="147" y="82"/>
                    <a:pt x="144" y="90"/>
                  </a:cubicBezTo>
                  <a:cubicBezTo>
                    <a:pt x="140" y="98"/>
                    <a:pt x="136" y="104"/>
                    <a:pt x="130" y="110"/>
                  </a:cubicBezTo>
                  <a:cubicBezTo>
                    <a:pt x="124" y="115"/>
                    <a:pt x="117" y="119"/>
                    <a:pt x="109" y="122"/>
                  </a:cubicBezTo>
                  <a:cubicBezTo>
                    <a:pt x="101" y="124"/>
                    <a:pt x="92" y="126"/>
                    <a:pt x="82" y="126"/>
                  </a:cubicBezTo>
                  <a:cubicBezTo>
                    <a:pt x="30" y="126"/>
                    <a:pt x="30" y="126"/>
                    <a:pt x="30" y="126"/>
                  </a:cubicBezTo>
                  <a:cubicBezTo>
                    <a:pt x="30" y="201"/>
                    <a:pt x="30" y="201"/>
                    <a:pt x="30" y="201"/>
                  </a:cubicBezTo>
                  <a:cubicBezTo>
                    <a:pt x="0" y="201"/>
                    <a:pt x="0" y="201"/>
                    <a:pt x="0" y="20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93" y="0"/>
                    <a:pt x="102" y="1"/>
                    <a:pt x="110" y="4"/>
                  </a:cubicBezTo>
                  <a:cubicBezTo>
                    <a:pt x="117" y="7"/>
                    <a:pt x="124" y="11"/>
                    <a:pt x="130" y="16"/>
                  </a:cubicBezTo>
                  <a:cubicBezTo>
                    <a:pt x="136" y="21"/>
                    <a:pt x="140" y="28"/>
                    <a:pt x="144" y="35"/>
                  </a:cubicBezTo>
                  <a:cubicBezTo>
                    <a:pt x="147" y="43"/>
                    <a:pt x="148" y="52"/>
                    <a:pt x="148" y="63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8" name="Freeform 108">
              <a:extLst>
                <a:ext uri="{FF2B5EF4-FFF2-40B4-BE49-F238E27FC236}">
                  <a16:creationId xmlns:a16="http://schemas.microsoft.com/office/drawing/2014/main" id="{23B08D2D-137C-E384-CA07-2770C6EF91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95771" y="4884632"/>
              <a:ext cx="157649" cy="202693"/>
            </a:xfrm>
            <a:custGeom>
              <a:avLst/>
              <a:gdLst>
                <a:gd name="T0" fmla="*/ 93 w 122"/>
                <a:gd name="T1" fmla="*/ 89 h 157"/>
                <a:gd name="T2" fmla="*/ 86 w 122"/>
                <a:gd name="T3" fmla="*/ 86 h 157"/>
                <a:gd name="T4" fmla="*/ 79 w 122"/>
                <a:gd name="T5" fmla="*/ 85 h 157"/>
                <a:gd name="T6" fmla="*/ 70 w 122"/>
                <a:gd name="T7" fmla="*/ 83 h 157"/>
                <a:gd name="T8" fmla="*/ 59 w 122"/>
                <a:gd name="T9" fmla="*/ 83 h 157"/>
                <a:gd name="T10" fmla="*/ 36 w 122"/>
                <a:gd name="T11" fmla="*/ 89 h 157"/>
                <a:gd name="T12" fmla="*/ 28 w 122"/>
                <a:gd name="T13" fmla="*/ 105 h 157"/>
                <a:gd name="T14" fmla="*/ 31 w 122"/>
                <a:gd name="T15" fmla="*/ 117 h 157"/>
                <a:gd name="T16" fmla="*/ 37 w 122"/>
                <a:gd name="T17" fmla="*/ 124 h 157"/>
                <a:gd name="T18" fmla="*/ 45 w 122"/>
                <a:gd name="T19" fmla="*/ 129 h 157"/>
                <a:gd name="T20" fmla="*/ 57 w 122"/>
                <a:gd name="T21" fmla="*/ 130 h 157"/>
                <a:gd name="T22" fmla="*/ 68 w 122"/>
                <a:gd name="T23" fmla="*/ 128 h 157"/>
                <a:gd name="T24" fmla="*/ 79 w 122"/>
                <a:gd name="T25" fmla="*/ 124 h 157"/>
                <a:gd name="T26" fmla="*/ 87 w 122"/>
                <a:gd name="T27" fmla="*/ 118 h 157"/>
                <a:gd name="T28" fmla="*/ 93 w 122"/>
                <a:gd name="T29" fmla="*/ 111 h 157"/>
                <a:gd name="T30" fmla="*/ 93 w 122"/>
                <a:gd name="T31" fmla="*/ 89 h 157"/>
                <a:gd name="T32" fmla="*/ 93 w 122"/>
                <a:gd name="T33" fmla="*/ 154 h 157"/>
                <a:gd name="T34" fmla="*/ 93 w 122"/>
                <a:gd name="T35" fmla="*/ 139 h 157"/>
                <a:gd name="T36" fmla="*/ 84 w 122"/>
                <a:gd name="T37" fmla="*/ 147 h 157"/>
                <a:gd name="T38" fmla="*/ 76 w 122"/>
                <a:gd name="T39" fmla="*/ 151 h 157"/>
                <a:gd name="T40" fmla="*/ 66 w 122"/>
                <a:gd name="T41" fmla="*/ 155 h 157"/>
                <a:gd name="T42" fmla="*/ 52 w 122"/>
                <a:gd name="T43" fmla="*/ 157 h 157"/>
                <a:gd name="T44" fmla="*/ 34 w 122"/>
                <a:gd name="T45" fmla="*/ 154 h 157"/>
                <a:gd name="T46" fmla="*/ 17 w 122"/>
                <a:gd name="T47" fmla="*/ 145 h 157"/>
                <a:gd name="T48" fmla="*/ 5 w 122"/>
                <a:gd name="T49" fmla="*/ 130 h 157"/>
                <a:gd name="T50" fmla="*/ 0 w 122"/>
                <a:gd name="T51" fmla="*/ 106 h 157"/>
                <a:gd name="T52" fmla="*/ 5 w 122"/>
                <a:gd name="T53" fmla="*/ 84 h 157"/>
                <a:gd name="T54" fmla="*/ 17 w 122"/>
                <a:gd name="T55" fmla="*/ 69 h 157"/>
                <a:gd name="T56" fmla="*/ 36 w 122"/>
                <a:gd name="T57" fmla="*/ 60 h 157"/>
                <a:gd name="T58" fmla="*/ 60 w 122"/>
                <a:gd name="T59" fmla="*/ 57 h 157"/>
                <a:gd name="T60" fmla="*/ 80 w 122"/>
                <a:gd name="T61" fmla="*/ 59 h 157"/>
                <a:gd name="T62" fmla="*/ 93 w 122"/>
                <a:gd name="T63" fmla="*/ 63 h 157"/>
                <a:gd name="T64" fmla="*/ 93 w 122"/>
                <a:gd name="T65" fmla="*/ 52 h 157"/>
                <a:gd name="T66" fmla="*/ 86 w 122"/>
                <a:gd name="T67" fmla="*/ 33 h 157"/>
                <a:gd name="T68" fmla="*/ 65 w 122"/>
                <a:gd name="T69" fmla="*/ 26 h 157"/>
                <a:gd name="T70" fmla="*/ 44 w 122"/>
                <a:gd name="T71" fmla="*/ 29 h 157"/>
                <a:gd name="T72" fmla="*/ 26 w 122"/>
                <a:gd name="T73" fmla="*/ 36 h 157"/>
                <a:gd name="T74" fmla="*/ 14 w 122"/>
                <a:gd name="T75" fmla="*/ 14 h 157"/>
                <a:gd name="T76" fmla="*/ 38 w 122"/>
                <a:gd name="T77" fmla="*/ 3 h 157"/>
                <a:gd name="T78" fmla="*/ 66 w 122"/>
                <a:gd name="T79" fmla="*/ 0 h 157"/>
                <a:gd name="T80" fmla="*/ 89 w 122"/>
                <a:gd name="T81" fmla="*/ 3 h 157"/>
                <a:gd name="T82" fmla="*/ 107 w 122"/>
                <a:gd name="T83" fmla="*/ 12 h 157"/>
                <a:gd name="T84" fmla="*/ 118 w 122"/>
                <a:gd name="T85" fmla="*/ 28 h 157"/>
                <a:gd name="T86" fmla="*/ 122 w 122"/>
                <a:gd name="T87" fmla="*/ 51 h 157"/>
                <a:gd name="T88" fmla="*/ 122 w 122"/>
                <a:gd name="T89" fmla="*/ 154 h 157"/>
                <a:gd name="T90" fmla="*/ 93 w 122"/>
                <a:gd name="T91" fmla="*/ 154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22" h="157">
                  <a:moveTo>
                    <a:pt x="93" y="89"/>
                  </a:moveTo>
                  <a:cubicBezTo>
                    <a:pt x="91" y="88"/>
                    <a:pt x="88" y="87"/>
                    <a:pt x="86" y="86"/>
                  </a:cubicBezTo>
                  <a:cubicBezTo>
                    <a:pt x="84" y="86"/>
                    <a:pt x="81" y="85"/>
                    <a:pt x="79" y="85"/>
                  </a:cubicBezTo>
                  <a:cubicBezTo>
                    <a:pt x="77" y="84"/>
                    <a:pt x="74" y="84"/>
                    <a:pt x="70" y="83"/>
                  </a:cubicBezTo>
                  <a:cubicBezTo>
                    <a:pt x="67" y="83"/>
                    <a:pt x="63" y="83"/>
                    <a:pt x="59" y="83"/>
                  </a:cubicBezTo>
                  <a:cubicBezTo>
                    <a:pt x="50" y="83"/>
                    <a:pt x="42" y="85"/>
                    <a:pt x="36" y="89"/>
                  </a:cubicBezTo>
                  <a:cubicBezTo>
                    <a:pt x="31" y="93"/>
                    <a:pt x="28" y="98"/>
                    <a:pt x="28" y="105"/>
                  </a:cubicBezTo>
                  <a:cubicBezTo>
                    <a:pt x="28" y="110"/>
                    <a:pt x="29" y="113"/>
                    <a:pt x="31" y="117"/>
                  </a:cubicBezTo>
                  <a:cubicBezTo>
                    <a:pt x="32" y="120"/>
                    <a:pt x="34" y="122"/>
                    <a:pt x="37" y="124"/>
                  </a:cubicBezTo>
                  <a:cubicBezTo>
                    <a:pt x="39" y="126"/>
                    <a:pt x="42" y="128"/>
                    <a:pt x="45" y="129"/>
                  </a:cubicBezTo>
                  <a:cubicBezTo>
                    <a:pt x="48" y="130"/>
                    <a:pt x="52" y="130"/>
                    <a:pt x="57" y="130"/>
                  </a:cubicBezTo>
                  <a:cubicBezTo>
                    <a:pt x="61" y="130"/>
                    <a:pt x="65" y="130"/>
                    <a:pt x="68" y="128"/>
                  </a:cubicBezTo>
                  <a:cubicBezTo>
                    <a:pt x="72" y="127"/>
                    <a:pt x="75" y="126"/>
                    <a:pt x="79" y="124"/>
                  </a:cubicBezTo>
                  <a:cubicBezTo>
                    <a:pt x="82" y="122"/>
                    <a:pt x="85" y="120"/>
                    <a:pt x="87" y="118"/>
                  </a:cubicBezTo>
                  <a:cubicBezTo>
                    <a:pt x="90" y="116"/>
                    <a:pt x="92" y="113"/>
                    <a:pt x="93" y="111"/>
                  </a:cubicBezTo>
                  <a:lnTo>
                    <a:pt x="93" y="89"/>
                  </a:lnTo>
                  <a:close/>
                  <a:moveTo>
                    <a:pt x="93" y="154"/>
                  </a:moveTo>
                  <a:cubicBezTo>
                    <a:pt x="93" y="139"/>
                    <a:pt x="93" y="139"/>
                    <a:pt x="93" y="139"/>
                  </a:cubicBezTo>
                  <a:cubicBezTo>
                    <a:pt x="90" y="142"/>
                    <a:pt x="86" y="145"/>
                    <a:pt x="84" y="147"/>
                  </a:cubicBezTo>
                  <a:cubicBezTo>
                    <a:pt x="81" y="148"/>
                    <a:pt x="79" y="150"/>
                    <a:pt x="76" y="151"/>
                  </a:cubicBezTo>
                  <a:cubicBezTo>
                    <a:pt x="73" y="153"/>
                    <a:pt x="70" y="154"/>
                    <a:pt x="66" y="155"/>
                  </a:cubicBezTo>
                  <a:cubicBezTo>
                    <a:pt x="62" y="156"/>
                    <a:pt x="57" y="157"/>
                    <a:pt x="52" y="157"/>
                  </a:cubicBezTo>
                  <a:cubicBezTo>
                    <a:pt x="46" y="157"/>
                    <a:pt x="40" y="156"/>
                    <a:pt x="34" y="154"/>
                  </a:cubicBezTo>
                  <a:cubicBezTo>
                    <a:pt x="28" y="152"/>
                    <a:pt x="22" y="149"/>
                    <a:pt x="17" y="145"/>
                  </a:cubicBezTo>
                  <a:cubicBezTo>
                    <a:pt x="12" y="141"/>
                    <a:pt x="8" y="136"/>
                    <a:pt x="5" y="130"/>
                  </a:cubicBezTo>
                  <a:cubicBezTo>
                    <a:pt x="2" y="123"/>
                    <a:pt x="0" y="115"/>
                    <a:pt x="0" y="106"/>
                  </a:cubicBezTo>
                  <a:cubicBezTo>
                    <a:pt x="0" y="98"/>
                    <a:pt x="2" y="90"/>
                    <a:pt x="5" y="84"/>
                  </a:cubicBezTo>
                  <a:cubicBezTo>
                    <a:pt x="8" y="78"/>
                    <a:pt x="12" y="73"/>
                    <a:pt x="17" y="69"/>
                  </a:cubicBezTo>
                  <a:cubicBezTo>
                    <a:pt x="23" y="65"/>
                    <a:pt x="29" y="62"/>
                    <a:pt x="36" y="60"/>
                  </a:cubicBezTo>
                  <a:cubicBezTo>
                    <a:pt x="44" y="58"/>
                    <a:pt x="51" y="57"/>
                    <a:pt x="60" y="57"/>
                  </a:cubicBezTo>
                  <a:cubicBezTo>
                    <a:pt x="68" y="57"/>
                    <a:pt x="75" y="58"/>
                    <a:pt x="80" y="59"/>
                  </a:cubicBezTo>
                  <a:cubicBezTo>
                    <a:pt x="85" y="60"/>
                    <a:pt x="90" y="61"/>
                    <a:pt x="93" y="6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44"/>
                    <a:pt x="91" y="37"/>
                    <a:pt x="86" y="33"/>
                  </a:cubicBezTo>
                  <a:cubicBezTo>
                    <a:pt x="81" y="29"/>
                    <a:pt x="74" y="26"/>
                    <a:pt x="65" y="26"/>
                  </a:cubicBezTo>
                  <a:cubicBezTo>
                    <a:pt x="57" y="26"/>
                    <a:pt x="50" y="27"/>
                    <a:pt x="44" y="29"/>
                  </a:cubicBezTo>
                  <a:cubicBezTo>
                    <a:pt x="38" y="30"/>
                    <a:pt x="32" y="33"/>
                    <a:pt x="26" y="36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22" y="9"/>
                    <a:pt x="29" y="6"/>
                    <a:pt x="38" y="3"/>
                  </a:cubicBezTo>
                  <a:cubicBezTo>
                    <a:pt x="46" y="1"/>
                    <a:pt x="55" y="0"/>
                    <a:pt x="66" y="0"/>
                  </a:cubicBezTo>
                  <a:cubicBezTo>
                    <a:pt x="74" y="0"/>
                    <a:pt x="82" y="1"/>
                    <a:pt x="89" y="3"/>
                  </a:cubicBezTo>
                  <a:cubicBezTo>
                    <a:pt x="96" y="5"/>
                    <a:pt x="102" y="8"/>
                    <a:pt x="107" y="12"/>
                  </a:cubicBezTo>
                  <a:cubicBezTo>
                    <a:pt x="112" y="17"/>
                    <a:pt x="116" y="22"/>
                    <a:pt x="118" y="28"/>
                  </a:cubicBezTo>
                  <a:cubicBezTo>
                    <a:pt x="121" y="35"/>
                    <a:pt x="122" y="42"/>
                    <a:pt x="122" y="51"/>
                  </a:cubicBezTo>
                  <a:cubicBezTo>
                    <a:pt x="122" y="154"/>
                    <a:pt x="122" y="154"/>
                    <a:pt x="122" y="154"/>
                  </a:cubicBezTo>
                  <a:lnTo>
                    <a:pt x="93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9" name="Freeform 109">
              <a:extLst>
                <a:ext uri="{FF2B5EF4-FFF2-40B4-BE49-F238E27FC236}">
                  <a16:creationId xmlns:a16="http://schemas.microsoft.com/office/drawing/2014/main" id="{8EF04CA6-5131-DF28-7E63-763A18A267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91350" y="4884632"/>
              <a:ext cx="114977" cy="199136"/>
            </a:xfrm>
            <a:custGeom>
              <a:avLst/>
              <a:gdLst>
                <a:gd name="T0" fmla="*/ 82 w 89"/>
                <a:gd name="T1" fmla="*/ 34 h 154"/>
                <a:gd name="T2" fmla="*/ 72 w 89"/>
                <a:gd name="T3" fmla="*/ 30 h 154"/>
                <a:gd name="T4" fmla="*/ 59 w 89"/>
                <a:gd name="T5" fmla="*/ 29 h 154"/>
                <a:gd name="T6" fmla="*/ 37 w 89"/>
                <a:gd name="T7" fmla="*/ 39 h 154"/>
                <a:gd name="T8" fmla="*/ 30 w 89"/>
                <a:gd name="T9" fmla="*/ 68 h 154"/>
                <a:gd name="T10" fmla="*/ 30 w 89"/>
                <a:gd name="T11" fmla="*/ 154 h 154"/>
                <a:gd name="T12" fmla="*/ 0 w 89"/>
                <a:gd name="T13" fmla="*/ 154 h 154"/>
                <a:gd name="T14" fmla="*/ 0 w 89"/>
                <a:gd name="T15" fmla="*/ 3 h 154"/>
                <a:gd name="T16" fmla="*/ 30 w 89"/>
                <a:gd name="T17" fmla="*/ 3 h 154"/>
                <a:gd name="T18" fmla="*/ 30 w 89"/>
                <a:gd name="T19" fmla="*/ 18 h 154"/>
                <a:gd name="T20" fmla="*/ 36 w 89"/>
                <a:gd name="T21" fmla="*/ 11 h 154"/>
                <a:gd name="T22" fmla="*/ 44 w 89"/>
                <a:gd name="T23" fmla="*/ 5 h 154"/>
                <a:gd name="T24" fmla="*/ 53 w 89"/>
                <a:gd name="T25" fmla="*/ 1 h 154"/>
                <a:gd name="T26" fmla="*/ 64 w 89"/>
                <a:gd name="T27" fmla="*/ 0 h 154"/>
                <a:gd name="T28" fmla="*/ 79 w 89"/>
                <a:gd name="T29" fmla="*/ 2 h 154"/>
                <a:gd name="T30" fmla="*/ 89 w 89"/>
                <a:gd name="T31" fmla="*/ 6 h 154"/>
                <a:gd name="T32" fmla="*/ 82 w 89"/>
                <a:gd name="T33" fmla="*/ 3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9" h="154">
                  <a:moveTo>
                    <a:pt x="82" y="34"/>
                  </a:moveTo>
                  <a:cubicBezTo>
                    <a:pt x="78" y="33"/>
                    <a:pt x="75" y="31"/>
                    <a:pt x="72" y="30"/>
                  </a:cubicBezTo>
                  <a:cubicBezTo>
                    <a:pt x="68" y="29"/>
                    <a:pt x="64" y="29"/>
                    <a:pt x="59" y="29"/>
                  </a:cubicBezTo>
                  <a:cubicBezTo>
                    <a:pt x="50" y="29"/>
                    <a:pt x="42" y="32"/>
                    <a:pt x="37" y="39"/>
                  </a:cubicBezTo>
                  <a:cubicBezTo>
                    <a:pt x="32" y="45"/>
                    <a:pt x="30" y="55"/>
                    <a:pt x="30" y="68"/>
                  </a:cubicBezTo>
                  <a:cubicBezTo>
                    <a:pt x="30" y="154"/>
                    <a:pt x="30" y="154"/>
                    <a:pt x="30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5"/>
                    <a:pt x="33" y="13"/>
                    <a:pt x="36" y="11"/>
                  </a:cubicBezTo>
                  <a:cubicBezTo>
                    <a:pt x="38" y="8"/>
                    <a:pt x="41" y="7"/>
                    <a:pt x="44" y="5"/>
                  </a:cubicBezTo>
                  <a:cubicBezTo>
                    <a:pt x="47" y="3"/>
                    <a:pt x="50" y="2"/>
                    <a:pt x="53" y="1"/>
                  </a:cubicBezTo>
                  <a:cubicBezTo>
                    <a:pt x="57" y="0"/>
                    <a:pt x="60" y="0"/>
                    <a:pt x="64" y="0"/>
                  </a:cubicBezTo>
                  <a:cubicBezTo>
                    <a:pt x="70" y="0"/>
                    <a:pt x="75" y="1"/>
                    <a:pt x="79" y="2"/>
                  </a:cubicBezTo>
                  <a:cubicBezTo>
                    <a:pt x="83" y="3"/>
                    <a:pt x="87" y="4"/>
                    <a:pt x="89" y="6"/>
                  </a:cubicBezTo>
                  <a:lnTo>
                    <a:pt x="82" y="3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0" name="Freeform 110">
              <a:extLst>
                <a:ext uri="{FF2B5EF4-FFF2-40B4-BE49-F238E27FC236}">
                  <a16:creationId xmlns:a16="http://schemas.microsoft.com/office/drawing/2014/main" id="{2B7B0642-8B14-1497-BA29-31E87A6F40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28849" y="4813512"/>
              <a:ext cx="112606" cy="273813"/>
            </a:xfrm>
            <a:custGeom>
              <a:avLst/>
              <a:gdLst>
                <a:gd name="T0" fmla="*/ 84 w 87"/>
                <a:gd name="T1" fmla="*/ 205 h 212"/>
                <a:gd name="T2" fmla="*/ 71 w 87"/>
                <a:gd name="T3" fmla="*/ 210 h 212"/>
                <a:gd name="T4" fmla="*/ 55 w 87"/>
                <a:gd name="T5" fmla="*/ 212 h 212"/>
                <a:gd name="T6" fmla="*/ 41 w 87"/>
                <a:gd name="T7" fmla="*/ 210 h 212"/>
                <a:gd name="T8" fmla="*/ 31 w 87"/>
                <a:gd name="T9" fmla="*/ 203 h 212"/>
                <a:gd name="T10" fmla="*/ 24 w 87"/>
                <a:gd name="T11" fmla="*/ 190 h 212"/>
                <a:gd name="T12" fmla="*/ 21 w 87"/>
                <a:gd name="T13" fmla="*/ 172 h 212"/>
                <a:gd name="T14" fmla="*/ 21 w 87"/>
                <a:gd name="T15" fmla="*/ 85 h 212"/>
                <a:gd name="T16" fmla="*/ 0 w 87"/>
                <a:gd name="T17" fmla="*/ 85 h 212"/>
                <a:gd name="T18" fmla="*/ 0 w 87"/>
                <a:gd name="T19" fmla="*/ 58 h 212"/>
                <a:gd name="T20" fmla="*/ 21 w 87"/>
                <a:gd name="T21" fmla="*/ 58 h 212"/>
                <a:gd name="T22" fmla="*/ 21 w 87"/>
                <a:gd name="T23" fmla="*/ 15 h 212"/>
                <a:gd name="T24" fmla="*/ 50 w 87"/>
                <a:gd name="T25" fmla="*/ 0 h 212"/>
                <a:gd name="T26" fmla="*/ 50 w 87"/>
                <a:gd name="T27" fmla="*/ 58 h 212"/>
                <a:gd name="T28" fmla="*/ 87 w 87"/>
                <a:gd name="T29" fmla="*/ 58 h 212"/>
                <a:gd name="T30" fmla="*/ 87 w 87"/>
                <a:gd name="T31" fmla="*/ 85 h 212"/>
                <a:gd name="T32" fmla="*/ 50 w 87"/>
                <a:gd name="T33" fmla="*/ 85 h 212"/>
                <a:gd name="T34" fmla="*/ 50 w 87"/>
                <a:gd name="T35" fmla="*/ 167 h 212"/>
                <a:gd name="T36" fmla="*/ 51 w 87"/>
                <a:gd name="T37" fmla="*/ 176 h 212"/>
                <a:gd name="T38" fmla="*/ 54 w 87"/>
                <a:gd name="T39" fmla="*/ 181 h 212"/>
                <a:gd name="T40" fmla="*/ 59 w 87"/>
                <a:gd name="T41" fmla="*/ 184 h 212"/>
                <a:gd name="T42" fmla="*/ 66 w 87"/>
                <a:gd name="T43" fmla="*/ 185 h 212"/>
                <a:gd name="T44" fmla="*/ 77 w 87"/>
                <a:gd name="T45" fmla="*/ 183 h 212"/>
                <a:gd name="T46" fmla="*/ 87 w 87"/>
                <a:gd name="T47" fmla="*/ 179 h 212"/>
                <a:gd name="T48" fmla="*/ 84 w 87"/>
                <a:gd name="T49" fmla="*/ 205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87" h="212">
                  <a:moveTo>
                    <a:pt x="84" y="205"/>
                  </a:moveTo>
                  <a:cubicBezTo>
                    <a:pt x="80" y="207"/>
                    <a:pt x="76" y="209"/>
                    <a:pt x="71" y="210"/>
                  </a:cubicBezTo>
                  <a:cubicBezTo>
                    <a:pt x="66" y="211"/>
                    <a:pt x="61" y="212"/>
                    <a:pt x="55" y="212"/>
                  </a:cubicBezTo>
                  <a:cubicBezTo>
                    <a:pt x="50" y="212"/>
                    <a:pt x="45" y="211"/>
                    <a:pt x="41" y="210"/>
                  </a:cubicBezTo>
                  <a:cubicBezTo>
                    <a:pt x="38" y="208"/>
                    <a:pt x="34" y="206"/>
                    <a:pt x="31" y="203"/>
                  </a:cubicBezTo>
                  <a:cubicBezTo>
                    <a:pt x="28" y="200"/>
                    <a:pt x="25" y="196"/>
                    <a:pt x="24" y="190"/>
                  </a:cubicBezTo>
                  <a:cubicBezTo>
                    <a:pt x="22" y="185"/>
                    <a:pt x="21" y="179"/>
                    <a:pt x="21" y="172"/>
                  </a:cubicBezTo>
                  <a:cubicBezTo>
                    <a:pt x="21" y="85"/>
                    <a:pt x="21" y="85"/>
                    <a:pt x="21" y="85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21" y="58"/>
                    <a:pt x="21" y="58"/>
                    <a:pt x="21" y="58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0" y="58"/>
                    <a:pt x="50" y="58"/>
                    <a:pt x="50" y="58"/>
                  </a:cubicBezTo>
                  <a:cubicBezTo>
                    <a:pt x="87" y="58"/>
                    <a:pt x="87" y="58"/>
                    <a:pt x="87" y="58"/>
                  </a:cubicBezTo>
                  <a:cubicBezTo>
                    <a:pt x="87" y="85"/>
                    <a:pt x="87" y="85"/>
                    <a:pt x="87" y="85"/>
                  </a:cubicBezTo>
                  <a:cubicBezTo>
                    <a:pt x="50" y="85"/>
                    <a:pt x="50" y="85"/>
                    <a:pt x="50" y="85"/>
                  </a:cubicBezTo>
                  <a:cubicBezTo>
                    <a:pt x="50" y="167"/>
                    <a:pt x="50" y="167"/>
                    <a:pt x="50" y="167"/>
                  </a:cubicBezTo>
                  <a:cubicBezTo>
                    <a:pt x="50" y="170"/>
                    <a:pt x="50" y="173"/>
                    <a:pt x="51" y="176"/>
                  </a:cubicBezTo>
                  <a:cubicBezTo>
                    <a:pt x="52" y="178"/>
                    <a:pt x="52" y="180"/>
                    <a:pt x="54" y="181"/>
                  </a:cubicBezTo>
                  <a:cubicBezTo>
                    <a:pt x="55" y="182"/>
                    <a:pt x="57" y="183"/>
                    <a:pt x="59" y="184"/>
                  </a:cubicBezTo>
                  <a:cubicBezTo>
                    <a:pt x="61" y="185"/>
                    <a:pt x="63" y="185"/>
                    <a:pt x="66" y="185"/>
                  </a:cubicBezTo>
                  <a:cubicBezTo>
                    <a:pt x="69" y="185"/>
                    <a:pt x="73" y="184"/>
                    <a:pt x="77" y="183"/>
                  </a:cubicBezTo>
                  <a:cubicBezTo>
                    <a:pt x="81" y="182"/>
                    <a:pt x="85" y="180"/>
                    <a:pt x="87" y="179"/>
                  </a:cubicBezTo>
                  <a:lnTo>
                    <a:pt x="84" y="205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1" name="Freeform 111">
              <a:extLst>
                <a:ext uri="{FF2B5EF4-FFF2-40B4-BE49-F238E27FC236}">
                  <a16:creationId xmlns:a16="http://schemas.microsoft.com/office/drawing/2014/main" id="{EF9531E5-0ED0-BA5E-0DF7-A9C752AF96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678201" y="4813512"/>
              <a:ext cx="156464" cy="270256"/>
            </a:xfrm>
            <a:custGeom>
              <a:avLst/>
              <a:gdLst>
                <a:gd name="T0" fmla="*/ 91 w 121"/>
                <a:gd name="T1" fmla="*/ 209 h 209"/>
                <a:gd name="T2" fmla="*/ 91 w 121"/>
                <a:gd name="T3" fmla="*/ 124 h 209"/>
                <a:gd name="T4" fmla="*/ 84 w 121"/>
                <a:gd name="T5" fmla="*/ 93 h 209"/>
                <a:gd name="T6" fmla="*/ 60 w 121"/>
                <a:gd name="T7" fmla="*/ 82 h 209"/>
                <a:gd name="T8" fmla="*/ 47 w 121"/>
                <a:gd name="T9" fmla="*/ 85 h 209"/>
                <a:gd name="T10" fmla="*/ 38 w 121"/>
                <a:gd name="T11" fmla="*/ 92 h 209"/>
                <a:gd name="T12" fmla="*/ 31 w 121"/>
                <a:gd name="T13" fmla="*/ 104 h 209"/>
                <a:gd name="T14" fmla="*/ 29 w 121"/>
                <a:gd name="T15" fmla="*/ 121 h 209"/>
                <a:gd name="T16" fmla="*/ 29 w 121"/>
                <a:gd name="T17" fmla="*/ 209 h 209"/>
                <a:gd name="T18" fmla="*/ 0 w 121"/>
                <a:gd name="T19" fmla="*/ 209 h 209"/>
                <a:gd name="T20" fmla="*/ 0 w 121"/>
                <a:gd name="T21" fmla="*/ 15 h 209"/>
                <a:gd name="T22" fmla="*/ 29 w 121"/>
                <a:gd name="T23" fmla="*/ 0 h 209"/>
                <a:gd name="T24" fmla="*/ 29 w 121"/>
                <a:gd name="T25" fmla="*/ 73 h 209"/>
                <a:gd name="T26" fmla="*/ 36 w 121"/>
                <a:gd name="T27" fmla="*/ 65 h 209"/>
                <a:gd name="T28" fmla="*/ 45 w 121"/>
                <a:gd name="T29" fmla="*/ 60 h 209"/>
                <a:gd name="T30" fmla="*/ 55 w 121"/>
                <a:gd name="T31" fmla="*/ 56 h 209"/>
                <a:gd name="T32" fmla="*/ 67 w 121"/>
                <a:gd name="T33" fmla="*/ 55 h 209"/>
                <a:gd name="T34" fmla="*/ 90 w 121"/>
                <a:gd name="T35" fmla="*/ 59 h 209"/>
                <a:gd name="T36" fmla="*/ 107 w 121"/>
                <a:gd name="T37" fmla="*/ 72 h 209"/>
                <a:gd name="T38" fmla="*/ 117 w 121"/>
                <a:gd name="T39" fmla="*/ 94 h 209"/>
                <a:gd name="T40" fmla="*/ 121 w 121"/>
                <a:gd name="T41" fmla="*/ 122 h 209"/>
                <a:gd name="T42" fmla="*/ 121 w 121"/>
                <a:gd name="T43" fmla="*/ 209 h 209"/>
                <a:gd name="T44" fmla="*/ 91 w 121"/>
                <a:gd name="T45" fmla="*/ 209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1" h="209">
                  <a:moveTo>
                    <a:pt x="91" y="209"/>
                  </a:moveTo>
                  <a:cubicBezTo>
                    <a:pt x="91" y="124"/>
                    <a:pt x="91" y="124"/>
                    <a:pt x="91" y="124"/>
                  </a:cubicBezTo>
                  <a:cubicBezTo>
                    <a:pt x="91" y="110"/>
                    <a:pt x="89" y="99"/>
                    <a:pt x="84" y="93"/>
                  </a:cubicBezTo>
                  <a:cubicBezTo>
                    <a:pt x="79" y="86"/>
                    <a:pt x="71" y="82"/>
                    <a:pt x="60" y="82"/>
                  </a:cubicBezTo>
                  <a:cubicBezTo>
                    <a:pt x="56" y="82"/>
                    <a:pt x="51" y="83"/>
                    <a:pt x="47" y="85"/>
                  </a:cubicBezTo>
                  <a:cubicBezTo>
                    <a:pt x="44" y="86"/>
                    <a:pt x="40" y="89"/>
                    <a:pt x="38" y="92"/>
                  </a:cubicBezTo>
                  <a:cubicBezTo>
                    <a:pt x="35" y="95"/>
                    <a:pt x="33" y="99"/>
                    <a:pt x="31" y="104"/>
                  </a:cubicBezTo>
                  <a:cubicBezTo>
                    <a:pt x="30" y="109"/>
                    <a:pt x="29" y="114"/>
                    <a:pt x="29" y="121"/>
                  </a:cubicBezTo>
                  <a:cubicBezTo>
                    <a:pt x="29" y="209"/>
                    <a:pt x="29" y="209"/>
                    <a:pt x="29" y="209"/>
                  </a:cubicBezTo>
                  <a:cubicBezTo>
                    <a:pt x="0" y="209"/>
                    <a:pt x="0" y="209"/>
                    <a:pt x="0" y="209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73"/>
                    <a:pt x="29" y="73"/>
                    <a:pt x="29" y="73"/>
                  </a:cubicBezTo>
                  <a:cubicBezTo>
                    <a:pt x="31" y="70"/>
                    <a:pt x="33" y="67"/>
                    <a:pt x="36" y="65"/>
                  </a:cubicBezTo>
                  <a:cubicBezTo>
                    <a:pt x="39" y="63"/>
                    <a:pt x="42" y="61"/>
                    <a:pt x="45" y="60"/>
                  </a:cubicBezTo>
                  <a:cubicBezTo>
                    <a:pt x="48" y="58"/>
                    <a:pt x="52" y="57"/>
                    <a:pt x="55" y="56"/>
                  </a:cubicBezTo>
                  <a:cubicBezTo>
                    <a:pt x="59" y="55"/>
                    <a:pt x="63" y="55"/>
                    <a:pt x="67" y="55"/>
                  </a:cubicBezTo>
                  <a:cubicBezTo>
                    <a:pt x="76" y="55"/>
                    <a:pt x="84" y="56"/>
                    <a:pt x="90" y="59"/>
                  </a:cubicBezTo>
                  <a:cubicBezTo>
                    <a:pt x="97" y="62"/>
                    <a:pt x="103" y="67"/>
                    <a:pt x="107" y="72"/>
                  </a:cubicBezTo>
                  <a:cubicBezTo>
                    <a:pt x="112" y="78"/>
                    <a:pt x="115" y="85"/>
                    <a:pt x="117" y="94"/>
                  </a:cubicBezTo>
                  <a:cubicBezTo>
                    <a:pt x="119" y="102"/>
                    <a:pt x="121" y="112"/>
                    <a:pt x="121" y="122"/>
                  </a:cubicBezTo>
                  <a:cubicBezTo>
                    <a:pt x="121" y="209"/>
                    <a:pt x="121" y="209"/>
                    <a:pt x="121" y="209"/>
                  </a:cubicBezTo>
                  <a:lnTo>
                    <a:pt x="91" y="209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2" name="Freeform 112">
              <a:extLst>
                <a:ext uri="{FF2B5EF4-FFF2-40B4-BE49-F238E27FC236}">
                  <a16:creationId xmlns:a16="http://schemas.microsoft.com/office/drawing/2014/main" id="{84AE5315-97DF-0794-2A8A-53E2C7BF4C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61929" y="4884632"/>
              <a:ext cx="167132" cy="202693"/>
            </a:xfrm>
            <a:custGeom>
              <a:avLst/>
              <a:gdLst>
                <a:gd name="T0" fmla="*/ 100 w 130"/>
                <a:gd name="T1" fmla="*/ 65 h 157"/>
                <a:gd name="T2" fmla="*/ 97 w 130"/>
                <a:gd name="T3" fmla="*/ 50 h 157"/>
                <a:gd name="T4" fmla="*/ 91 w 130"/>
                <a:gd name="T5" fmla="*/ 38 h 157"/>
                <a:gd name="T6" fmla="*/ 80 w 130"/>
                <a:gd name="T7" fmla="*/ 30 h 157"/>
                <a:gd name="T8" fmla="*/ 64 w 130"/>
                <a:gd name="T9" fmla="*/ 27 h 157"/>
                <a:gd name="T10" fmla="*/ 51 w 130"/>
                <a:gd name="T11" fmla="*/ 29 h 157"/>
                <a:gd name="T12" fmla="*/ 41 w 130"/>
                <a:gd name="T13" fmla="*/ 37 h 157"/>
                <a:gd name="T14" fmla="*/ 34 w 130"/>
                <a:gd name="T15" fmla="*/ 48 h 157"/>
                <a:gd name="T16" fmla="*/ 30 w 130"/>
                <a:gd name="T17" fmla="*/ 65 h 157"/>
                <a:gd name="T18" fmla="*/ 100 w 130"/>
                <a:gd name="T19" fmla="*/ 65 h 157"/>
                <a:gd name="T20" fmla="*/ 130 w 130"/>
                <a:gd name="T21" fmla="*/ 75 h 157"/>
                <a:gd name="T22" fmla="*/ 129 w 130"/>
                <a:gd name="T23" fmla="*/ 83 h 157"/>
                <a:gd name="T24" fmla="*/ 129 w 130"/>
                <a:gd name="T25" fmla="*/ 89 h 157"/>
                <a:gd name="T26" fmla="*/ 29 w 130"/>
                <a:gd name="T27" fmla="*/ 89 h 157"/>
                <a:gd name="T28" fmla="*/ 34 w 130"/>
                <a:gd name="T29" fmla="*/ 108 h 157"/>
                <a:gd name="T30" fmla="*/ 43 w 130"/>
                <a:gd name="T31" fmla="*/ 120 h 157"/>
                <a:gd name="T32" fmla="*/ 54 w 130"/>
                <a:gd name="T33" fmla="*/ 128 h 157"/>
                <a:gd name="T34" fmla="*/ 67 w 130"/>
                <a:gd name="T35" fmla="*/ 130 h 157"/>
                <a:gd name="T36" fmla="*/ 77 w 130"/>
                <a:gd name="T37" fmla="*/ 129 h 157"/>
                <a:gd name="T38" fmla="*/ 85 w 130"/>
                <a:gd name="T39" fmla="*/ 127 h 157"/>
                <a:gd name="T40" fmla="*/ 92 w 130"/>
                <a:gd name="T41" fmla="*/ 123 h 157"/>
                <a:gd name="T42" fmla="*/ 100 w 130"/>
                <a:gd name="T43" fmla="*/ 118 h 157"/>
                <a:gd name="T44" fmla="*/ 117 w 130"/>
                <a:gd name="T45" fmla="*/ 137 h 157"/>
                <a:gd name="T46" fmla="*/ 107 w 130"/>
                <a:gd name="T47" fmla="*/ 146 h 157"/>
                <a:gd name="T48" fmla="*/ 96 w 130"/>
                <a:gd name="T49" fmla="*/ 151 h 157"/>
                <a:gd name="T50" fmla="*/ 82 w 130"/>
                <a:gd name="T51" fmla="*/ 155 h 157"/>
                <a:gd name="T52" fmla="*/ 65 w 130"/>
                <a:gd name="T53" fmla="*/ 157 h 157"/>
                <a:gd name="T54" fmla="*/ 47 w 130"/>
                <a:gd name="T55" fmla="*/ 154 h 157"/>
                <a:gd name="T56" fmla="*/ 32 w 130"/>
                <a:gd name="T57" fmla="*/ 147 h 157"/>
                <a:gd name="T58" fmla="*/ 20 w 130"/>
                <a:gd name="T59" fmla="*/ 137 h 157"/>
                <a:gd name="T60" fmla="*/ 10 w 130"/>
                <a:gd name="T61" fmla="*/ 122 h 157"/>
                <a:gd name="T62" fmla="*/ 3 w 130"/>
                <a:gd name="T63" fmla="*/ 102 h 157"/>
                <a:gd name="T64" fmla="*/ 0 w 130"/>
                <a:gd name="T65" fmla="*/ 78 h 157"/>
                <a:gd name="T66" fmla="*/ 5 w 130"/>
                <a:gd name="T67" fmla="*/ 45 h 157"/>
                <a:gd name="T68" fmla="*/ 19 w 130"/>
                <a:gd name="T69" fmla="*/ 20 h 157"/>
                <a:gd name="T70" fmla="*/ 40 w 130"/>
                <a:gd name="T71" fmla="*/ 5 h 157"/>
                <a:gd name="T72" fmla="*/ 66 w 130"/>
                <a:gd name="T73" fmla="*/ 0 h 157"/>
                <a:gd name="T74" fmla="*/ 94 w 130"/>
                <a:gd name="T75" fmla="*/ 6 h 157"/>
                <a:gd name="T76" fmla="*/ 114 w 130"/>
                <a:gd name="T77" fmla="*/ 22 h 157"/>
                <a:gd name="T78" fmla="*/ 126 w 130"/>
                <a:gd name="T79" fmla="*/ 46 h 157"/>
                <a:gd name="T80" fmla="*/ 130 w 130"/>
                <a:gd name="T81" fmla="*/ 75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30" h="157">
                  <a:moveTo>
                    <a:pt x="100" y="65"/>
                  </a:moveTo>
                  <a:cubicBezTo>
                    <a:pt x="100" y="59"/>
                    <a:pt x="99" y="55"/>
                    <a:pt x="97" y="50"/>
                  </a:cubicBezTo>
                  <a:cubicBezTo>
                    <a:pt x="96" y="45"/>
                    <a:pt x="94" y="41"/>
                    <a:pt x="91" y="38"/>
                  </a:cubicBezTo>
                  <a:cubicBezTo>
                    <a:pt x="88" y="34"/>
                    <a:pt x="84" y="32"/>
                    <a:pt x="80" y="30"/>
                  </a:cubicBezTo>
                  <a:cubicBezTo>
                    <a:pt x="76" y="28"/>
                    <a:pt x="70" y="27"/>
                    <a:pt x="64" y="27"/>
                  </a:cubicBezTo>
                  <a:cubicBezTo>
                    <a:pt x="59" y="27"/>
                    <a:pt x="55" y="28"/>
                    <a:pt x="51" y="29"/>
                  </a:cubicBezTo>
                  <a:cubicBezTo>
                    <a:pt x="47" y="31"/>
                    <a:pt x="43" y="34"/>
                    <a:pt x="41" y="37"/>
                  </a:cubicBezTo>
                  <a:cubicBezTo>
                    <a:pt x="38" y="40"/>
                    <a:pt x="35" y="44"/>
                    <a:pt x="34" y="48"/>
                  </a:cubicBezTo>
                  <a:cubicBezTo>
                    <a:pt x="32" y="53"/>
                    <a:pt x="31" y="58"/>
                    <a:pt x="30" y="65"/>
                  </a:cubicBezTo>
                  <a:lnTo>
                    <a:pt x="100" y="65"/>
                  </a:lnTo>
                  <a:close/>
                  <a:moveTo>
                    <a:pt x="130" y="75"/>
                  </a:moveTo>
                  <a:cubicBezTo>
                    <a:pt x="130" y="78"/>
                    <a:pt x="130" y="81"/>
                    <a:pt x="129" y="83"/>
                  </a:cubicBezTo>
                  <a:cubicBezTo>
                    <a:pt x="129" y="85"/>
                    <a:pt x="129" y="87"/>
                    <a:pt x="129" y="89"/>
                  </a:cubicBezTo>
                  <a:cubicBezTo>
                    <a:pt x="29" y="89"/>
                    <a:pt x="29" y="89"/>
                    <a:pt x="29" y="89"/>
                  </a:cubicBezTo>
                  <a:cubicBezTo>
                    <a:pt x="30" y="96"/>
                    <a:pt x="32" y="102"/>
                    <a:pt x="34" y="108"/>
                  </a:cubicBezTo>
                  <a:cubicBezTo>
                    <a:pt x="36" y="113"/>
                    <a:pt x="39" y="117"/>
                    <a:pt x="43" y="120"/>
                  </a:cubicBezTo>
                  <a:cubicBezTo>
                    <a:pt x="46" y="124"/>
                    <a:pt x="50" y="126"/>
                    <a:pt x="54" y="128"/>
                  </a:cubicBezTo>
                  <a:cubicBezTo>
                    <a:pt x="58" y="129"/>
                    <a:pt x="63" y="130"/>
                    <a:pt x="67" y="130"/>
                  </a:cubicBezTo>
                  <a:cubicBezTo>
                    <a:pt x="71" y="130"/>
                    <a:pt x="74" y="130"/>
                    <a:pt x="77" y="129"/>
                  </a:cubicBezTo>
                  <a:cubicBezTo>
                    <a:pt x="79" y="129"/>
                    <a:pt x="82" y="128"/>
                    <a:pt x="85" y="127"/>
                  </a:cubicBezTo>
                  <a:cubicBezTo>
                    <a:pt x="88" y="126"/>
                    <a:pt x="90" y="124"/>
                    <a:pt x="92" y="123"/>
                  </a:cubicBezTo>
                  <a:cubicBezTo>
                    <a:pt x="94" y="122"/>
                    <a:pt x="97" y="120"/>
                    <a:pt x="100" y="118"/>
                  </a:cubicBezTo>
                  <a:cubicBezTo>
                    <a:pt x="117" y="137"/>
                    <a:pt x="117" y="137"/>
                    <a:pt x="117" y="137"/>
                  </a:cubicBezTo>
                  <a:cubicBezTo>
                    <a:pt x="114" y="140"/>
                    <a:pt x="110" y="143"/>
                    <a:pt x="107" y="146"/>
                  </a:cubicBezTo>
                  <a:cubicBezTo>
                    <a:pt x="103" y="148"/>
                    <a:pt x="100" y="150"/>
                    <a:pt x="96" y="151"/>
                  </a:cubicBezTo>
                  <a:cubicBezTo>
                    <a:pt x="92" y="153"/>
                    <a:pt x="87" y="154"/>
                    <a:pt x="82" y="155"/>
                  </a:cubicBezTo>
                  <a:cubicBezTo>
                    <a:pt x="77" y="156"/>
                    <a:pt x="72" y="157"/>
                    <a:pt x="65" y="157"/>
                  </a:cubicBezTo>
                  <a:cubicBezTo>
                    <a:pt x="59" y="157"/>
                    <a:pt x="53" y="156"/>
                    <a:pt x="47" y="154"/>
                  </a:cubicBezTo>
                  <a:cubicBezTo>
                    <a:pt x="41" y="152"/>
                    <a:pt x="36" y="150"/>
                    <a:pt x="32" y="147"/>
                  </a:cubicBezTo>
                  <a:cubicBezTo>
                    <a:pt x="28" y="144"/>
                    <a:pt x="24" y="141"/>
                    <a:pt x="20" y="137"/>
                  </a:cubicBezTo>
                  <a:cubicBezTo>
                    <a:pt x="17" y="133"/>
                    <a:pt x="13" y="128"/>
                    <a:pt x="10" y="122"/>
                  </a:cubicBezTo>
                  <a:cubicBezTo>
                    <a:pt x="7" y="116"/>
                    <a:pt x="5" y="110"/>
                    <a:pt x="3" y="102"/>
                  </a:cubicBezTo>
                  <a:cubicBezTo>
                    <a:pt x="1" y="95"/>
                    <a:pt x="0" y="87"/>
                    <a:pt x="0" y="78"/>
                  </a:cubicBezTo>
                  <a:cubicBezTo>
                    <a:pt x="0" y="66"/>
                    <a:pt x="2" y="55"/>
                    <a:pt x="5" y="45"/>
                  </a:cubicBezTo>
                  <a:cubicBezTo>
                    <a:pt x="8" y="35"/>
                    <a:pt x="13" y="27"/>
                    <a:pt x="19" y="20"/>
                  </a:cubicBezTo>
                  <a:cubicBezTo>
                    <a:pt x="25" y="14"/>
                    <a:pt x="31" y="9"/>
                    <a:pt x="40" y="5"/>
                  </a:cubicBezTo>
                  <a:cubicBezTo>
                    <a:pt x="48" y="2"/>
                    <a:pt x="57" y="0"/>
                    <a:pt x="66" y="0"/>
                  </a:cubicBezTo>
                  <a:cubicBezTo>
                    <a:pt x="77" y="0"/>
                    <a:pt x="86" y="2"/>
                    <a:pt x="94" y="6"/>
                  </a:cubicBezTo>
                  <a:cubicBezTo>
                    <a:pt x="102" y="10"/>
                    <a:pt x="109" y="16"/>
                    <a:pt x="114" y="22"/>
                  </a:cubicBezTo>
                  <a:cubicBezTo>
                    <a:pt x="119" y="29"/>
                    <a:pt x="123" y="37"/>
                    <a:pt x="126" y="46"/>
                  </a:cubicBezTo>
                  <a:cubicBezTo>
                    <a:pt x="128" y="56"/>
                    <a:pt x="130" y="65"/>
                    <a:pt x="130" y="75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3" name="Freeform 113">
              <a:extLst>
                <a:ext uri="{FF2B5EF4-FFF2-40B4-BE49-F238E27FC236}">
                  <a16:creationId xmlns:a16="http://schemas.microsoft.com/office/drawing/2014/main" id="{612E0877-FC6A-7D52-48C1-CD1B183F34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057507" y="4884632"/>
              <a:ext cx="155278" cy="199136"/>
            </a:xfrm>
            <a:custGeom>
              <a:avLst/>
              <a:gdLst>
                <a:gd name="T0" fmla="*/ 91 w 120"/>
                <a:gd name="T1" fmla="*/ 154 h 154"/>
                <a:gd name="T2" fmla="*/ 91 w 120"/>
                <a:gd name="T3" fmla="*/ 69 h 154"/>
                <a:gd name="T4" fmla="*/ 84 w 120"/>
                <a:gd name="T5" fmla="*/ 38 h 154"/>
                <a:gd name="T6" fmla="*/ 60 w 120"/>
                <a:gd name="T7" fmla="*/ 27 h 154"/>
                <a:gd name="T8" fmla="*/ 47 w 120"/>
                <a:gd name="T9" fmla="*/ 30 h 154"/>
                <a:gd name="T10" fmla="*/ 37 w 120"/>
                <a:gd name="T11" fmla="*/ 38 h 154"/>
                <a:gd name="T12" fmla="*/ 31 w 120"/>
                <a:gd name="T13" fmla="*/ 50 h 154"/>
                <a:gd name="T14" fmla="*/ 29 w 120"/>
                <a:gd name="T15" fmla="*/ 66 h 154"/>
                <a:gd name="T16" fmla="*/ 29 w 120"/>
                <a:gd name="T17" fmla="*/ 154 h 154"/>
                <a:gd name="T18" fmla="*/ 0 w 120"/>
                <a:gd name="T19" fmla="*/ 154 h 154"/>
                <a:gd name="T20" fmla="*/ 0 w 120"/>
                <a:gd name="T21" fmla="*/ 3 h 154"/>
                <a:gd name="T22" fmla="*/ 29 w 120"/>
                <a:gd name="T23" fmla="*/ 3 h 154"/>
                <a:gd name="T24" fmla="*/ 29 w 120"/>
                <a:gd name="T25" fmla="*/ 18 h 154"/>
                <a:gd name="T26" fmla="*/ 36 w 120"/>
                <a:gd name="T27" fmla="*/ 10 h 154"/>
                <a:gd name="T28" fmla="*/ 45 w 120"/>
                <a:gd name="T29" fmla="*/ 5 h 154"/>
                <a:gd name="T30" fmla="*/ 55 w 120"/>
                <a:gd name="T31" fmla="*/ 1 h 154"/>
                <a:gd name="T32" fmla="*/ 67 w 120"/>
                <a:gd name="T33" fmla="*/ 0 h 154"/>
                <a:gd name="T34" fmla="*/ 90 w 120"/>
                <a:gd name="T35" fmla="*/ 4 h 154"/>
                <a:gd name="T36" fmla="*/ 107 w 120"/>
                <a:gd name="T37" fmla="*/ 17 h 154"/>
                <a:gd name="T38" fmla="*/ 117 w 120"/>
                <a:gd name="T39" fmla="*/ 38 h 154"/>
                <a:gd name="T40" fmla="*/ 120 w 120"/>
                <a:gd name="T41" fmla="*/ 67 h 154"/>
                <a:gd name="T42" fmla="*/ 120 w 120"/>
                <a:gd name="T43" fmla="*/ 154 h 154"/>
                <a:gd name="T44" fmla="*/ 91 w 120"/>
                <a:gd name="T45" fmla="*/ 15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0" h="154">
                  <a:moveTo>
                    <a:pt x="91" y="154"/>
                  </a:moveTo>
                  <a:cubicBezTo>
                    <a:pt x="91" y="69"/>
                    <a:pt x="91" y="69"/>
                    <a:pt x="91" y="69"/>
                  </a:cubicBezTo>
                  <a:cubicBezTo>
                    <a:pt x="91" y="55"/>
                    <a:pt x="88" y="45"/>
                    <a:pt x="84" y="38"/>
                  </a:cubicBezTo>
                  <a:cubicBezTo>
                    <a:pt x="79" y="31"/>
                    <a:pt x="71" y="27"/>
                    <a:pt x="60" y="27"/>
                  </a:cubicBezTo>
                  <a:cubicBezTo>
                    <a:pt x="55" y="27"/>
                    <a:pt x="51" y="28"/>
                    <a:pt x="47" y="30"/>
                  </a:cubicBezTo>
                  <a:cubicBezTo>
                    <a:pt x="43" y="32"/>
                    <a:pt x="40" y="34"/>
                    <a:pt x="37" y="38"/>
                  </a:cubicBezTo>
                  <a:cubicBezTo>
                    <a:pt x="34" y="41"/>
                    <a:pt x="32" y="45"/>
                    <a:pt x="31" y="50"/>
                  </a:cubicBezTo>
                  <a:cubicBezTo>
                    <a:pt x="30" y="55"/>
                    <a:pt x="29" y="60"/>
                    <a:pt x="29" y="66"/>
                  </a:cubicBezTo>
                  <a:cubicBezTo>
                    <a:pt x="29" y="154"/>
                    <a:pt x="29" y="154"/>
                    <a:pt x="29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31" y="15"/>
                    <a:pt x="33" y="12"/>
                    <a:pt x="36" y="10"/>
                  </a:cubicBezTo>
                  <a:cubicBezTo>
                    <a:pt x="39" y="8"/>
                    <a:pt x="42" y="6"/>
                    <a:pt x="45" y="5"/>
                  </a:cubicBezTo>
                  <a:cubicBezTo>
                    <a:pt x="48" y="3"/>
                    <a:pt x="52" y="2"/>
                    <a:pt x="55" y="1"/>
                  </a:cubicBezTo>
                  <a:cubicBezTo>
                    <a:pt x="59" y="0"/>
                    <a:pt x="63" y="0"/>
                    <a:pt x="67" y="0"/>
                  </a:cubicBezTo>
                  <a:cubicBezTo>
                    <a:pt x="76" y="0"/>
                    <a:pt x="84" y="2"/>
                    <a:pt x="90" y="4"/>
                  </a:cubicBezTo>
                  <a:cubicBezTo>
                    <a:pt x="97" y="7"/>
                    <a:pt x="103" y="12"/>
                    <a:pt x="107" y="17"/>
                  </a:cubicBezTo>
                  <a:cubicBezTo>
                    <a:pt x="112" y="23"/>
                    <a:pt x="115" y="30"/>
                    <a:pt x="117" y="38"/>
                  </a:cubicBezTo>
                  <a:cubicBezTo>
                    <a:pt x="119" y="46"/>
                    <a:pt x="120" y="56"/>
                    <a:pt x="120" y="67"/>
                  </a:cubicBezTo>
                  <a:cubicBezTo>
                    <a:pt x="120" y="154"/>
                    <a:pt x="120" y="154"/>
                    <a:pt x="120" y="154"/>
                  </a:cubicBezTo>
                  <a:lnTo>
                    <a:pt x="91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4" name="Freeform 114">
              <a:extLst>
                <a:ext uri="{FF2B5EF4-FFF2-40B4-BE49-F238E27FC236}">
                  <a16:creationId xmlns:a16="http://schemas.microsoft.com/office/drawing/2014/main" id="{3747C2F1-C10A-B025-2AFB-6AAD0580A0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241235" y="4884632"/>
              <a:ext cx="173060" cy="202693"/>
            </a:xfrm>
            <a:custGeom>
              <a:avLst/>
              <a:gdLst>
                <a:gd name="T0" fmla="*/ 105 w 134"/>
                <a:gd name="T1" fmla="*/ 78 h 157"/>
                <a:gd name="T2" fmla="*/ 102 w 134"/>
                <a:gd name="T3" fmla="*/ 58 h 157"/>
                <a:gd name="T4" fmla="*/ 94 w 134"/>
                <a:gd name="T5" fmla="*/ 42 h 157"/>
                <a:gd name="T6" fmla="*/ 82 w 134"/>
                <a:gd name="T7" fmla="*/ 32 h 157"/>
                <a:gd name="T8" fmla="*/ 66 w 134"/>
                <a:gd name="T9" fmla="*/ 28 h 157"/>
                <a:gd name="T10" fmla="*/ 51 w 134"/>
                <a:gd name="T11" fmla="*/ 32 h 157"/>
                <a:gd name="T12" fmla="*/ 40 w 134"/>
                <a:gd name="T13" fmla="*/ 42 h 157"/>
                <a:gd name="T14" fmla="*/ 33 w 134"/>
                <a:gd name="T15" fmla="*/ 57 h 157"/>
                <a:gd name="T16" fmla="*/ 30 w 134"/>
                <a:gd name="T17" fmla="*/ 78 h 157"/>
                <a:gd name="T18" fmla="*/ 33 w 134"/>
                <a:gd name="T19" fmla="*/ 100 h 157"/>
                <a:gd name="T20" fmla="*/ 41 w 134"/>
                <a:gd name="T21" fmla="*/ 116 h 157"/>
                <a:gd name="T22" fmla="*/ 52 w 134"/>
                <a:gd name="T23" fmla="*/ 125 h 157"/>
                <a:gd name="T24" fmla="*/ 68 w 134"/>
                <a:gd name="T25" fmla="*/ 129 h 157"/>
                <a:gd name="T26" fmla="*/ 83 w 134"/>
                <a:gd name="T27" fmla="*/ 125 h 157"/>
                <a:gd name="T28" fmla="*/ 95 w 134"/>
                <a:gd name="T29" fmla="*/ 114 h 157"/>
                <a:gd name="T30" fmla="*/ 102 w 134"/>
                <a:gd name="T31" fmla="*/ 98 h 157"/>
                <a:gd name="T32" fmla="*/ 105 w 134"/>
                <a:gd name="T33" fmla="*/ 78 h 157"/>
                <a:gd name="T34" fmla="*/ 134 w 134"/>
                <a:gd name="T35" fmla="*/ 78 h 157"/>
                <a:gd name="T36" fmla="*/ 129 w 134"/>
                <a:gd name="T37" fmla="*/ 111 h 157"/>
                <a:gd name="T38" fmla="*/ 115 w 134"/>
                <a:gd name="T39" fmla="*/ 136 h 157"/>
                <a:gd name="T40" fmla="*/ 93 w 134"/>
                <a:gd name="T41" fmla="*/ 151 h 157"/>
                <a:gd name="T42" fmla="*/ 67 w 134"/>
                <a:gd name="T43" fmla="*/ 157 h 157"/>
                <a:gd name="T44" fmla="*/ 40 w 134"/>
                <a:gd name="T45" fmla="*/ 151 h 157"/>
                <a:gd name="T46" fmla="*/ 19 w 134"/>
                <a:gd name="T47" fmla="*/ 135 h 157"/>
                <a:gd name="T48" fmla="*/ 5 w 134"/>
                <a:gd name="T49" fmla="*/ 111 h 157"/>
                <a:gd name="T50" fmla="*/ 0 w 134"/>
                <a:gd name="T51" fmla="*/ 78 h 157"/>
                <a:gd name="T52" fmla="*/ 6 w 134"/>
                <a:gd name="T53" fmla="*/ 45 h 157"/>
                <a:gd name="T54" fmla="*/ 20 w 134"/>
                <a:gd name="T55" fmla="*/ 21 h 157"/>
                <a:gd name="T56" fmla="*/ 41 w 134"/>
                <a:gd name="T57" fmla="*/ 5 h 157"/>
                <a:gd name="T58" fmla="*/ 67 w 134"/>
                <a:gd name="T59" fmla="*/ 0 h 157"/>
                <a:gd name="T60" fmla="*/ 94 w 134"/>
                <a:gd name="T61" fmla="*/ 6 h 157"/>
                <a:gd name="T62" fmla="*/ 115 w 134"/>
                <a:gd name="T63" fmla="*/ 21 h 157"/>
                <a:gd name="T64" fmla="*/ 129 w 134"/>
                <a:gd name="T65" fmla="*/ 46 h 157"/>
                <a:gd name="T66" fmla="*/ 134 w 134"/>
                <a:gd name="T67" fmla="*/ 78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34" h="157">
                  <a:moveTo>
                    <a:pt x="105" y="78"/>
                  </a:moveTo>
                  <a:cubicBezTo>
                    <a:pt x="105" y="71"/>
                    <a:pt x="104" y="64"/>
                    <a:pt x="102" y="58"/>
                  </a:cubicBezTo>
                  <a:cubicBezTo>
                    <a:pt x="100" y="52"/>
                    <a:pt x="98" y="46"/>
                    <a:pt x="94" y="42"/>
                  </a:cubicBezTo>
                  <a:cubicBezTo>
                    <a:pt x="91" y="37"/>
                    <a:pt x="87" y="34"/>
                    <a:pt x="82" y="32"/>
                  </a:cubicBezTo>
                  <a:cubicBezTo>
                    <a:pt x="78" y="29"/>
                    <a:pt x="72" y="28"/>
                    <a:pt x="66" y="28"/>
                  </a:cubicBezTo>
                  <a:cubicBezTo>
                    <a:pt x="61" y="28"/>
                    <a:pt x="56" y="29"/>
                    <a:pt x="51" y="32"/>
                  </a:cubicBezTo>
                  <a:cubicBezTo>
                    <a:pt x="47" y="34"/>
                    <a:pt x="43" y="37"/>
                    <a:pt x="40" y="42"/>
                  </a:cubicBezTo>
                  <a:cubicBezTo>
                    <a:pt x="37" y="46"/>
                    <a:pt x="34" y="51"/>
                    <a:pt x="33" y="57"/>
                  </a:cubicBezTo>
                  <a:cubicBezTo>
                    <a:pt x="31" y="63"/>
                    <a:pt x="30" y="70"/>
                    <a:pt x="30" y="78"/>
                  </a:cubicBezTo>
                  <a:cubicBezTo>
                    <a:pt x="30" y="86"/>
                    <a:pt x="31" y="93"/>
                    <a:pt x="33" y="100"/>
                  </a:cubicBezTo>
                  <a:cubicBezTo>
                    <a:pt x="35" y="106"/>
                    <a:pt x="37" y="111"/>
                    <a:pt x="41" y="116"/>
                  </a:cubicBezTo>
                  <a:cubicBezTo>
                    <a:pt x="44" y="120"/>
                    <a:pt x="48" y="123"/>
                    <a:pt x="52" y="125"/>
                  </a:cubicBezTo>
                  <a:cubicBezTo>
                    <a:pt x="57" y="128"/>
                    <a:pt x="62" y="129"/>
                    <a:pt x="68" y="129"/>
                  </a:cubicBezTo>
                  <a:cubicBezTo>
                    <a:pt x="73" y="129"/>
                    <a:pt x="78" y="127"/>
                    <a:pt x="83" y="125"/>
                  </a:cubicBezTo>
                  <a:cubicBezTo>
                    <a:pt x="87" y="122"/>
                    <a:pt x="91" y="118"/>
                    <a:pt x="95" y="114"/>
                  </a:cubicBezTo>
                  <a:cubicBezTo>
                    <a:pt x="98" y="109"/>
                    <a:pt x="100" y="104"/>
                    <a:pt x="102" y="98"/>
                  </a:cubicBezTo>
                  <a:cubicBezTo>
                    <a:pt x="104" y="92"/>
                    <a:pt x="105" y="85"/>
                    <a:pt x="105" y="78"/>
                  </a:cubicBezTo>
                  <a:moveTo>
                    <a:pt x="134" y="78"/>
                  </a:moveTo>
                  <a:cubicBezTo>
                    <a:pt x="134" y="90"/>
                    <a:pt x="133" y="101"/>
                    <a:pt x="129" y="111"/>
                  </a:cubicBezTo>
                  <a:cubicBezTo>
                    <a:pt x="126" y="121"/>
                    <a:pt x="121" y="129"/>
                    <a:pt x="115" y="136"/>
                  </a:cubicBezTo>
                  <a:cubicBezTo>
                    <a:pt x="109" y="143"/>
                    <a:pt x="102" y="148"/>
                    <a:pt x="93" y="151"/>
                  </a:cubicBezTo>
                  <a:cubicBezTo>
                    <a:pt x="85" y="155"/>
                    <a:pt x="76" y="157"/>
                    <a:pt x="67" y="157"/>
                  </a:cubicBezTo>
                  <a:cubicBezTo>
                    <a:pt x="57" y="157"/>
                    <a:pt x="48" y="155"/>
                    <a:pt x="40" y="151"/>
                  </a:cubicBezTo>
                  <a:cubicBezTo>
                    <a:pt x="32" y="147"/>
                    <a:pt x="25" y="142"/>
                    <a:pt x="19" y="135"/>
                  </a:cubicBezTo>
                  <a:cubicBezTo>
                    <a:pt x="13" y="128"/>
                    <a:pt x="9" y="120"/>
                    <a:pt x="5" y="111"/>
                  </a:cubicBezTo>
                  <a:cubicBezTo>
                    <a:pt x="2" y="101"/>
                    <a:pt x="0" y="90"/>
                    <a:pt x="0" y="78"/>
                  </a:cubicBezTo>
                  <a:cubicBezTo>
                    <a:pt x="0" y="66"/>
                    <a:pt x="2" y="55"/>
                    <a:pt x="6" y="45"/>
                  </a:cubicBezTo>
                  <a:cubicBezTo>
                    <a:pt x="9" y="36"/>
                    <a:pt x="14" y="28"/>
                    <a:pt x="20" y="21"/>
                  </a:cubicBezTo>
                  <a:cubicBezTo>
                    <a:pt x="26" y="14"/>
                    <a:pt x="33" y="9"/>
                    <a:pt x="41" y="5"/>
                  </a:cubicBezTo>
                  <a:cubicBezTo>
                    <a:pt x="49" y="2"/>
                    <a:pt x="58" y="0"/>
                    <a:pt x="67" y="0"/>
                  </a:cubicBezTo>
                  <a:cubicBezTo>
                    <a:pt x="77" y="0"/>
                    <a:pt x="86" y="2"/>
                    <a:pt x="94" y="6"/>
                  </a:cubicBezTo>
                  <a:cubicBezTo>
                    <a:pt x="102" y="9"/>
                    <a:pt x="109" y="14"/>
                    <a:pt x="115" y="21"/>
                  </a:cubicBezTo>
                  <a:cubicBezTo>
                    <a:pt x="121" y="28"/>
                    <a:pt x="126" y="36"/>
                    <a:pt x="129" y="46"/>
                  </a:cubicBezTo>
                  <a:cubicBezTo>
                    <a:pt x="133" y="55"/>
                    <a:pt x="134" y="66"/>
                    <a:pt x="134" y="78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5" name="Freeform 115">
              <a:extLst>
                <a:ext uri="{FF2B5EF4-FFF2-40B4-BE49-F238E27FC236}">
                  <a16:creationId xmlns:a16="http://schemas.microsoft.com/office/drawing/2014/main" id="{E2766335-8EAF-2F71-CAAF-ACA3FD467E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42742" y="4884632"/>
              <a:ext cx="156464" cy="199136"/>
            </a:xfrm>
            <a:custGeom>
              <a:avLst/>
              <a:gdLst>
                <a:gd name="T0" fmla="*/ 92 w 121"/>
                <a:gd name="T1" fmla="*/ 154 h 154"/>
                <a:gd name="T2" fmla="*/ 92 w 121"/>
                <a:gd name="T3" fmla="*/ 69 h 154"/>
                <a:gd name="T4" fmla="*/ 84 w 121"/>
                <a:gd name="T5" fmla="*/ 38 h 154"/>
                <a:gd name="T6" fmla="*/ 61 w 121"/>
                <a:gd name="T7" fmla="*/ 27 h 154"/>
                <a:gd name="T8" fmla="*/ 48 w 121"/>
                <a:gd name="T9" fmla="*/ 30 h 154"/>
                <a:gd name="T10" fmla="*/ 38 w 121"/>
                <a:gd name="T11" fmla="*/ 38 h 154"/>
                <a:gd name="T12" fmla="*/ 32 w 121"/>
                <a:gd name="T13" fmla="*/ 50 h 154"/>
                <a:gd name="T14" fmla="*/ 30 w 121"/>
                <a:gd name="T15" fmla="*/ 66 h 154"/>
                <a:gd name="T16" fmla="*/ 30 w 121"/>
                <a:gd name="T17" fmla="*/ 154 h 154"/>
                <a:gd name="T18" fmla="*/ 0 w 121"/>
                <a:gd name="T19" fmla="*/ 154 h 154"/>
                <a:gd name="T20" fmla="*/ 0 w 121"/>
                <a:gd name="T21" fmla="*/ 3 h 154"/>
                <a:gd name="T22" fmla="*/ 30 w 121"/>
                <a:gd name="T23" fmla="*/ 3 h 154"/>
                <a:gd name="T24" fmla="*/ 30 w 121"/>
                <a:gd name="T25" fmla="*/ 18 h 154"/>
                <a:gd name="T26" fmla="*/ 37 w 121"/>
                <a:gd name="T27" fmla="*/ 10 h 154"/>
                <a:gd name="T28" fmla="*/ 46 w 121"/>
                <a:gd name="T29" fmla="*/ 5 h 154"/>
                <a:gd name="T30" fmla="*/ 56 w 121"/>
                <a:gd name="T31" fmla="*/ 1 h 154"/>
                <a:gd name="T32" fmla="*/ 68 w 121"/>
                <a:gd name="T33" fmla="*/ 0 h 154"/>
                <a:gd name="T34" fmla="*/ 91 w 121"/>
                <a:gd name="T35" fmla="*/ 4 h 154"/>
                <a:gd name="T36" fmla="*/ 108 w 121"/>
                <a:gd name="T37" fmla="*/ 17 h 154"/>
                <a:gd name="T38" fmla="*/ 118 w 121"/>
                <a:gd name="T39" fmla="*/ 38 h 154"/>
                <a:gd name="T40" fmla="*/ 121 w 121"/>
                <a:gd name="T41" fmla="*/ 67 h 154"/>
                <a:gd name="T42" fmla="*/ 121 w 121"/>
                <a:gd name="T43" fmla="*/ 154 h 154"/>
                <a:gd name="T44" fmla="*/ 92 w 121"/>
                <a:gd name="T45" fmla="*/ 15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1" h="154">
                  <a:moveTo>
                    <a:pt x="92" y="154"/>
                  </a:moveTo>
                  <a:cubicBezTo>
                    <a:pt x="92" y="69"/>
                    <a:pt x="92" y="69"/>
                    <a:pt x="92" y="69"/>
                  </a:cubicBezTo>
                  <a:cubicBezTo>
                    <a:pt x="92" y="55"/>
                    <a:pt x="89" y="45"/>
                    <a:pt x="84" y="38"/>
                  </a:cubicBezTo>
                  <a:cubicBezTo>
                    <a:pt x="80" y="31"/>
                    <a:pt x="72" y="27"/>
                    <a:pt x="61" y="27"/>
                  </a:cubicBezTo>
                  <a:cubicBezTo>
                    <a:pt x="56" y="27"/>
                    <a:pt x="52" y="28"/>
                    <a:pt x="48" y="30"/>
                  </a:cubicBezTo>
                  <a:cubicBezTo>
                    <a:pt x="44" y="32"/>
                    <a:pt x="40" y="34"/>
                    <a:pt x="38" y="38"/>
                  </a:cubicBezTo>
                  <a:cubicBezTo>
                    <a:pt x="35" y="41"/>
                    <a:pt x="33" y="45"/>
                    <a:pt x="32" y="50"/>
                  </a:cubicBezTo>
                  <a:cubicBezTo>
                    <a:pt x="31" y="55"/>
                    <a:pt x="30" y="60"/>
                    <a:pt x="30" y="66"/>
                  </a:cubicBezTo>
                  <a:cubicBezTo>
                    <a:pt x="30" y="154"/>
                    <a:pt x="30" y="154"/>
                    <a:pt x="30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2" y="15"/>
                    <a:pt x="34" y="12"/>
                    <a:pt x="37" y="10"/>
                  </a:cubicBezTo>
                  <a:cubicBezTo>
                    <a:pt x="39" y="8"/>
                    <a:pt x="42" y="6"/>
                    <a:pt x="46" y="5"/>
                  </a:cubicBezTo>
                  <a:cubicBezTo>
                    <a:pt x="49" y="3"/>
                    <a:pt x="52" y="2"/>
                    <a:pt x="56" y="1"/>
                  </a:cubicBezTo>
                  <a:cubicBezTo>
                    <a:pt x="60" y="0"/>
                    <a:pt x="64" y="0"/>
                    <a:pt x="68" y="0"/>
                  </a:cubicBezTo>
                  <a:cubicBezTo>
                    <a:pt x="77" y="0"/>
                    <a:pt x="85" y="2"/>
                    <a:pt x="91" y="4"/>
                  </a:cubicBezTo>
                  <a:cubicBezTo>
                    <a:pt x="98" y="7"/>
                    <a:pt x="103" y="12"/>
                    <a:pt x="108" y="17"/>
                  </a:cubicBezTo>
                  <a:cubicBezTo>
                    <a:pt x="112" y="23"/>
                    <a:pt x="116" y="30"/>
                    <a:pt x="118" y="38"/>
                  </a:cubicBezTo>
                  <a:cubicBezTo>
                    <a:pt x="120" y="46"/>
                    <a:pt x="121" y="56"/>
                    <a:pt x="121" y="67"/>
                  </a:cubicBezTo>
                  <a:cubicBezTo>
                    <a:pt x="121" y="154"/>
                    <a:pt x="121" y="154"/>
                    <a:pt x="121" y="154"/>
                  </a:cubicBezTo>
                  <a:lnTo>
                    <a:pt x="92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6" name="Freeform 117">
              <a:extLst>
                <a:ext uri="{FF2B5EF4-FFF2-40B4-BE49-F238E27FC236}">
                  <a16:creationId xmlns:a16="http://schemas.microsoft.com/office/drawing/2014/main" id="{64294034-D582-128D-A72C-6B8C265EA5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258171" y="4332267"/>
              <a:ext cx="733721" cy="267886"/>
            </a:xfrm>
            <a:custGeom>
              <a:avLst/>
              <a:gdLst>
                <a:gd name="T0" fmla="*/ 619 w 619"/>
                <a:gd name="T1" fmla="*/ 0 h 226"/>
                <a:gd name="T2" fmla="*/ 0 w 619"/>
                <a:gd name="T3" fmla="*/ 226 h 226"/>
                <a:gd name="T4" fmla="*/ 619 w 619"/>
                <a:gd name="T5" fmla="*/ 117 h 226"/>
                <a:gd name="T6" fmla="*/ 619 w 619"/>
                <a:gd name="T7" fmla="*/ 0 h 226"/>
                <a:gd name="T8" fmla="*/ 619 w 619"/>
                <a:gd name="T9" fmla="*/ 0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9" h="226">
                  <a:moveTo>
                    <a:pt x="619" y="0"/>
                  </a:moveTo>
                  <a:lnTo>
                    <a:pt x="0" y="226"/>
                  </a:lnTo>
                  <a:lnTo>
                    <a:pt x="619" y="117"/>
                  </a:lnTo>
                  <a:lnTo>
                    <a:pt x="619" y="0"/>
                  </a:lnTo>
                  <a:lnTo>
                    <a:pt x="619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7" name="Freeform 118">
              <a:extLst>
                <a:ext uri="{FF2B5EF4-FFF2-40B4-BE49-F238E27FC236}">
                  <a16:creationId xmlns:a16="http://schemas.microsoft.com/office/drawing/2014/main" id="{A21A1AA8-4217-A9D3-44D7-613C584FC94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264100" y="4711579"/>
              <a:ext cx="616374" cy="372194"/>
            </a:xfrm>
            <a:custGeom>
              <a:avLst/>
              <a:gdLst>
                <a:gd name="T0" fmla="*/ 418 w 520"/>
                <a:gd name="T1" fmla="*/ 0 h 314"/>
                <a:gd name="T2" fmla="*/ 364 w 520"/>
                <a:gd name="T3" fmla="*/ 102 h 314"/>
                <a:gd name="T4" fmla="*/ 311 w 520"/>
                <a:gd name="T5" fmla="*/ 0 h 314"/>
                <a:gd name="T6" fmla="*/ 207 w 520"/>
                <a:gd name="T7" fmla="*/ 0 h 314"/>
                <a:gd name="T8" fmla="*/ 318 w 520"/>
                <a:gd name="T9" fmla="*/ 189 h 314"/>
                <a:gd name="T10" fmla="*/ 318 w 520"/>
                <a:gd name="T11" fmla="*/ 314 h 314"/>
                <a:gd name="T12" fmla="*/ 410 w 520"/>
                <a:gd name="T13" fmla="*/ 314 h 314"/>
                <a:gd name="T14" fmla="*/ 410 w 520"/>
                <a:gd name="T15" fmla="*/ 189 h 314"/>
                <a:gd name="T16" fmla="*/ 520 w 520"/>
                <a:gd name="T17" fmla="*/ 0 h 314"/>
                <a:gd name="T18" fmla="*/ 418 w 520"/>
                <a:gd name="T19" fmla="*/ 0 h 314"/>
                <a:gd name="T20" fmla="*/ 0 w 520"/>
                <a:gd name="T21" fmla="*/ 0 h 314"/>
                <a:gd name="T22" fmla="*/ 0 w 520"/>
                <a:gd name="T23" fmla="*/ 314 h 314"/>
                <a:gd name="T24" fmla="*/ 251 w 520"/>
                <a:gd name="T25" fmla="*/ 314 h 314"/>
                <a:gd name="T26" fmla="*/ 251 w 520"/>
                <a:gd name="T27" fmla="*/ 242 h 314"/>
                <a:gd name="T28" fmla="*/ 94 w 520"/>
                <a:gd name="T29" fmla="*/ 242 h 314"/>
                <a:gd name="T30" fmla="*/ 94 w 520"/>
                <a:gd name="T31" fmla="*/ 189 h 314"/>
                <a:gd name="T32" fmla="*/ 207 w 520"/>
                <a:gd name="T33" fmla="*/ 189 h 314"/>
                <a:gd name="T34" fmla="*/ 207 w 520"/>
                <a:gd name="T35" fmla="*/ 124 h 314"/>
                <a:gd name="T36" fmla="*/ 94 w 520"/>
                <a:gd name="T37" fmla="*/ 124 h 314"/>
                <a:gd name="T38" fmla="*/ 94 w 520"/>
                <a:gd name="T39" fmla="*/ 72 h 314"/>
                <a:gd name="T40" fmla="*/ 219 w 520"/>
                <a:gd name="T41" fmla="*/ 72 h 314"/>
                <a:gd name="T42" fmla="*/ 178 w 520"/>
                <a:gd name="T43" fmla="*/ 0 h 314"/>
                <a:gd name="T44" fmla="*/ 0 w 520"/>
                <a:gd name="T45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20" h="314">
                  <a:moveTo>
                    <a:pt x="418" y="0"/>
                  </a:moveTo>
                  <a:lnTo>
                    <a:pt x="364" y="102"/>
                  </a:lnTo>
                  <a:lnTo>
                    <a:pt x="311" y="0"/>
                  </a:lnTo>
                  <a:lnTo>
                    <a:pt x="207" y="0"/>
                  </a:lnTo>
                  <a:lnTo>
                    <a:pt x="318" y="189"/>
                  </a:lnTo>
                  <a:lnTo>
                    <a:pt x="318" y="314"/>
                  </a:lnTo>
                  <a:lnTo>
                    <a:pt x="410" y="314"/>
                  </a:lnTo>
                  <a:lnTo>
                    <a:pt x="410" y="189"/>
                  </a:lnTo>
                  <a:lnTo>
                    <a:pt x="520" y="0"/>
                  </a:lnTo>
                  <a:lnTo>
                    <a:pt x="418" y="0"/>
                  </a:lnTo>
                  <a:close/>
                  <a:moveTo>
                    <a:pt x="0" y="0"/>
                  </a:moveTo>
                  <a:lnTo>
                    <a:pt x="0" y="314"/>
                  </a:lnTo>
                  <a:lnTo>
                    <a:pt x="251" y="314"/>
                  </a:lnTo>
                  <a:lnTo>
                    <a:pt x="251" y="242"/>
                  </a:lnTo>
                  <a:lnTo>
                    <a:pt x="94" y="242"/>
                  </a:lnTo>
                  <a:lnTo>
                    <a:pt x="94" y="189"/>
                  </a:lnTo>
                  <a:lnTo>
                    <a:pt x="207" y="189"/>
                  </a:lnTo>
                  <a:lnTo>
                    <a:pt x="207" y="124"/>
                  </a:lnTo>
                  <a:lnTo>
                    <a:pt x="94" y="124"/>
                  </a:lnTo>
                  <a:lnTo>
                    <a:pt x="94" y="72"/>
                  </a:lnTo>
                  <a:lnTo>
                    <a:pt x="219" y="72"/>
                  </a:lnTo>
                  <a:lnTo>
                    <a:pt x="1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2E3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30101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446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528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377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848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426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text"/>
          <p:cNvSpPr txBox="1"/>
          <p:nvPr/>
        </p:nvSpPr>
        <p:spPr>
          <a:xfrm>
            <a:off x="434447" y="173736"/>
            <a:ext cx="9294344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400" b="1" dirty="0">
                <a:solidFill>
                  <a:srgbClr val="000000"/>
                </a:solidFill>
                <a:latin typeface="Arial"/>
              </a:rPr>
              <a:t>Governance Model</a:t>
            </a:r>
          </a:p>
        </p:txBody>
      </p:sp>
      <p:sp>
        <p:nvSpPr>
          <p:cNvPr id="3" name="subtitle_text"/>
          <p:cNvSpPr txBox="1"/>
          <p:nvPr/>
        </p:nvSpPr>
        <p:spPr>
          <a:xfrm>
            <a:off x="489327" y="566776"/>
            <a:ext cx="5637825" cy="20621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00" b="0" i="1" dirty="0">
                <a:solidFill>
                  <a:srgbClr val="0057D8"/>
                </a:solidFill>
                <a:latin typeface="Arial"/>
              </a:rPr>
              <a:t>A clear governance structure ensures accountable decision-making and effective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81" y="1417320"/>
            <a:ext cx="1051822" cy="4114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00" b="1">
                <a:solidFill>
                  <a:srgbClr val="0033A1"/>
                </a:solidFill>
                <a:latin typeface="Arial"/>
              </a:rPr>
              <a:t>Strategic
Oversight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81" y="3182112"/>
            <a:ext cx="1143285" cy="43891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00" b="1">
                <a:solidFill>
                  <a:srgbClr val="0033A1"/>
                </a:solidFill>
                <a:latin typeface="Arial"/>
              </a:rPr>
              <a:t>Program
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182925" y="5120640"/>
            <a:ext cx="1344504" cy="37548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1" dirty="0">
                <a:solidFill>
                  <a:srgbClr val="0033A1"/>
                </a:solidFill>
                <a:latin typeface="Arial"/>
              </a:rPr>
              <a:t>Execution
(Workstreams)</a:t>
            </a:r>
          </a:p>
        </p:txBody>
      </p:sp>
      <p:sp>
        <p:nvSpPr>
          <p:cNvPr id="7" name="Rectangle 6"/>
          <p:cNvSpPr/>
          <p:nvPr/>
        </p:nvSpPr>
        <p:spPr>
          <a:xfrm>
            <a:off x="1920720" y="960120"/>
            <a:ext cx="5579234" cy="1389888"/>
          </a:xfrm>
          <a:prstGeom prst="rect">
            <a:avLst/>
          </a:prstGeom>
          <a:solidFill>
            <a:srgbClr val="FFFFFF"/>
          </a:solidFill>
          <a:ln w="8890">
            <a:solidFill>
              <a:srgbClr val="003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920720" y="960120"/>
            <a:ext cx="5579234" cy="640080"/>
          </a:xfrm>
          <a:prstGeom prst="rect">
            <a:avLst/>
          </a:prstGeom>
          <a:solidFill>
            <a:srgbClr val="0033A1"/>
          </a:solidFill>
          <a:ln w="8890">
            <a:solidFill>
              <a:srgbClr val="003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steering_committee_title_text"/>
          <p:cNvSpPr txBox="1"/>
          <p:nvPr/>
        </p:nvSpPr>
        <p:spPr>
          <a:xfrm>
            <a:off x="1920720" y="1097280"/>
            <a:ext cx="5579234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Arial"/>
              </a:rPr>
              <a:t>STEERING COMMITTEE</a:t>
            </a:r>
          </a:p>
        </p:txBody>
      </p:sp>
      <p:sp>
        <p:nvSpPr>
          <p:cNvPr id="10" name="steering_committee_mandate_text"/>
          <p:cNvSpPr txBox="1"/>
          <p:nvPr/>
        </p:nvSpPr>
        <p:spPr>
          <a:xfrm>
            <a:off x="3155468" y="1353312"/>
            <a:ext cx="3612782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200" b="0" dirty="0">
                <a:solidFill>
                  <a:srgbClr val="FFFFFF"/>
                </a:solidFill>
                <a:latin typeface="Arial"/>
              </a:rPr>
              <a:t>Strategic decisions   |   Funding   |   Escalations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42658" y="1691640"/>
            <a:ext cx="1326211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050" b="1" dirty="0">
                <a:solidFill>
                  <a:srgbClr val="0033A1"/>
                </a:solidFill>
                <a:latin typeface="Arial"/>
              </a:rPr>
              <a:t>Key Responsibilities</a:t>
            </a:r>
          </a:p>
        </p:txBody>
      </p:sp>
      <p:sp>
        <p:nvSpPr>
          <p:cNvPr id="12" name="steering_responsibility_1_text"/>
          <p:cNvSpPr txBox="1"/>
          <p:nvPr/>
        </p:nvSpPr>
        <p:spPr>
          <a:xfrm>
            <a:off x="2057914" y="1938528"/>
            <a:ext cx="1554868" cy="31089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869" b="0" dirty="0">
                <a:solidFill>
                  <a:srgbClr val="000000"/>
                </a:solidFill>
                <a:latin typeface="Arial"/>
              </a:rPr>
              <a:t>•  Set strategic direction
   and priorities</a:t>
            </a:r>
          </a:p>
        </p:txBody>
      </p:sp>
      <p:sp>
        <p:nvSpPr>
          <p:cNvPr id="13" name="steering_responsibility_2_text"/>
          <p:cNvSpPr txBox="1"/>
          <p:nvPr/>
        </p:nvSpPr>
        <p:spPr>
          <a:xfrm>
            <a:off x="3932902" y="1938528"/>
            <a:ext cx="1509137" cy="31089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869" b="0" dirty="0">
                <a:solidFill>
                  <a:srgbClr val="000000"/>
                </a:solidFill>
                <a:latin typeface="Arial"/>
              </a:rPr>
              <a:t>•  Approve funding
   and major investments</a:t>
            </a:r>
          </a:p>
        </p:txBody>
      </p:sp>
      <p:sp>
        <p:nvSpPr>
          <p:cNvPr id="14" name="steering_responsibility_3_text"/>
          <p:cNvSpPr txBox="1"/>
          <p:nvPr/>
        </p:nvSpPr>
        <p:spPr>
          <a:xfrm>
            <a:off x="5780452" y="1938528"/>
            <a:ext cx="1509137" cy="31089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869" b="0" dirty="0">
                <a:solidFill>
                  <a:srgbClr val="000000"/>
                </a:solidFill>
                <a:latin typeface="Arial"/>
              </a:rPr>
              <a:t>•  Resolve escalations and
   remove roadblocks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28038" y="2944368"/>
            <a:ext cx="6063987" cy="1417320"/>
          </a:xfrm>
          <a:prstGeom prst="rect">
            <a:avLst/>
          </a:prstGeom>
          <a:solidFill>
            <a:srgbClr val="F3F8FF"/>
          </a:solidFill>
          <a:ln w="8890">
            <a:solidFill>
              <a:srgbClr val="005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pmo_title_text"/>
          <p:cNvSpPr txBox="1"/>
          <p:nvPr/>
        </p:nvSpPr>
        <p:spPr>
          <a:xfrm>
            <a:off x="3612782" y="3072384"/>
            <a:ext cx="2195108" cy="23774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450" b="1">
                <a:solidFill>
                  <a:srgbClr val="0033A1"/>
                </a:solidFill>
                <a:latin typeface="Arial"/>
              </a:rPr>
              <a:t>PROGRAM OFFICE (PMO)</a:t>
            </a:r>
          </a:p>
        </p:txBody>
      </p:sp>
      <p:sp>
        <p:nvSpPr>
          <p:cNvPr id="17" name="pmo_mandate_text"/>
          <p:cNvSpPr txBox="1"/>
          <p:nvPr/>
        </p:nvSpPr>
        <p:spPr>
          <a:xfrm>
            <a:off x="2359740" y="3310128"/>
            <a:ext cx="4463388" cy="1846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60" b="0" dirty="0">
                <a:solidFill>
                  <a:srgbClr val="000000"/>
                </a:solidFill>
                <a:latin typeface="Arial"/>
              </a:rPr>
              <a:t>Integration   |   Reporting   |   Dependency Management   |   Risk 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34120" y="3611880"/>
            <a:ext cx="1417674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030" b="1">
                <a:solidFill>
                  <a:srgbClr val="0033A1"/>
                </a:solidFill>
                <a:latin typeface="Arial"/>
              </a:rPr>
              <a:t>Key Responsibilities</a:t>
            </a:r>
          </a:p>
        </p:txBody>
      </p:sp>
      <p:sp>
        <p:nvSpPr>
          <p:cNvPr id="19" name="pmo_responsibility_1_text"/>
          <p:cNvSpPr txBox="1"/>
          <p:nvPr/>
        </p:nvSpPr>
        <p:spPr>
          <a:xfrm>
            <a:off x="1783525" y="3858768"/>
            <a:ext cx="1326211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819" b="0" dirty="0">
                <a:solidFill>
                  <a:srgbClr val="000000"/>
                </a:solidFill>
                <a:latin typeface="Arial"/>
              </a:rPr>
              <a:t>•  Coordinate workstreams
   and cross-functional
   alignment</a:t>
            </a:r>
          </a:p>
        </p:txBody>
      </p:sp>
      <p:sp>
        <p:nvSpPr>
          <p:cNvPr id="20" name="pmo_responsibility_2_text"/>
          <p:cNvSpPr txBox="1"/>
          <p:nvPr/>
        </p:nvSpPr>
        <p:spPr>
          <a:xfrm>
            <a:off x="3402418" y="3858768"/>
            <a:ext cx="1234748" cy="34747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819" b="0" dirty="0">
                <a:solidFill>
                  <a:srgbClr val="000000"/>
                </a:solidFill>
                <a:latin typeface="Arial"/>
              </a:rPr>
              <a:t>•  Track progress and
   report performance</a:t>
            </a:r>
          </a:p>
        </p:txBody>
      </p:sp>
      <p:sp>
        <p:nvSpPr>
          <p:cNvPr id="21" name="pmo_responsibility_3_text"/>
          <p:cNvSpPr txBox="1"/>
          <p:nvPr/>
        </p:nvSpPr>
        <p:spPr>
          <a:xfrm>
            <a:off x="4865824" y="3858768"/>
            <a:ext cx="1326211" cy="34747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819" b="0">
                <a:solidFill>
                  <a:srgbClr val="000000"/>
                </a:solidFill>
                <a:latin typeface="Arial"/>
              </a:rPr>
              <a:t>•  Manage dependencies
   and resolve issues</a:t>
            </a:r>
          </a:p>
        </p:txBody>
      </p:sp>
      <p:sp>
        <p:nvSpPr>
          <p:cNvPr id="22" name="pmo_responsibility_4_text"/>
          <p:cNvSpPr txBox="1"/>
          <p:nvPr/>
        </p:nvSpPr>
        <p:spPr>
          <a:xfrm>
            <a:off x="6402400" y="3858768"/>
            <a:ext cx="1234748" cy="34747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819" b="0">
                <a:solidFill>
                  <a:srgbClr val="000000"/>
                </a:solidFill>
                <a:latin typeface="Arial"/>
              </a:rPr>
              <a:t>•  Maintain governance
   standards and tools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070097" y="2395728"/>
            <a:ext cx="0" cy="493776"/>
          </a:xfrm>
          <a:prstGeom prst="line">
            <a:avLst/>
          </a:prstGeom>
          <a:ln w="1524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5396308" y="2395728"/>
            <a:ext cx="0" cy="493776"/>
          </a:xfrm>
          <a:prstGeom prst="line">
            <a:avLst/>
          </a:prstGeom>
          <a:ln w="1524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338394" y="2505456"/>
            <a:ext cx="713410" cy="31089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830" b="0" dirty="0">
                <a:solidFill>
                  <a:srgbClr val="000000"/>
                </a:solidFill>
                <a:latin typeface="Arial"/>
              </a:rPr>
              <a:t>Direction &amp;
Priorities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3502" y="2505456"/>
            <a:ext cx="823165" cy="31089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830" b="0">
                <a:solidFill>
                  <a:srgbClr val="000000"/>
                </a:solidFill>
                <a:latin typeface="Arial"/>
              </a:rPr>
              <a:t>Status &amp;
Escalations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51822" y="4782312"/>
            <a:ext cx="1765233" cy="1682496"/>
          </a:xfrm>
          <a:prstGeom prst="rect">
            <a:avLst/>
          </a:prstGeom>
          <a:solidFill>
            <a:srgbClr val="FFFFFF"/>
          </a:solidFill>
          <a:ln w="8890">
            <a:solidFill>
              <a:srgbClr val="C9D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051822" y="4782312"/>
            <a:ext cx="1765233" cy="475488"/>
          </a:xfrm>
          <a:prstGeom prst="rect">
            <a:avLst/>
          </a:prstGeom>
          <a:solidFill>
            <a:srgbClr val="0033A1"/>
          </a:solidFill>
          <a:ln w="8890">
            <a:solidFill>
              <a:srgbClr val="003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workstream_1_title_text"/>
          <p:cNvSpPr txBox="1"/>
          <p:nvPr/>
        </p:nvSpPr>
        <p:spPr>
          <a:xfrm>
            <a:off x="1097554" y="4873752"/>
            <a:ext cx="1673769" cy="31089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120" b="1" dirty="0">
                <a:solidFill>
                  <a:srgbClr val="FFFFFF"/>
                </a:solidFill>
                <a:latin typeface="Arial"/>
              </a:rPr>
              <a:t>Workstream 1
Process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16455" y="5358384"/>
            <a:ext cx="1435965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830" b="1">
                <a:solidFill>
                  <a:srgbClr val="0057D8"/>
                </a:solidFill>
                <a:latin typeface="Arial"/>
              </a:rPr>
              <a:t>Key Responsibilities</a:t>
            </a:r>
          </a:p>
        </p:txBody>
      </p:sp>
      <p:sp>
        <p:nvSpPr>
          <p:cNvPr id="31" name="workstream_1_responsibilities_text"/>
          <p:cNvSpPr txBox="1"/>
          <p:nvPr/>
        </p:nvSpPr>
        <p:spPr>
          <a:xfrm>
            <a:off x="1161579" y="5550407"/>
            <a:ext cx="1536576" cy="72943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0" dirty="0">
                <a:solidFill>
                  <a:srgbClr val="000000"/>
                </a:solidFill>
                <a:latin typeface="Arial"/>
              </a:rPr>
              <a:t>•  Map and redesign processes
•  Standardize and optimize
•  Drive adoption and training
•  Track benefits realization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35348" y="4782312"/>
            <a:ext cx="1765233" cy="1682496"/>
          </a:xfrm>
          <a:prstGeom prst="rect">
            <a:avLst/>
          </a:prstGeom>
          <a:solidFill>
            <a:srgbClr val="FFFFFF"/>
          </a:solidFill>
          <a:ln w="8890">
            <a:solidFill>
              <a:srgbClr val="C9D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835348" y="4782312"/>
            <a:ext cx="1765233" cy="475488"/>
          </a:xfrm>
          <a:prstGeom prst="rect">
            <a:avLst/>
          </a:prstGeom>
          <a:solidFill>
            <a:srgbClr val="0033A1"/>
          </a:solidFill>
          <a:ln w="8890">
            <a:solidFill>
              <a:srgbClr val="003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workstream_2_title_text"/>
          <p:cNvSpPr txBox="1"/>
          <p:nvPr/>
        </p:nvSpPr>
        <p:spPr>
          <a:xfrm>
            <a:off x="2881080" y="4873752"/>
            <a:ext cx="1673769" cy="31089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120" b="1" dirty="0">
                <a:solidFill>
                  <a:srgbClr val="FFFFFF"/>
                </a:solidFill>
                <a:latin typeface="Arial"/>
              </a:rPr>
              <a:t>Workstream 2
Technology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99981" y="5358384"/>
            <a:ext cx="1435965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830" b="1">
                <a:solidFill>
                  <a:srgbClr val="0057D8"/>
                </a:solidFill>
                <a:latin typeface="Arial"/>
              </a:rPr>
              <a:t>Key Responsibilities</a:t>
            </a:r>
          </a:p>
        </p:txBody>
      </p:sp>
      <p:sp>
        <p:nvSpPr>
          <p:cNvPr id="36" name="workstream_2_responsibilities_text"/>
          <p:cNvSpPr txBox="1"/>
          <p:nvPr/>
        </p:nvSpPr>
        <p:spPr>
          <a:xfrm>
            <a:off x="2945104" y="5596128"/>
            <a:ext cx="1609745" cy="72943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0" dirty="0">
                <a:solidFill>
                  <a:srgbClr val="000000"/>
                </a:solidFill>
                <a:latin typeface="Arial"/>
              </a:rPr>
              <a:t>•  Define solution architecture
•  Manage build and integration
•  Ensure system performance
•  Track delivery milestones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18874" y="4782312"/>
            <a:ext cx="1765233" cy="1682496"/>
          </a:xfrm>
          <a:prstGeom prst="rect">
            <a:avLst/>
          </a:prstGeom>
          <a:solidFill>
            <a:srgbClr val="FFFFFF"/>
          </a:solidFill>
          <a:ln w="8890">
            <a:solidFill>
              <a:srgbClr val="C9D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618874" y="4782312"/>
            <a:ext cx="1765233" cy="475488"/>
          </a:xfrm>
          <a:prstGeom prst="rect">
            <a:avLst/>
          </a:prstGeom>
          <a:solidFill>
            <a:srgbClr val="0033A1"/>
          </a:solidFill>
          <a:ln w="8890">
            <a:solidFill>
              <a:srgbClr val="003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workstream_3_title_text"/>
          <p:cNvSpPr txBox="1"/>
          <p:nvPr/>
        </p:nvSpPr>
        <p:spPr>
          <a:xfrm>
            <a:off x="4664605" y="4873752"/>
            <a:ext cx="1673769" cy="31089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120" b="1" dirty="0">
                <a:solidFill>
                  <a:srgbClr val="FFFFFF"/>
                </a:solidFill>
                <a:latin typeface="Arial"/>
              </a:rPr>
              <a:t>Workstream 3
Data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83507" y="5358384"/>
            <a:ext cx="1435965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830" b="1" dirty="0">
                <a:solidFill>
                  <a:srgbClr val="0057D8"/>
                </a:solidFill>
                <a:latin typeface="Arial"/>
              </a:rPr>
              <a:t>Key Responsibilities</a:t>
            </a:r>
          </a:p>
        </p:txBody>
      </p:sp>
      <p:sp>
        <p:nvSpPr>
          <p:cNvPr id="41" name="workstream_3_responsibilities_text"/>
          <p:cNvSpPr txBox="1"/>
          <p:nvPr/>
        </p:nvSpPr>
        <p:spPr>
          <a:xfrm>
            <a:off x="4664605" y="5550407"/>
            <a:ext cx="1664624" cy="80637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 dirty="0">
                <a:solidFill>
                  <a:srgbClr val="000000"/>
                </a:solidFill>
                <a:latin typeface="Arial"/>
              </a:rPr>
              <a:t>•  Define data strategy
•  Ensure data quality
•  Manage data governance
•  Enable analytics and insight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2400" y="4782312"/>
            <a:ext cx="1765233" cy="1682496"/>
          </a:xfrm>
          <a:prstGeom prst="rect">
            <a:avLst/>
          </a:prstGeom>
          <a:solidFill>
            <a:srgbClr val="FFFFFF"/>
          </a:solidFill>
          <a:ln w="8890">
            <a:solidFill>
              <a:srgbClr val="C9D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402400" y="4782312"/>
            <a:ext cx="1765233" cy="475488"/>
          </a:xfrm>
          <a:prstGeom prst="rect">
            <a:avLst/>
          </a:prstGeom>
          <a:solidFill>
            <a:srgbClr val="0033A1"/>
          </a:solidFill>
          <a:ln w="8890">
            <a:solidFill>
              <a:srgbClr val="003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workstream_4_title_text"/>
          <p:cNvSpPr txBox="1"/>
          <p:nvPr/>
        </p:nvSpPr>
        <p:spPr>
          <a:xfrm>
            <a:off x="6448131" y="4873752"/>
            <a:ext cx="1673769" cy="31089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Workstream 4
Change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67033" y="5358384"/>
            <a:ext cx="1435965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830" b="1">
                <a:solidFill>
                  <a:srgbClr val="0057D8"/>
                </a:solidFill>
                <a:latin typeface="Arial"/>
              </a:rPr>
              <a:t>Key Responsibilities</a:t>
            </a:r>
          </a:p>
        </p:txBody>
      </p:sp>
      <p:sp>
        <p:nvSpPr>
          <p:cNvPr id="46" name="workstream_4_responsibilities_text"/>
          <p:cNvSpPr txBox="1"/>
          <p:nvPr/>
        </p:nvSpPr>
        <p:spPr>
          <a:xfrm>
            <a:off x="6512155" y="5550408"/>
            <a:ext cx="1609745" cy="65248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 dirty="0">
                <a:solidFill>
                  <a:srgbClr val="000000"/>
                </a:solidFill>
                <a:latin typeface="Arial"/>
              </a:rPr>
              <a:t>•  Stakeholder engagement
•  Communication &amp; training
•  Change enablement
•  Monitor adoption metrics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4646313" y="4370832"/>
            <a:ext cx="0" cy="201168"/>
          </a:xfrm>
          <a:prstGeom prst="line">
            <a:avLst/>
          </a:prstGeom>
          <a:ln w="1524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884134" y="4572000"/>
            <a:ext cx="5679843" cy="0"/>
          </a:xfrm>
          <a:prstGeom prst="line">
            <a:avLst/>
          </a:prstGeom>
          <a:ln w="1524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884134" y="4572000"/>
            <a:ext cx="0" cy="182880"/>
          </a:xfrm>
          <a:prstGeom prst="line">
            <a:avLst/>
          </a:prstGeom>
          <a:ln w="1524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713391" y="4572000"/>
            <a:ext cx="0" cy="182880"/>
          </a:xfrm>
          <a:prstGeom prst="line">
            <a:avLst/>
          </a:prstGeom>
          <a:ln w="1524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5542649" y="4572000"/>
            <a:ext cx="0" cy="182880"/>
          </a:xfrm>
          <a:prstGeom prst="line">
            <a:avLst/>
          </a:prstGeom>
          <a:ln w="1524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563978" y="4572000"/>
            <a:ext cx="0" cy="182880"/>
          </a:xfrm>
          <a:prstGeom prst="line">
            <a:avLst/>
          </a:prstGeom>
          <a:ln w="1524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417674" y="1481328"/>
            <a:ext cx="484753" cy="0"/>
          </a:xfrm>
          <a:prstGeom prst="line">
            <a:avLst/>
          </a:prstGeom>
          <a:ln w="13970">
            <a:solidFill>
              <a:srgbClr val="0057D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417674" y="1481328"/>
            <a:ext cx="0" cy="2020824"/>
          </a:xfrm>
          <a:prstGeom prst="line">
            <a:avLst/>
          </a:prstGeom>
          <a:ln w="13970">
            <a:solidFill>
              <a:srgbClr val="0057D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417674" y="3502152"/>
            <a:ext cx="192072" cy="0"/>
          </a:xfrm>
          <a:prstGeom prst="line">
            <a:avLst/>
          </a:prstGeom>
          <a:ln w="13970">
            <a:solidFill>
              <a:srgbClr val="0057D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417674" y="3794760"/>
            <a:ext cx="0" cy="941832"/>
          </a:xfrm>
          <a:prstGeom prst="line">
            <a:avLst/>
          </a:prstGeom>
          <a:ln w="13970">
            <a:solidFill>
              <a:srgbClr val="0057D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417674" y="3794760"/>
            <a:ext cx="210364" cy="0"/>
          </a:xfrm>
          <a:prstGeom prst="line">
            <a:avLst/>
          </a:prstGeom>
          <a:ln w="13970">
            <a:solidFill>
              <a:srgbClr val="0057D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86580" y="4270248"/>
            <a:ext cx="411582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830" b="0">
                <a:solidFill>
                  <a:srgbClr val="000000"/>
                </a:solidFill>
                <a:latin typeface="Arial"/>
              </a:rPr>
              <a:t>Reporting</a:t>
            </a:r>
          </a:p>
        </p:txBody>
      </p:sp>
      <p:cxnSp>
        <p:nvCxnSpPr>
          <p:cNvPr id="59" name="Connector 58"/>
          <p:cNvCxnSpPr/>
          <p:nvPr/>
        </p:nvCxnSpPr>
        <p:spPr>
          <a:xfrm flipH="1">
            <a:off x="7518246" y="1481328"/>
            <a:ext cx="484753" cy="0"/>
          </a:xfrm>
          <a:prstGeom prst="line">
            <a:avLst/>
          </a:prstGeom>
          <a:ln w="13970">
            <a:solidFill>
              <a:srgbClr val="0057D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8003000" y="1481328"/>
            <a:ext cx="0" cy="2020824"/>
          </a:xfrm>
          <a:prstGeom prst="line">
            <a:avLst/>
          </a:prstGeom>
          <a:ln w="13970">
            <a:solidFill>
              <a:srgbClr val="0057D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7701172" y="3502152"/>
            <a:ext cx="301827" cy="0"/>
          </a:xfrm>
          <a:prstGeom prst="line">
            <a:avLst/>
          </a:prstGeom>
          <a:ln w="13970">
            <a:solidFill>
              <a:srgbClr val="0057D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>
            <a:off x="7701172" y="3776472"/>
            <a:ext cx="301827" cy="0"/>
          </a:xfrm>
          <a:prstGeom prst="line">
            <a:avLst/>
          </a:prstGeom>
          <a:ln w="13970">
            <a:solidFill>
              <a:srgbClr val="0057D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8003000" y="3776472"/>
            <a:ext cx="0" cy="960120"/>
          </a:xfrm>
          <a:prstGeom prst="line">
            <a:avLst/>
          </a:prstGeom>
          <a:ln w="13970">
            <a:solidFill>
              <a:srgbClr val="0057D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8076170" y="4261104"/>
            <a:ext cx="567069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819" b="0">
                <a:solidFill>
                  <a:srgbClr val="000000"/>
                </a:solidFill>
                <a:latin typeface="Arial"/>
              </a:rPr>
              <a:t>Escalation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2670715" y="6611112"/>
            <a:ext cx="374997" cy="0"/>
          </a:xfrm>
          <a:prstGeom prst="line">
            <a:avLst/>
          </a:prstGeom>
          <a:ln w="1524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3128029" y="6519672"/>
            <a:ext cx="1051822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830" b="0">
                <a:solidFill>
                  <a:srgbClr val="000000"/>
                </a:solidFill>
                <a:latin typeface="Arial"/>
              </a:rPr>
              <a:t>Reporting / Updates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4573142" y="6611112"/>
            <a:ext cx="503045" cy="0"/>
          </a:xfrm>
          <a:prstGeom prst="line">
            <a:avLst/>
          </a:prstGeom>
          <a:ln w="13970">
            <a:solidFill>
              <a:srgbClr val="0057D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5195090" y="6519672"/>
            <a:ext cx="1006091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830" b="0">
                <a:solidFill>
                  <a:srgbClr val="000000"/>
                </a:solidFill>
                <a:latin typeface="Arial"/>
              </a:rPr>
              <a:t>Escalation Path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926775" y="886968"/>
            <a:ext cx="2551812" cy="5469814"/>
          </a:xfrm>
          <a:prstGeom prst="roundRect">
            <a:avLst/>
          </a:prstGeom>
          <a:solidFill>
            <a:srgbClr val="F3F8FF"/>
          </a:solidFill>
          <a:ln w="8890">
            <a:solidFill>
              <a:srgbClr val="C9D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9274333" y="941832"/>
            <a:ext cx="1920720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019" b="1">
                <a:solidFill>
                  <a:srgbClr val="0033A1"/>
                </a:solidFill>
                <a:latin typeface="Arial"/>
              </a:rPr>
              <a:t>Governance at a Glance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999945" y="1143000"/>
            <a:ext cx="2451204" cy="256032"/>
          </a:xfrm>
          <a:prstGeom prst="rect">
            <a:avLst/>
          </a:prstGeom>
          <a:solidFill>
            <a:srgbClr val="0033A1"/>
          </a:solidFill>
          <a:ln w="6350">
            <a:solidFill>
              <a:srgbClr val="003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9018237" y="1197864"/>
            <a:ext cx="2414619" cy="1371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Forum Cadence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999945" y="1399032"/>
            <a:ext cx="16006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10600545" y="1399032"/>
            <a:ext cx="850604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forum_1_name_text"/>
          <p:cNvSpPr txBox="1"/>
          <p:nvPr/>
        </p:nvSpPr>
        <p:spPr>
          <a:xfrm>
            <a:off x="9100554" y="1463040"/>
            <a:ext cx="1371942" cy="1371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Arial"/>
              </a:rPr>
              <a:t>Steering Committee</a:t>
            </a:r>
          </a:p>
        </p:txBody>
      </p:sp>
      <p:sp>
        <p:nvSpPr>
          <p:cNvPr id="76" name="forum_1_cadence_text"/>
          <p:cNvSpPr txBox="1"/>
          <p:nvPr/>
        </p:nvSpPr>
        <p:spPr>
          <a:xfrm>
            <a:off x="10701154" y="1453896"/>
            <a:ext cx="64024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  <a:latin typeface="Arial"/>
              </a:rPr>
              <a:t>Monthly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999945" y="1719072"/>
            <a:ext cx="16006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10600545" y="1719072"/>
            <a:ext cx="850604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forum_2_name_text"/>
          <p:cNvSpPr txBox="1"/>
          <p:nvPr/>
        </p:nvSpPr>
        <p:spPr>
          <a:xfrm>
            <a:off x="9100554" y="1783080"/>
            <a:ext cx="1371942" cy="1371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Arial"/>
              </a:rPr>
              <a:t>Program Office (PMO)</a:t>
            </a:r>
          </a:p>
        </p:txBody>
      </p:sp>
      <p:sp>
        <p:nvSpPr>
          <p:cNvPr id="80" name="forum_2_cadence_text"/>
          <p:cNvSpPr txBox="1"/>
          <p:nvPr/>
        </p:nvSpPr>
        <p:spPr>
          <a:xfrm>
            <a:off x="10701154" y="1773936"/>
            <a:ext cx="64024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750" b="0" dirty="0">
                <a:solidFill>
                  <a:srgbClr val="000000"/>
                </a:solidFill>
                <a:latin typeface="Arial"/>
              </a:rPr>
              <a:t>Weekly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999945" y="2039112"/>
            <a:ext cx="16006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10600545" y="2039112"/>
            <a:ext cx="850604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forum_3_name_text"/>
          <p:cNvSpPr txBox="1"/>
          <p:nvPr/>
        </p:nvSpPr>
        <p:spPr>
          <a:xfrm>
            <a:off x="9100554" y="2103120"/>
            <a:ext cx="1371942" cy="1371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Arial"/>
              </a:rPr>
              <a:t>Workstreams</a:t>
            </a:r>
          </a:p>
        </p:txBody>
      </p:sp>
      <p:sp>
        <p:nvSpPr>
          <p:cNvPr id="84" name="forum_3_cadence_text"/>
          <p:cNvSpPr txBox="1"/>
          <p:nvPr/>
        </p:nvSpPr>
        <p:spPr>
          <a:xfrm>
            <a:off x="10701153" y="2093976"/>
            <a:ext cx="685971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50" b="0" dirty="0">
                <a:solidFill>
                  <a:srgbClr val="000000"/>
                </a:solidFill>
                <a:latin typeface="Arial"/>
              </a:rPr>
              <a:t>Weekly /
Biweekly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999945" y="2423160"/>
            <a:ext cx="2451204" cy="256032"/>
          </a:xfrm>
          <a:prstGeom prst="rect">
            <a:avLst/>
          </a:prstGeom>
          <a:solidFill>
            <a:srgbClr val="0033A1"/>
          </a:solidFill>
          <a:ln w="6350">
            <a:solidFill>
              <a:srgbClr val="003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9018237" y="2478024"/>
            <a:ext cx="2414619" cy="1371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Decision Rights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999945" y="2679192"/>
            <a:ext cx="960360" cy="557784"/>
          </a:xfrm>
          <a:prstGeom prst="rect">
            <a:avLst/>
          </a:prstGeom>
          <a:solidFill>
            <a:srgbClr val="FFFFFF"/>
          </a:solidFill>
          <a:ln w="6350">
            <a:solidFill>
              <a:srgbClr val="C9D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9960305" y="2679192"/>
            <a:ext cx="1490844" cy="557784"/>
          </a:xfrm>
          <a:prstGeom prst="rect">
            <a:avLst/>
          </a:prstGeom>
          <a:solidFill>
            <a:srgbClr val="FFFFFF"/>
          </a:solidFill>
          <a:ln w="6350">
            <a:solidFill>
              <a:srgbClr val="C9D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decision_right_1_label_text"/>
          <p:cNvSpPr txBox="1"/>
          <p:nvPr/>
        </p:nvSpPr>
        <p:spPr>
          <a:xfrm>
            <a:off x="9100554" y="2880360"/>
            <a:ext cx="731702" cy="1371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760" b="1">
                <a:solidFill>
                  <a:srgbClr val="0057D8"/>
                </a:solidFill>
                <a:latin typeface="Arial"/>
              </a:rPr>
              <a:t>Recommend</a:t>
            </a:r>
          </a:p>
        </p:txBody>
      </p:sp>
      <p:sp>
        <p:nvSpPr>
          <p:cNvPr id="90" name="decision_right_1_description_text"/>
          <p:cNvSpPr txBox="1"/>
          <p:nvPr/>
        </p:nvSpPr>
        <p:spPr>
          <a:xfrm>
            <a:off x="10042621" y="2752344"/>
            <a:ext cx="1298772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720" b="0" dirty="0">
                <a:solidFill>
                  <a:srgbClr val="000000"/>
                </a:solidFill>
                <a:latin typeface="Arial"/>
              </a:rPr>
              <a:t>Provide analysis and
options with a recommended
course of action.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999945" y="3236976"/>
            <a:ext cx="960360" cy="557784"/>
          </a:xfrm>
          <a:prstGeom prst="rect">
            <a:avLst/>
          </a:prstGeom>
          <a:solidFill>
            <a:srgbClr val="FFFFFF"/>
          </a:solidFill>
          <a:ln w="6350">
            <a:solidFill>
              <a:srgbClr val="C9D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9960305" y="3236976"/>
            <a:ext cx="1490844" cy="557784"/>
          </a:xfrm>
          <a:prstGeom prst="rect">
            <a:avLst/>
          </a:prstGeom>
          <a:solidFill>
            <a:srgbClr val="FFFFFF"/>
          </a:solidFill>
          <a:ln w="6350">
            <a:solidFill>
              <a:srgbClr val="C9D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decision_right_2_label_text"/>
          <p:cNvSpPr txBox="1"/>
          <p:nvPr/>
        </p:nvSpPr>
        <p:spPr>
          <a:xfrm>
            <a:off x="9100554" y="3438144"/>
            <a:ext cx="731702" cy="1371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760" b="1">
                <a:solidFill>
                  <a:srgbClr val="0057D8"/>
                </a:solidFill>
                <a:latin typeface="Arial"/>
              </a:rPr>
              <a:t>Approve</a:t>
            </a:r>
          </a:p>
        </p:txBody>
      </p:sp>
      <p:sp>
        <p:nvSpPr>
          <p:cNvPr id="94" name="decision_right_2_description_text"/>
          <p:cNvSpPr txBox="1"/>
          <p:nvPr/>
        </p:nvSpPr>
        <p:spPr>
          <a:xfrm>
            <a:off x="10042621" y="3310128"/>
            <a:ext cx="1298772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720" b="0" dirty="0">
                <a:solidFill>
                  <a:srgbClr val="000000"/>
                </a:solidFill>
                <a:latin typeface="Arial"/>
              </a:rPr>
              <a:t>Make final decisions on
priorities, funding and
key changes.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999945" y="3794760"/>
            <a:ext cx="960360" cy="557784"/>
          </a:xfrm>
          <a:prstGeom prst="rect">
            <a:avLst/>
          </a:prstGeom>
          <a:solidFill>
            <a:srgbClr val="FFFFFF"/>
          </a:solidFill>
          <a:ln w="6350">
            <a:solidFill>
              <a:srgbClr val="C9D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9960305" y="3794760"/>
            <a:ext cx="1490844" cy="557784"/>
          </a:xfrm>
          <a:prstGeom prst="rect">
            <a:avLst/>
          </a:prstGeom>
          <a:solidFill>
            <a:srgbClr val="FFFFFF"/>
          </a:solidFill>
          <a:ln w="6350">
            <a:solidFill>
              <a:srgbClr val="C9D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decision_right_3_label_text"/>
          <p:cNvSpPr txBox="1"/>
          <p:nvPr/>
        </p:nvSpPr>
        <p:spPr>
          <a:xfrm>
            <a:off x="9100554" y="3963924"/>
            <a:ext cx="731702" cy="1371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760" b="1" dirty="0">
                <a:solidFill>
                  <a:srgbClr val="0057D8"/>
                </a:solidFill>
                <a:latin typeface="Arial"/>
              </a:rPr>
              <a:t>Escalate</a:t>
            </a:r>
          </a:p>
        </p:txBody>
      </p:sp>
      <p:sp>
        <p:nvSpPr>
          <p:cNvPr id="98" name="decision_right_3_description_text"/>
          <p:cNvSpPr txBox="1"/>
          <p:nvPr/>
        </p:nvSpPr>
        <p:spPr>
          <a:xfrm>
            <a:off x="10042621" y="3867912"/>
            <a:ext cx="1298772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720" b="0" dirty="0">
                <a:solidFill>
                  <a:srgbClr val="000000"/>
                </a:solidFill>
                <a:latin typeface="Arial"/>
              </a:rPr>
              <a:t>Raise issues and risks
requiring executive
decisions.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999945" y="4261104"/>
            <a:ext cx="2451204" cy="237744"/>
          </a:xfrm>
          <a:prstGeom prst="rect">
            <a:avLst/>
          </a:prstGeom>
          <a:solidFill>
            <a:srgbClr val="0033A1"/>
          </a:solidFill>
          <a:ln w="6350">
            <a:solidFill>
              <a:srgbClr val="003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9018237" y="4315968"/>
            <a:ext cx="2414619" cy="12801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RACI Ownership (Summary)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999945" y="4498848"/>
            <a:ext cx="1390235" cy="210312"/>
          </a:xfrm>
          <a:prstGeom prst="rect">
            <a:avLst/>
          </a:prstGeom>
          <a:solidFill>
            <a:srgbClr val="0033A1"/>
          </a:solidFill>
          <a:ln w="6350">
            <a:solidFill>
              <a:srgbClr val="003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10390180" y="4498848"/>
            <a:ext cx="512192" cy="210312"/>
          </a:xfrm>
          <a:prstGeom prst="rect">
            <a:avLst/>
          </a:prstGeom>
          <a:solidFill>
            <a:srgbClr val="0033A1"/>
          </a:solidFill>
          <a:ln w="6350">
            <a:solidFill>
              <a:srgbClr val="C9D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10902372" y="4498848"/>
            <a:ext cx="548777" cy="210312"/>
          </a:xfrm>
          <a:prstGeom prst="rect">
            <a:avLst/>
          </a:prstGeom>
          <a:solidFill>
            <a:srgbClr val="0033A1"/>
          </a:solidFill>
          <a:ln w="6350">
            <a:solidFill>
              <a:srgbClr val="C9D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10454204" y="4535424"/>
            <a:ext cx="365851" cy="10972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730" b="1">
                <a:solidFill>
                  <a:srgbClr val="FFFFFF"/>
                </a:solidFill>
                <a:latin typeface="Arial"/>
              </a:rPr>
              <a:t>Client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021274" y="4535424"/>
            <a:ext cx="256096" cy="10972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730" b="1">
                <a:solidFill>
                  <a:srgbClr val="FFFFFF"/>
                </a:solidFill>
                <a:latin typeface="Arial"/>
              </a:rPr>
              <a:t>EY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999945" y="4709160"/>
            <a:ext cx="1390235" cy="210312"/>
          </a:xfrm>
          <a:prstGeom prst="rect">
            <a:avLst/>
          </a:prstGeom>
          <a:solidFill>
            <a:srgbClr val="FFFFFF"/>
          </a:solidFill>
          <a:ln w="5715">
            <a:solidFill>
              <a:srgbClr val="C9D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10390180" y="4709160"/>
            <a:ext cx="512192" cy="210312"/>
          </a:xfrm>
          <a:prstGeom prst="rect">
            <a:avLst/>
          </a:prstGeom>
          <a:solidFill>
            <a:srgbClr val="FFFFFF"/>
          </a:solidFill>
          <a:ln w="5715">
            <a:solidFill>
              <a:srgbClr val="C9D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10902372" y="4709160"/>
            <a:ext cx="548777" cy="210312"/>
          </a:xfrm>
          <a:prstGeom prst="rect">
            <a:avLst/>
          </a:prstGeom>
          <a:solidFill>
            <a:srgbClr val="FFFFFF"/>
          </a:solidFill>
          <a:ln w="5715">
            <a:solidFill>
              <a:srgbClr val="C9D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9100554" y="4745736"/>
            <a:ext cx="1170724" cy="914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690" b="0">
                <a:solidFill>
                  <a:srgbClr val="000000"/>
                </a:solidFill>
                <a:latin typeface="Arial"/>
              </a:rPr>
              <a:t>Strategy &amp; Priorities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563960" y="4745736"/>
            <a:ext cx="128048" cy="914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1121883" y="4745736"/>
            <a:ext cx="128048" cy="914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R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999945" y="4919472"/>
            <a:ext cx="1390235" cy="210312"/>
          </a:xfrm>
          <a:prstGeom prst="rect">
            <a:avLst/>
          </a:prstGeom>
          <a:solidFill>
            <a:srgbClr val="FFFFFF"/>
          </a:solidFill>
          <a:ln w="5715">
            <a:solidFill>
              <a:srgbClr val="C9D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ectangle 112"/>
          <p:cNvSpPr/>
          <p:nvPr/>
        </p:nvSpPr>
        <p:spPr>
          <a:xfrm>
            <a:off x="10390180" y="4919472"/>
            <a:ext cx="512192" cy="210312"/>
          </a:xfrm>
          <a:prstGeom prst="rect">
            <a:avLst/>
          </a:prstGeom>
          <a:solidFill>
            <a:srgbClr val="FFFFFF"/>
          </a:solidFill>
          <a:ln w="5715">
            <a:solidFill>
              <a:srgbClr val="C9D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10902372" y="4919472"/>
            <a:ext cx="548777" cy="210312"/>
          </a:xfrm>
          <a:prstGeom prst="rect">
            <a:avLst/>
          </a:prstGeom>
          <a:solidFill>
            <a:srgbClr val="FFFFFF"/>
          </a:solidFill>
          <a:ln w="5715">
            <a:solidFill>
              <a:srgbClr val="C9D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9100554" y="4956048"/>
            <a:ext cx="1170724" cy="914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690" b="0">
                <a:solidFill>
                  <a:srgbClr val="000000"/>
                </a:solidFill>
                <a:latin typeface="Arial"/>
              </a:rPr>
              <a:t>Program Management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563960" y="4956048"/>
            <a:ext cx="128048" cy="914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1121883" y="4956048"/>
            <a:ext cx="128048" cy="914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R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8999945" y="5129784"/>
            <a:ext cx="1390235" cy="210312"/>
          </a:xfrm>
          <a:prstGeom prst="rect">
            <a:avLst/>
          </a:prstGeom>
          <a:solidFill>
            <a:srgbClr val="FFFFFF"/>
          </a:solidFill>
          <a:ln w="5715">
            <a:solidFill>
              <a:srgbClr val="C9D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10390180" y="5129784"/>
            <a:ext cx="512192" cy="210312"/>
          </a:xfrm>
          <a:prstGeom prst="rect">
            <a:avLst/>
          </a:prstGeom>
          <a:solidFill>
            <a:srgbClr val="FFFFFF"/>
          </a:solidFill>
          <a:ln w="5715">
            <a:solidFill>
              <a:srgbClr val="C9D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10902372" y="5129784"/>
            <a:ext cx="548777" cy="210312"/>
          </a:xfrm>
          <a:prstGeom prst="rect">
            <a:avLst/>
          </a:prstGeom>
          <a:solidFill>
            <a:srgbClr val="FFFFFF"/>
          </a:solidFill>
          <a:ln w="5715">
            <a:solidFill>
              <a:srgbClr val="C9D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9100554" y="5166360"/>
            <a:ext cx="1170724" cy="914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690" b="0">
                <a:solidFill>
                  <a:srgbClr val="000000"/>
                </a:solidFill>
                <a:latin typeface="Arial"/>
              </a:rPr>
              <a:t>Workstream Delivery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563960" y="5166360"/>
            <a:ext cx="128048" cy="914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1121883" y="5166360"/>
            <a:ext cx="128048" cy="914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R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8999945" y="5340096"/>
            <a:ext cx="1390235" cy="210312"/>
          </a:xfrm>
          <a:prstGeom prst="rect">
            <a:avLst/>
          </a:prstGeom>
          <a:solidFill>
            <a:srgbClr val="FFFFFF"/>
          </a:solidFill>
          <a:ln w="5715">
            <a:solidFill>
              <a:srgbClr val="C9D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10390180" y="5340096"/>
            <a:ext cx="512192" cy="210312"/>
          </a:xfrm>
          <a:prstGeom prst="rect">
            <a:avLst/>
          </a:prstGeom>
          <a:solidFill>
            <a:srgbClr val="FFFFFF"/>
          </a:solidFill>
          <a:ln w="5715">
            <a:solidFill>
              <a:srgbClr val="C9D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10902372" y="5340096"/>
            <a:ext cx="548777" cy="210312"/>
          </a:xfrm>
          <a:prstGeom prst="rect">
            <a:avLst/>
          </a:prstGeom>
          <a:solidFill>
            <a:srgbClr val="FFFFFF"/>
          </a:solidFill>
          <a:ln w="5715">
            <a:solidFill>
              <a:srgbClr val="C9D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9100554" y="5376672"/>
            <a:ext cx="1170724" cy="914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690" b="0">
                <a:solidFill>
                  <a:srgbClr val="000000"/>
                </a:solidFill>
                <a:latin typeface="Arial"/>
              </a:rPr>
              <a:t>Reporting &amp; Insights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0563960" y="5376672"/>
            <a:ext cx="128048" cy="914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1121883" y="5376672"/>
            <a:ext cx="128048" cy="914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R</a:t>
            </a:r>
          </a:p>
        </p:txBody>
      </p:sp>
      <p:sp>
        <p:nvSpPr>
          <p:cNvPr id="131" name="takeaway_label_text"/>
          <p:cNvSpPr txBox="1"/>
          <p:nvPr/>
        </p:nvSpPr>
        <p:spPr>
          <a:xfrm>
            <a:off x="9091407" y="5596128"/>
            <a:ext cx="1006091" cy="1554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lang="en-IN" sz="1000" b="1" dirty="0">
                <a:solidFill>
                  <a:srgbClr val="0033A1"/>
                </a:solidFill>
                <a:latin typeface="Arial"/>
              </a:rPr>
              <a:t>Key Takeaway</a:t>
            </a:r>
          </a:p>
        </p:txBody>
      </p:sp>
      <p:sp>
        <p:nvSpPr>
          <p:cNvPr id="132" name="takeaway_text"/>
          <p:cNvSpPr txBox="1"/>
          <p:nvPr/>
        </p:nvSpPr>
        <p:spPr>
          <a:xfrm>
            <a:off x="9100553" y="5778939"/>
            <a:ext cx="2094499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69" b="0" dirty="0">
                <a:solidFill>
                  <a:srgbClr val="000000"/>
                </a:solidFill>
                <a:latin typeface="Arial"/>
              </a:rPr>
              <a:t>This governance model ensures clear
decision-making, accountability and
transparency across the program.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y temp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y temp" id="{73531C1D-6AE1-E449-8BB8-2383CD9BA9E4}" vid="{07C013BB-F2D3-844E-B176-62F60C4A8C8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ey temp</Template>
  <TotalTime>7</TotalTime>
  <Words>329</Words>
  <Application>Microsoft Macintosh PowerPoint</Application>
  <PresentationFormat>Widescreen</PresentationFormat>
  <Paragraphs>68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EYInterstate Light</vt:lpstr>
      <vt:lpstr>Wingdings</vt:lpstr>
      <vt:lpstr>ey temp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Madhav Kapoor</cp:lastModifiedBy>
  <cp:revision>5</cp:revision>
  <dcterms:created xsi:type="dcterms:W3CDTF">2013-01-27T09:14:16Z</dcterms:created>
  <dcterms:modified xsi:type="dcterms:W3CDTF">2026-07-21T07:24:57Z</dcterms:modified>
  <cp:category/>
</cp:coreProperties>
</file>