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7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5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7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3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92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6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7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32156" y="257935"/>
            <a:ext cx="8637416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AI use case prioritization matrix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32156" y="610127"/>
            <a:ext cx="7913385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i="1" dirty="0">
                <a:solidFill>
                  <a:srgbClr val="0078FF"/>
                </a:solidFill>
                <a:latin typeface="Arial"/>
              </a:rPr>
              <a:t>A value-versus-feasibility view helps focus investment on the AI opportunities most likely to create near-term business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3146" y="906664"/>
            <a:ext cx="1783544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450" b="1">
                <a:solidFill>
                  <a:srgbClr val="000000"/>
                </a:solidFill>
                <a:latin typeface="Arial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5737" y="1198227"/>
            <a:ext cx="374461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7713" y="1198227"/>
            <a:ext cx="624530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5567" y="1198227"/>
            <a:ext cx="406522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128049" y="2999232"/>
            <a:ext cx="439026" cy="1417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08" y="1976512"/>
            <a:ext cx="406522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156" y="3284104"/>
            <a:ext cx="567075" cy="1828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770" y="4481968"/>
            <a:ext cx="374461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963" y="1409584"/>
            <a:ext cx="2204277" cy="1261872"/>
          </a:xfrm>
          <a:prstGeom prst="rect">
            <a:avLst/>
          </a:prstGeom>
          <a:solidFill>
            <a:srgbClr val="F3F3F3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ell_monitor_title_text"/>
          <p:cNvSpPr txBox="1"/>
          <p:nvPr/>
        </p:nvSpPr>
        <p:spPr>
          <a:xfrm>
            <a:off x="1749076" y="1537600"/>
            <a:ext cx="796051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5827" y="1409584"/>
            <a:ext cx="2204277" cy="12618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ell_prioritize_title_text"/>
          <p:cNvSpPr txBox="1"/>
          <p:nvPr/>
        </p:nvSpPr>
        <p:spPr>
          <a:xfrm>
            <a:off x="3930628" y="1537600"/>
            <a:ext cx="914674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</a:t>
            </a:r>
          </a:p>
        </p:txBody>
      </p:sp>
      <p:sp>
        <p:nvSpPr>
          <p:cNvPr id="16" name="cell_prioritize_items_text"/>
          <p:cNvSpPr txBox="1"/>
          <p:nvPr/>
        </p:nvSpPr>
        <p:spPr>
          <a:xfrm>
            <a:off x="3432169" y="1912504"/>
            <a:ext cx="1975618" cy="57195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 UC3 Demand forecasting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 UC4 Contract clause extraction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6690" y="1409584"/>
            <a:ext cx="2204277" cy="1261872"/>
          </a:xfrm>
          <a:prstGeom prst="rect">
            <a:avLst/>
          </a:prstGeom>
          <a:solidFill>
            <a:srgbClr val="0078FF"/>
          </a:solidFill>
          <a:ln w="12700">
            <a:solidFill>
              <a:srgbClr val="00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ell_scale_title_text"/>
          <p:cNvSpPr txBox="1"/>
          <p:nvPr/>
        </p:nvSpPr>
        <p:spPr>
          <a:xfrm>
            <a:off x="6330991" y="1537600"/>
            <a:ext cx="595676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</a:p>
        </p:txBody>
      </p:sp>
      <p:sp>
        <p:nvSpPr>
          <p:cNvPr id="19" name="cell_scale_items_text"/>
          <p:cNvSpPr txBox="1"/>
          <p:nvPr/>
        </p:nvSpPr>
        <p:spPr>
          <a:xfrm>
            <a:off x="5673032" y="1766200"/>
            <a:ext cx="1975618" cy="741229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 UC1 Invoice exception prediction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 UC6 Spend anomaly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4963" y="2708032"/>
            <a:ext cx="2204277" cy="12618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ell_explore_title_text"/>
          <p:cNvSpPr txBox="1"/>
          <p:nvPr/>
        </p:nvSpPr>
        <p:spPr>
          <a:xfrm>
            <a:off x="1748275" y="2836048"/>
            <a:ext cx="797654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</a:p>
        </p:txBody>
      </p:sp>
      <p:sp>
        <p:nvSpPr>
          <p:cNvPr id="22" name="cell_explore_items_text"/>
          <p:cNvSpPr txBox="1"/>
          <p:nvPr/>
        </p:nvSpPr>
        <p:spPr>
          <a:xfrm>
            <a:off x="1191305" y="3210951"/>
            <a:ext cx="1975618" cy="1723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2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UC7 </a:t>
            </a: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sz="112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Q&amp;A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5827" y="2708032"/>
            <a:ext cx="2204277" cy="1261872"/>
          </a:xfrm>
          <a:prstGeom prst="rect">
            <a:avLst/>
          </a:prstGeom>
          <a:solidFill>
            <a:srgbClr val="F3F3F3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ell_selective_title_text"/>
          <p:cNvSpPr txBox="1"/>
          <p:nvPr/>
        </p:nvSpPr>
        <p:spPr>
          <a:xfrm>
            <a:off x="3924216" y="2836048"/>
            <a:ext cx="927498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Selective</a:t>
            </a:r>
          </a:p>
        </p:txBody>
      </p:sp>
      <p:sp>
        <p:nvSpPr>
          <p:cNvPr id="25" name="cell_selective_items_text"/>
          <p:cNvSpPr txBox="1"/>
          <p:nvPr/>
        </p:nvSpPr>
        <p:spPr>
          <a:xfrm>
            <a:off x="3432169" y="3210951"/>
            <a:ext cx="1975618" cy="1692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UC9 Master data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6690" y="2708032"/>
            <a:ext cx="2204277" cy="1261872"/>
          </a:xfrm>
          <a:prstGeom prst="rect">
            <a:avLst/>
          </a:prstGeom>
          <a:solidFill>
            <a:srgbClr val="D9ECFA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ell_accelerate_title_text"/>
          <p:cNvSpPr txBox="1"/>
          <p:nvPr/>
        </p:nvSpPr>
        <p:spPr>
          <a:xfrm>
            <a:off x="6094548" y="2836048"/>
            <a:ext cx="1068562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Accelerate</a:t>
            </a:r>
          </a:p>
        </p:txBody>
      </p:sp>
      <p:sp>
        <p:nvSpPr>
          <p:cNvPr id="28" name="cell_accelerate_items_text"/>
          <p:cNvSpPr txBox="1"/>
          <p:nvPr/>
        </p:nvSpPr>
        <p:spPr>
          <a:xfrm>
            <a:off x="5673032" y="3210951"/>
            <a:ext cx="1975618" cy="58118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 UC2 Knowledge copilot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 UC5 Supplier query assistant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963" y="4006480"/>
            <a:ext cx="2204277" cy="1261872"/>
          </a:xfrm>
          <a:prstGeom prst="rect">
            <a:avLst/>
          </a:prstGeom>
          <a:solidFill>
            <a:srgbClr val="F3F3F3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ell_defer_title_text"/>
          <p:cNvSpPr txBox="1"/>
          <p:nvPr/>
        </p:nvSpPr>
        <p:spPr>
          <a:xfrm>
            <a:off x="1854073" y="4134495"/>
            <a:ext cx="586058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5827" y="4006480"/>
            <a:ext cx="2204277" cy="1261872"/>
          </a:xfrm>
          <a:prstGeom prst="rect">
            <a:avLst/>
          </a:prstGeom>
          <a:solidFill>
            <a:srgbClr val="F3F3F3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ell_incubate_title_text"/>
          <p:cNvSpPr txBox="1"/>
          <p:nvPr/>
        </p:nvSpPr>
        <p:spPr>
          <a:xfrm>
            <a:off x="3946658" y="4134495"/>
            <a:ext cx="882614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Incubate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6690" y="4006480"/>
            <a:ext cx="2204277" cy="1261872"/>
          </a:xfrm>
          <a:prstGeom prst="rect">
            <a:avLst/>
          </a:prstGeom>
          <a:solidFill>
            <a:srgbClr val="F3F3F3"/>
          </a:solidFill>
          <a:ln w="1270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ell_strategic_bet_title_text"/>
          <p:cNvSpPr txBox="1"/>
          <p:nvPr/>
        </p:nvSpPr>
        <p:spPr>
          <a:xfrm>
            <a:off x="5999971" y="4134495"/>
            <a:ext cx="1257716" cy="26776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bet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2435" y="860944"/>
            <a:ext cx="3292697" cy="4334256"/>
          </a:xfrm>
          <a:prstGeom prst="rect">
            <a:avLst/>
          </a:prstGeom>
          <a:solidFill>
            <a:srgbClr val="F7FB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ortlist_title_text"/>
          <p:cNvSpPr txBox="1"/>
          <p:nvPr/>
        </p:nvSpPr>
        <p:spPr>
          <a:xfrm>
            <a:off x="9294999" y="1025536"/>
            <a:ext cx="1783544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50" b="1">
                <a:solidFill>
                  <a:srgbClr val="0078FF"/>
                </a:solidFill>
                <a:latin typeface="Arial"/>
              </a:rPr>
              <a:t>Priority shortlist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00484" y="1363864"/>
            <a:ext cx="3027452" cy="0"/>
          </a:xfrm>
          <a:prstGeom prst="line">
            <a:avLst/>
          </a:prstGeom>
          <a:ln w="1270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hortlist_1_label_text"/>
          <p:cNvSpPr txBox="1"/>
          <p:nvPr/>
        </p:nvSpPr>
        <p:spPr>
          <a:xfrm>
            <a:off x="8764509" y="1565032"/>
            <a:ext cx="2286595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1" dirty="0">
                <a:solidFill>
                  <a:srgbClr val="0078FF"/>
                </a:solidFill>
                <a:latin typeface="Arial"/>
              </a:rPr>
              <a:t>Accelerate now</a:t>
            </a:r>
          </a:p>
        </p:txBody>
      </p:sp>
      <p:sp>
        <p:nvSpPr>
          <p:cNvPr id="39" name="shortlist_1_items_text"/>
          <p:cNvSpPr txBox="1"/>
          <p:nvPr/>
        </p:nvSpPr>
        <p:spPr>
          <a:xfrm>
            <a:off x="8782802" y="1839352"/>
            <a:ext cx="2789646" cy="640080"/>
          </a:xfrm>
          <a:prstGeom prst="rect">
            <a:avLst/>
          </a:prstGeom>
          <a:noFill/>
        </p:spPr>
        <p:txBody>
          <a:bodyPr wrap="none" lIns="45720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UC1 Invoice exception prediction</a:t>
            </a:r>
          </a:p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UC6 Spend anomaly detection</a:t>
            </a:r>
          </a:p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UC8 Payment fraud monitoring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00484" y="2662312"/>
            <a:ext cx="3027452" cy="0"/>
          </a:xfrm>
          <a:prstGeom prst="line">
            <a:avLst/>
          </a:prstGeom>
          <a:ln w="1270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hortlist_2_label_text"/>
          <p:cNvSpPr txBox="1"/>
          <p:nvPr/>
        </p:nvSpPr>
        <p:spPr>
          <a:xfrm>
            <a:off x="8764509" y="2854336"/>
            <a:ext cx="2012203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078FF"/>
                </a:solidFill>
                <a:latin typeface="Arial"/>
              </a:rPr>
              <a:t>Pilot next</a:t>
            </a:r>
          </a:p>
        </p:txBody>
      </p:sp>
      <p:sp>
        <p:nvSpPr>
          <p:cNvPr id="42" name="shortlist_2_items_text"/>
          <p:cNvSpPr txBox="1"/>
          <p:nvPr/>
        </p:nvSpPr>
        <p:spPr>
          <a:xfrm>
            <a:off x="8782802" y="3119512"/>
            <a:ext cx="2789646" cy="676656"/>
          </a:xfrm>
          <a:prstGeom prst="rect">
            <a:avLst/>
          </a:prstGeom>
          <a:noFill/>
        </p:spPr>
        <p:txBody>
          <a:bodyPr wrap="none" lIns="45720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UC2 Knowledge copilot</a:t>
            </a:r>
          </a:p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UC5 Supplier query assistant</a:t>
            </a:r>
          </a:p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UC3 Demand forecasting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00484" y="3988192"/>
            <a:ext cx="3027452" cy="0"/>
          </a:xfrm>
          <a:prstGeom prst="line">
            <a:avLst/>
          </a:prstGeom>
          <a:ln w="1270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hortlist_3_label_text"/>
          <p:cNvSpPr txBox="1"/>
          <p:nvPr/>
        </p:nvSpPr>
        <p:spPr>
          <a:xfrm>
            <a:off x="8764509" y="4171072"/>
            <a:ext cx="2012203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078FF"/>
                </a:solidFill>
                <a:latin typeface="Arial"/>
              </a:rPr>
              <a:t>Defer</a:t>
            </a:r>
          </a:p>
        </p:txBody>
      </p:sp>
      <p:sp>
        <p:nvSpPr>
          <p:cNvPr id="45" name="shortlist_3_items_text"/>
          <p:cNvSpPr txBox="1"/>
          <p:nvPr/>
        </p:nvSpPr>
        <p:spPr>
          <a:xfrm>
            <a:off x="8782802" y="4463680"/>
            <a:ext cx="2789646" cy="457200"/>
          </a:xfrm>
          <a:prstGeom prst="rect">
            <a:avLst/>
          </a:prstGeom>
          <a:noFill/>
        </p:spPr>
        <p:txBody>
          <a:bodyPr wrap="none" lIns="45720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UC7 Policy Q&amp;A assistant</a:t>
            </a:r>
          </a:p>
          <a:p>
            <a:pPr>
              <a:spcAft>
                <a:spcPts val="300"/>
              </a:spcAft>
              <a:defRPr sz="1120">
                <a:solidFill>
                  <a:srgbClr val="000000"/>
                </a:solidFill>
                <a:latin typeface="Arial"/>
              </a:defRPr>
            </a:pPr>
            <a:r>
              <a:rPr dirty="0"/>
              <a:t>•   UC9 Master data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59" y="5632704"/>
            <a:ext cx="11734806" cy="568336"/>
          </a:xfrm>
          <a:prstGeom prst="rect">
            <a:avLst/>
          </a:prstGeom>
          <a:solidFill>
            <a:srgbClr val="EAF6FF"/>
          </a:solidFill>
          <a:ln w="12700">
            <a:solidFill>
              <a:srgbClr val="D6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akeaway_text"/>
          <p:cNvSpPr txBox="1"/>
          <p:nvPr/>
        </p:nvSpPr>
        <p:spPr>
          <a:xfrm>
            <a:off x="2445565" y="5678617"/>
            <a:ext cx="7300525" cy="4678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400" b="1" dirty="0">
                <a:solidFill>
                  <a:srgbClr val="0078FF"/>
                </a:solidFill>
                <a:latin typeface="Arial"/>
              </a:rPr>
              <a:t>The matrix indicates that near-term value should be captured through scalable,
high-feasibility use cases while lower-readiness opportunities are piloted selectively.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2F0A97-A58C-CF9A-6CC6-84D70A8459D0}"/>
              </a:ext>
            </a:extLst>
          </p:cNvPr>
          <p:cNvSpPr txBox="1"/>
          <p:nvPr/>
        </p:nvSpPr>
        <p:spPr>
          <a:xfrm>
            <a:off x="1129582" y="1851279"/>
            <a:ext cx="2009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IN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UC10 Employee sentiment analysis</a:t>
            </a:r>
            <a:endParaRPr lang="en-IN" sz="1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4EF575-ADB0-4FF3-83A7-DF395D07D3FC}"/>
              </a:ext>
            </a:extLst>
          </p:cNvPr>
          <p:cNvSpPr txBox="1"/>
          <p:nvPr/>
        </p:nvSpPr>
        <p:spPr>
          <a:xfrm>
            <a:off x="1137532" y="4407408"/>
            <a:ext cx="18708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1. UC11 Automated meeting-summary generation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9FF6E-1DD9-9298-0C62-2DBFAB7E2832}"/>
              </a:ext>
            </a:extLst>
          </p:cNvPr>
          <p:cNvSpPr txBox="1"/>
          <p:nvPr/>
        </p:nvSpPr>
        <p:spPr>
          <a:xfrm>
            <a:off x="3372964" y="4420359"/>
            <a:ext cx="1801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1. UC12 Synthetic-data generation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01D11E-2B5B-D0E2-1366-D8A9FD8650E6}"/>
              </a:ext>
            </a:extLst>
          </p:cNvPr>
          <p:cNvSpPr txBox="1"/>
          <p:nvPr/>
        </p:nvSpPr>
        <p:spPr>
          <a:xfrm>
            <a:off x="5733316" y="4451875"/>
            <a:ext cx="17910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1. UC13 Autonomous procurement negotiation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12</TotalTime>
  <Words>183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3</cp:revision>
  <dcterms:created xsi:type="dcterms:W3CDTF">2013-01-27T09:14:16Z</dcterms:created>
  <dcterms:modified xsi:type="dcterms:W3CDTF">2026-07-21T07:29:43Z</dcterms:modified>
  <cp:category/>
</cp:coreProperties>
</file>