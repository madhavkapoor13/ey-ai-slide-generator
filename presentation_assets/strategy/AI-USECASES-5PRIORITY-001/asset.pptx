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7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208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01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372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675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289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26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222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049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611526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222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337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919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925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44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9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/>
          <p:nvPr/>
        </p:nvSpPr>
        <p:spPr>
          <a:xfrm>
            <a:off x="464192" y="272033"/>
            <a:ext cx="92071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0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AI use cases</a:t>
            </a:r>
            <a:endParaRPr lang="en-US" sz="2400" dirty="0"/>
          </a:p>
        </p:txBody>
      </p:sp>
      <p:sp>
        <p:nvSpPr>
          <p:cNvPr id="3" name="subtitle_text"/>
          <p:cNvSpPr/>
          <p:nvPr/>
        </p:nvSpPr>
        <p:spPr>
          <a:xfrm>
            <a:off x="464193" y="569212"/>
            <a:ext cx="115214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high-impact use cases can unlock efficiency, control and decision support across the operating model.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54736" y="1236727"/>
            <a:ext cx="3493008" cy="2157984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" name="use_case_1_number"/>
          <p:cNvSpPr/>
          <p:nvPr/>
        </p:nvSpPr>
        <p:spPr>
          <a:xfrm>
            <a:off x="2081784" y="1081279"/>
            <a:ext cx="438912" cy="274320"/>
          </a:xfrm>
          <a:prstGeom prst="rect">
            <a:avLst/>
          </a:prstGeom>
          <a:solidFill>
            <a:srgbClr val="006CE6"/>
          </a:solidFill>
          <a:ln w="6350">
            <a:solidFill>
              <a:srgbClr val="006CE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use_case_1_title_text"/>
          <p:cNvSpPr/>
          <p:nvPr/>
        </p:nvSpPr>
        <p:spPr>
          <a:xfrm>
            <a:off x="783336" y="1492759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demand triage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0768" y="1858519"/>
            <a:ext cx="2980944" cy="0"/>
          </a:xfrm>
          <a:prstGeom prst="line">
            <a:avLst/>
          </a:prstGeom>
          <a:noFill/>
          <a:ln w="8890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use_case_1_description_text"/>
          <p:cNvSpPr/>
          <p:nvPr/>
        </p:nvSpPr>
        <p:spPr>
          <a:xfrm>
            <a:off x="856488" y="2004823"/>
            <a:ext cx="2889504" cy="85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incoming requests, route them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owner and prioritize based 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 and urgency.</a:t>
            </a:r>
            <a:endParaRPr lang="en-US" sz="1200" dirty="0"/>
          </a:p>
        </p:txBody>
      </p:sp>
      <p:sp>
        <p:nvSpPr>
          <p:cNvPr id="10" name="use_case_1_value_text"/>
          <p:cNvSpPr/>
          <p:nvPr/>
        </p:nvSpPr>
        <p:spPr>
          <a:xfrm>
            <a:off x="646176" y="2864359"/>
            <a:ext cx="3310128" cy="402336"/>
          </a:xfrm>
          <a:prstGeom prst="rect">
            <a:avLst/>
          </a:prstGeom>
          <a:solidFill>
            <a:srgbClr val="EFF6FE"/>
          </a:solidFill>
          <a:ln>
            <a:solidFill>
              <a:srgbClr val="EFF6FE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</a:t>
            </a: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response and lower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triage effort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5216" y="1236727"/>
            <a:ext cx="3493008" cy="2157984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use_case_2_number"/>
          <p:cNvSpPr/>
          <p:nvPr/>
        </p:nvSpPr>
        <p:spPr>
          <a:xfrm>
            <a:off x="5876544" y="1081279"/>
            <a:ext cx="438912" cy="274320"/>
          </a:xfrm>
          <a:prstGeom prst="rect">
            <a:avLst/>
          </a:prstGeom>
          <a:solidFill>
            <a:srgbClr val="006CE6"/>
          </a:solidFill>
          <a:ln w="6350">
            <a:solidFill>
              <a:srgbClr val="006CE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use_case_2_title_text"/>
          <p:cNvSpPr/>
          <p:nvPr/>
        </p:nvSpPr>
        <p:spPr>
          <a:xfrm>
            <a:off x="4578096" y="1492759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Policy-aware workflow orchestration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05528" y="1858519"/>
            <a:ext cx="2980944" cy="0"/>
          </a:xfrm>
          <a:prstGeom prst="line">
            <a:avLst/>
          </a:prstGeom>
          <a:noFill/>
          <a:ln w="8890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use_case_2_description_text"/>
          <p:cNvSpPr/>
          <p:nvPr/>
        </p:nvSpPr>
        <p:spPr>
          <a:xfrm>
            <a:off x="4651248" y="2004822"/>
            <a:ext cx="2889504" cy="85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approvals, trigger next-best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and enforce controls across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process steps.</a:t>
            </a:r>
            <a:endParaRPr lang="en-US" sz="1200" dirty="0"/>
          </a:p>
        </p:txBody>
      </p:sp>
      <p:sp>
        <p:nvSpPr>
          <p:cNvPr id="16" name="use_case_2_value_text"/>
          <p:cNvSpPr/>
          <p:nvPr/>
        </p:nvSpPr>
        <p:spPr>
          <a:xfrm>
            <a:off x="4440936" y="2864359"/>
            <a:ext cx="3310128" cy="402336"/>
          </a:xfrm>
          <a:prstGeom prst="rect">
            <a:avLst/>
          </a:prstGeom>
          <a:solidFill>
            <a:srgbClr val="EFF6FE"/>
          </a:solidFill>
          <a:ln>
            <a:solidFill>
              <a:srgbClr val="EFF6FE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</a:t>
            </a: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cycle time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compliance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44256" y="1236727"/>
            <a:ext cx="3493008" cy="2157984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8" name="use_case_3_number"/>
          <p:cNvSpPr/>
          <p:nvPr/>
        </p:nvSpPr>
        <p:spPr>
          <a:xfrm>
            <a:off x="9671304" y="1081279"/>
            <a:ext cx="438912" cy="274320"/>
          </a:xfrm>
          <a:prstGeom prst="rect">
            <a:avLst/>
          </a:prstGeom>
          <a:solidFill>
            <a:srgbClr val="006CE6"/>
          </a:solidFill>
          <a:ln w="6350">
            <a:solidFill>
              <a:srgbClr val="006CE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use_case_3_title_text"/>
          <p:cNvSpPr/>
          <p:nvPr/>
        </p:nvSpPr>
        <p:spPr>
          <a:xfrm>
            <a:off x="8372856" y="1492759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exception management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00288" y="1858519"/>
            <a:ext cx="2980944" cy="0"/>
          </a:xfrm>
          <a:prstGeom prst="line">
            <a:avLst/>
          </a:prstGeom>
          <a:noFill/>
          <a:ln w="8890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use_case_3_description_text"/>
          <p:cNvSpPr/>
          <p:nvPr/>
        </p:nvSpPr>
        <p:spPr>
          <a:xfrm>
            <a:off x="8446008" y="2004822"/>
            <a:ext cx="2889504" cy="859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likely bottlenecks, mismatches 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failures early and recommend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interventions before issues escalate.</a:t>
            </a:r>
            <a:endParaRPr lang="en-US" sz="1200" dirty="0"/>
          </a:p>
        </p:txBody>
      </p:sp>
      <p:sp>
        <p:nvSpPr>
          <p:cNvPr id="22" name="use_case_3_value_text"/>
          <p:cNvSpPr/>
          <p:nvPr/>
        </p:nvSpPr>
        <p:spPr>
          <a:xfrm>
            <a:off x="8235696" y="2864359"/>
            <a:ext cx="3310128" cy="402336"/>
          </a:xfrm>
          <a:prstGeom prst="rect">
            <a:avLst/>
          </a:prstGeom>
          <a:solidFill>
            <a:srgbClr val="EFF6FE"/>
          </a:solidFill>
          <a:ln>
            <a:solidFill>
              <a:srgbClr val="EFF6FE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</a:t>
            </a: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exceptions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rework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89176" y="3687319"/>
            <a:ext cx="4096512" cy="1819656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use_case_4_number"/>
          <p:cNvSpPr/>
          <p:nvPr/>
        </p:nvSpPr>
        <p:spPr>
          <a:xfrm>
            <a:off x="3617976" y="3531871"/>
            <a:ext cx="438912" cy="274320"/>
          </a:xfrm>
          <a:prstGeom prst="rect">
            <a:avLst/>
          </a:prstGeom>
          <a:solidFill>
            <a:srgbClr val="006CE6"/>
          </a:solidFill>
          <a:ln w="6350">
            <a:solidFill>
              <a:srgbClr val="006CE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use_case_4_title_text"/>
          <p:cNvSpPr/>
          <p:nvPr/>
        </p:nvSpPr>
        <p:spPr>
          <a:xfrm>
            <a:off x="2017776" y="3943351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copilot for teams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045208" y="4309111"/>
            <a:ext cx="3584448" cy="0"/>
          </a:xfrm>
          <a:prstGeom prst="line">
            <a:avLst/>
          </a:prstGeom>
          <a:noFill/>
          <a:ln w="8890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" name="use_case_4_description_text"/>
          <p:cNvSpPr/>
          <p:nvPr/>
        </p:nvSpPr>
        <p:spPr>
          <a:xfrm>
            <a:off x="2090928" y="4455415"/>
            <a:ext cx="3493008" cy="521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guided answers, policy interpretation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 recommendations directly within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day-to-day workflows.</a:t>
            </a:r>
            <a:endParaRPr lang="en-US" sz="1200" dirty="0"/>
          </a:p>
        </p:txBody>
      </p:sp>
      <p:sp>
        <p:nvSpPr>
          <p:cNvPr id="28" name="use_case_4_value_text"/>
          <p:cNvSpPr/>
          <p:nvPr/>
        </p:nvSpPr>
        <p:spPr>
          <a:xfrm>
            <a:off x="1880616" y="4976623"/>
            <a:ext cx="3913632" cy="402336"/>
          </a:xfrm>
          <a:prstGeom prst="rect">
            <a:avLst/>
          </a:prstGeom>
          <a:solidFill>
            <a:srgbClr val="EFF6FE"/>
          </a:solidFill>
          <a:ln>
            <a:solidFill>
              <a:srgbClr val="EFF6FE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</a:t>
            </a: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productivity and more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decisions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88024" y="3687319"/>
            <a:ext cx="3977640" cy="1819656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use_case_5_number"/>
          <p:cNvSpPr/>
          <p:nvPr/>
        </p:nvSpPr>
        <p:spPr>
          <a:xfrm>
            <a:off x="8057388" y="3531871"/>
            <a:ext cx="438912" cy="274320"/>
          </a:xfrm>
          <a:prstGeom prst="rect">
            <a:avLst/>
          </a:prstGeom>
          <a:solidFill>
            <a:srgbClr val="006CE6"/>
          </a:solidFill>
          <a:ln w="6350">
            <a:solidFill>
              <a:srgbClr val="006CE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use_case_5_title_text"/>
          <p:cNvSpPr/>
          <p:nvPr/>
        </p:nvSpPr>
        <p:spPr>
          <a:xfrm>
            <a:off x="6516624" y="3943351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insight cockpit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44056" y="4309111"/>
            <a:ext cx="3465576" cy="0"/>
          </a:xfrm>
          <a:prstGeom prst="line">
            <a:avLst/>
          </a:prstGeom>
          <a:noFill/>
          <a:ln w="8890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3" name="use_case_5_description_text"/>
          <p:cNvSpPr/>
          <p:nvPr/>
        </p:nvSpPr>
        <p:spPr>
          <a:xfrm>
            <a:off x="6589776" y="4455414"/>
            <a:ext cx="3374136" cy="52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process, risk and service data into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insight views that support faster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decisions.</a:t>
            </a:r>
            <a:endParaRPr lang="en-US" sz="1200" dirty="0"/>
          </a:p>
        </p:txBody>
      </p:sp>
      <p:sp>
        <p:nvSpPr>
          <p:cNvPr id="34" name="use_case_5_value_text"/>
          <p:cNvSpPr/>
          <p:nvPr/>
        </p:nvSpPr>
        <p:spPr>
          <a:xfrm>
            <a:off x="6379464" y="4976623"/>
            <a:ext cx="3794760" cy="402336"/>
          </a:xfrm>
          <a:prstGeom prst="rect">
            <a:avLst/>
          </a:prstGeom>
          <a:solidFill>
            <a:srgbClr val="EFF6FE"/>
          </a:solidFill>
          <a:ln>
            <a:solidFill>
              <a:srgbClr val="EFF6FE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</a:t>
            </a: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visibility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70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KPI-driven management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2712" y="5708143"/>
            <a:ext cx="11411712" cy="539496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6" name="Shape 34"/>
          <p:cNvSpPr/>
          <p:nvPr/>
        </p:nvSpPr>
        <p:spPr>
          <a:xfrm rot="5400000">
            <a:off x="829056" y="5790439"/>
            <a:ext cx="210312" cy="393192"/>
          </a:xfrm>
          <a:prstGeom prst="triangle">
            <a:avLst/>
          </a:prstGeom>
          <a:solidFill>
            <a:srgbClr val="006CE6"/>
          </a:solidFill>
          <a:ln w="12700">
            <a:solidFill>
              <a:srgbClr val="006CE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7" name="takeaway_text"/>
          <p:cNvSpPr/>
          <p:nvPr/>
        </p:nvSpPr>
        <p:spPr>
          <a:xfrm>
            <a:off x="1377696" y="5808726"/>
            <a:ext cx="9875520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6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Together, these use cases combine automation, intelligence and decision support to create measurable business value.</a:t>
            </a:r>
            <a:endParaRPr lang="en-US" sz="1400" dirty="0"/>
          </a:p>
        </p:txBody>
      </p:sp>
      <p:sp>
        <p:nvSpPr>
          <p:cNvPr id="39" name="footer_page_number"/>
          <p:cNvSpPr/>
          <p:nvPr/>
        </p:nvSpPr>
        <p:spPr>
          <a:xfrm>
            <a:off x="9643872" y="6439663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4</TotalTime>
  <Words>180</Words>
  <Application>Microsoft Macintosh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Priority AI use cases</dc:title>
  <dc:subject>Priority AI use cases editable slide</dc:subject>
  <dc:creator>OpenAI</dc:creator>
  <cp:lastModifiedBy>Madhav Kapoor</cp:lastModifiedBy>
  <cp:revision>5</cp:revision>
  <dcterms:created xsi:type="dcterms:W3CDTF">2026-07-15T11:18:41Z</dcterms:created>
  <dcterms:modified xsi:type="dcterms:W3CDTF">2026-07-21T07:29:29Z</dcterms:modified>
</cp:coreProperties>
</file>