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82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384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3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051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346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249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0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4542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928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809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000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17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2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ext"/>
          <p:cNvSpPr/>
          <p:nvPr/>
        </p:nvSpPr>
        <p:spPr>
          <a:xfrm>
            <a:off x="448055" y="256032"/>
            <a:ext cx="10273535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Register – Key Actions and Accountabilities</a:t>
            </a:r>
            <a:endParaRPr lang="en-US" sz="2400" dirty="0"/>
          </a:p>
        </p:txBody>
      </p:sp>
      <p:sp>
        <p:nvSpPr>
          <p:cNvPr id="4" name="subtitle_text"/>
          <p:cNvSpPr/>
          <p:nvPr/>
        </p:nvSpPr>
        <p:spPr>
          <a:xfrm>
            <a:off x="448056" y="576072"/>
            <a:ext cx="100584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critical actions, owners and timelines to ensure effective execution and accountability.</a:t>
            </a:r>
            <a:endParaRPr lang="en-US" sz="1100" i="1" dirty="0"/>
          </a:p>
        </p:txBody>
      </p:sp>
      <p:sp>
        <p:nvSpPr>
          <p:cNvPr id="5" name="summary_text"/>
          <p:cNvSpPr/>
          <p:nvPr/>
        </p:nvSpPr>
        <p:spPr>
          <a:xfrm>
            <a:off x="360635" y="1010412"/>
            <a:ext cx="107899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register captures the priority actions required to implement our operating model and realize the expected benefits.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" y="1367027"/>
            <a:ext cx="475488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eader_number"/>
          <p:cNvSpPr/>
          <p:nvPr/>
        </p:nvSpPr>
        <p:spPr>
          <a:xfrm>
            <a:off x="384048" y="1476755"/>
            <a:ext cx="4206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832104" y="1367027"/>
            <a:ext cx="2295144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eader_action"/>
          <p:cNvSpPr/>
          <p:nvPr/>
        </p:nvSpPr>
        <p:spPr>
          <a:xfrm>
            <a:off x="859536" y="1476755"/>
            <a:ext cx="2240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3127248" y="1367027"/>
            <a:ext cx="1444752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eader_owner"/>
          <p:cNvSpPr/>
          <p:nvPr/>
        </p:nvSpPr>
        <p:spPr>
          <a:xfrm>
            <a:off x="3154680" y="1476755"/>
            <a:ext cx="13898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572000" y="1367027"/>
            <a:ext cx="1207008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_due_date"/>
          <p:cNvSpPr/>
          <p:nvPr/>
        </p:nvSpPr>
        <p:spPr>
          <a:xfrm>
            <a:off x="4599432" y="1476755"/>
            <a:ext cx="115214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779008" y="1367027"/>
            <a:ext cx="1124712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header_priority"/>
          <p:cNvSpPr/>
          <p:nvPr/>
        </p:nvSpPr>
        <p:spPr>
          <a:xfrm>
            <a:off x="5806440" y="1476755"/>
            <a:ext cx="10698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903720" y="1367027"/>
            <a:ext cx="1261872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header_status"/>
          <p:cNvSpPr/>
          <p:nvPr/>
        </p:nvSpPr>
        <p:spPr>
          <a:xfrm>
            <a:off x="6931152" y="1476755"/>
            <a:ext cx="120700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165592" y="1367027"/>
            <a:ext cx="923544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header_progress"/>
          <p:cNvSpPr/>
          <p:nvPr/>
        </p:nvSpPr>
        <p:spPr>
          <a:xfrm>
            <a:off x="8193024" y="1476755"/>
            <a:ext cx="868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089136" y="1367027"/>
            <a:ext cx="1965960" cy="365760"/>
          </a:xfrm>
          <a:prstGeom prst="rect">
            <a:avLst/>
          </a:prstGeom>
          <a:solidFill>
            <a:srgbClr val="005CD6"/>
          </a:solidFill>
          <a:ln w="6985">
            <a:solidFill>
              <a:srgbClr val="78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header_comments"/>
          <p:cNvSpPr/>
          <p:nvPr/>
        </p:nvSpPr>
        <p:spPr>
          <a:xfrm>
            <a:off x="9116568" y="1476755"/>
            <a:ext cx="19110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/ Next Step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356616" y="1732787"/>
            <a:ext cx="47548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2104" y="1732787"/>
            <a:ext cx="22951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27248" y="1732787"/>
            <a:ext cx="144475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1732787"/>
            <a:ext cx="120700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79008" y="1732787"/>
            <a:ext cx="112471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03720" y="1732787"/>
            <a:ext cx="126187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65592" y="1732787"/>
            <a:ext cx="9235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89136" y="1732787"/>
            <a:ext cx="19659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ction_1_number_text"/>
          <p:cNvSpPr/>
          <p:nvPr/>
        </p:nvSpPr>
        <p:spPr>
          <a:xfrm>
            <a:off x="402336" y="1979675"/>
            <a:ext cx="3840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action_1_action_text"/>
          <p:cNvSpPr/>
          <p:nvPr/>
        </p:nvSpPr>
        <p:spPr>
          <a:xfrm>
            <a:off x="978408" y="1888235"/>
            <a:ext cx="2039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target operating model design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capability definitions</a:t>
            </a:r>
            <a:endParaRPr lang="en-US" sz="880" dirty="0"/>
          </a:p>
        </p:txBody>
      </p:sp>
      <p:sp>
        <p:nvSpPr>
          <p:cNvPr id="32" name="action_1_owner_text"/>
          <p:cNvSpPr/>
          <p:nvPr/>
        </p:nvSpPr>
        <p:spPr>
          <a:xfrm>
            <a:off x="3200400" y="1943099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870" dirty="0"/>
          </a:p>
        </p:txBody>
      </p:sp>
      <p:sp>
        <p:nvSpPr>
          <p:cNvPr id="33" name="action_1_due_date_text"/>
          <p:cNvSpPr/>
          <p:nvPr/>
        </p:nvSpPr>
        <p:spPr>
          <a:xfrm>
            <a:off x="4617720" y="1970531"/>
            <a:ext cx="11155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May 2025</a:t>
            </a:r>
            <a:endParaRPr lang="en-US" sz="860" dirty="0"/>
          </a:p>
        </p:txBody>
      </p:sp>
      <p:sp>
        <p:nvSpPr>
          <p:cNvPr id="34" name="action_1_priority_text"/>
          <p:cNvSpPr/>
          <p:nvPr/>
        </p:nvSpPr>
        <p:spPr>
          <a:xfrm>
            <a:off x="5824728" y="1970531"/>
            <a:ext cx="103327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70" dirty="0"/>
          </a:p>
        </p:txBody>
      </p:sp>
      <p:sp>
        <p:nvSpPr>
          <p:cNvPr id="35" name="action_1_status_text"/>
          <p:cNvSpPr/>
          <p:nvPr/>
        </p:nvSpPr>
        <p:spPr>
          <a:xfrm>
            <a:off x="6949440" y="1943099"/>
            <a:ext cx="1170432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70" dirty="0"/>
          </a:p>
        </p:txBody>
      </p:sp>
      <p:sp>
        <p:nvSpPr>
          <p:cNvPr id="36" name="action_1_progress_text"/>
          <p:cNvSpPr/>
          <p:nvPr/>
        </p:nvSpPr>
        <p:spPr>
          <a:xfrm>
            <a:off x="8211312" y="1970531"/>
            <a:ext cx="8321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70" dirty="0"/>
          </a:p>
        </p:txBody>
      </p:sp>
      <p:sp>
        <p:nvSpPr>
          <p:cNvPr id="37" name="action_1_comment_text"/>
          <p:cNvSpPr/>
          <p:nvPr/>
        </p:nvSpPr>
        <p:spPr>
          <a:xfrm>
            <a:off x="9217152" y="1787651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complete; stakeholder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in progress.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6616" y="2235707"/>
            <a:ext cx="47548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2104" y="2235707"/>
            <a:ext cx="22951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127248" y="2235707"/>
            <a:ext cx="144475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0" y="2235707"/>
            <a:ext cx="120700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79008" y="2235707"/>
            <a:ext cx="112471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03720" y="2235707"/>
            <a:ext cx="126187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165592" y="2235707"/>
            <a:ext cx="9235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089136" y="2235707"/>
            <a:ext cx="19659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action_2_number_text"/>
          <p:cNvSpPr/>
          <p:nvPr/>
        </p:nvSpPr>
        <p:spPr>
          <a:xfrm>
            <a:off x="402336" y="2482595"/>
            <a:ext cx="3840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7" name="action_2_action_text"/>
          <p:cNvSpPr/>
          <p:nvPr/>
        </p:nvSpPr>
        <p:spPr>
          <a:xfrm>
            <a:off x="978408" y="2391155"/>
            <a:ext cx="2039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and document priority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processes</a:t>
            </a:r>
            <a:endParaRPr lang="en-US" sz="880" dirty="0"/>
          </a:p>
        </p:txBody>
      </p:sp>
      <p:sp>
        <p:nvSpPr>
          <p:cNvPr id="48" name="action_2_owner_text"/>
          <p:cNvSpPr/>
          <p:nvPr/>
        </p:nvSpPr>
        <p:spPr>
          <a:xfrm>
            <a:off x="3200400" y="2446019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Lead</a:t>
            </a:r>
            <a:endParaRPr lang="en-US" sz="870" dirty="0"/>
          </a:p>
        </p:txBody>
      </p:sp>
      <p:sp>
        <p:nvSpPr>
          <p:cNvPr id="49" name="action_2_due_date_text"/>
          <p:cNvSpPr/>
          <p:nvPr/>
        </p:nvSpPr>
        <p:spPr>
          <a:xfrm>
            <a:off x="4617720" y="2473451"/>
            <a:ext cx="11155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Jun 2025</a:t>
            </a:r>
            <a:endParaRPr lang="en-US" sz="860" dirty="0"/>
          </a:p>
        </p:txBody>
      </p:sp>
      <p:sp>
        <p:nvSpPr>
          <p:cNvPr id="50" name="action_2_priority_text"/>
          <p:cNvSpPr/>
          <p:nvPr/>
        </p:nvSpPr>
        <p:spPr>
          <a:xfrm>
            <a:off x="5824728" y="2473451"/>
            <a:ext cx="103327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70" dirty="0"/>
          </a:p>
        </p:txBody>
      </p:sp>
      <p:sp>
        <p:nvSpPr>
          <p:cNvPr id="51" name="action_2_status_text"/>
          <p:cNvSpPr/>
          <p:nvPr/>
        </p:nvSpPr>
        <p:spPr>
          <a:xfrm>
            <a:off x="6949440" y="2446019"/>
            <a:ext cx="1170432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70" dirty="0"/>
          </a:p>
        </p:txBody>
      </p:sp>
      <p:sp>
        <p:nvSpPr>
          <p:cNvPr id="52" name="action_2_progress_text"/>
          <p:cNvSpPr/>
          <p:nvPr/>
        </p:nvSpPr>
        <p:spPr>
          <a:xfrm>
            <a:off x="8211312" y="2473451"/>
            <a:ext cx="8321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870" dirty="0"/>
          </a:p>
        </p:txBody>
      </p:sp>
      <p:sp>
        <p:nvSpPr>
          <p:cNvPr id="53" name="action_2_comment_text"/>
          <p:cNvSpPr/>
          <p:nvPr/>
        </p:nvSpPr>
        <p:spPr>
          <a:xfrm>
            <a:off x="9217152" y="2327147"/>
            <a:ext cx="17373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mapping complete for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8 processes.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56616" y="2738627"/>
            <a:ext cx="47548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32104" y="2738627"/>
            <a:ext cx="22951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127248" y="2738627"/>
            <a:ext cx="144475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0" y="2738627"/>
            <a:ext cx="120700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79008" y="2738627"/>
            <a:ext cx="112471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903720" y="2738627"/>
            <a:ext cx="126187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165592" y="2738627"/>
            <a:ext cx="9235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089136" y="2738627"/>
            <a:ext cx="19659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action_3_number_text"/>
          <p:cNvSpPr/>
          <p:nvPr/>
        </p:nvSpPr>
        <p:spPr>
          <a:xfrm>
            <a:off x="402336" y="2985515"/>
            <a:ext cx="3840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3" name="action_3_action_text"/>
          <p:cNvSpPr/>
          <p:nvPr/>
        </p:nvSpPr>
        <p:spPr>
          <a:xfrm>
            <a:off x="978408" y="2894075"/>
            <a:ext cx="2039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governance framework and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</a:t>
            </a:r>
            <a:endParaRPr lang="en-US" sz="880" dirty="0"/>
          </a:p>
        </p:txBody>
      </p:sp>
      <p:sp>
        <p:nvSpPr>
          <p:cNvPr id="64" name="action_3_owner_text"/>
          <p:cNvSpPr/>
          <p:nvPr/>
        </p:nvSpPr>
        <p:spPr>
          <a:xfrm>
            <a:off x="3200400" y="2948939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Lead</a:t>
            </a:r>
            <a:endParaRPr lang="en-US" sz="870" dirty="0"/>
          </a:p>
        </p:txBody>
      </p:sp>
      <p:sp>
        <p:nvSpPr>
          <p:cNvPr id="65" name="action_3_due_date_text"/>
          <p:cNvSpPr/>
          <p:nvPr/>
        </p:nvSpPr>
        <p:spPr>
          <a:xfrm>
            <a:off x="4617720" y="2976371"/>
            <a:ext cx="11155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Jun 2025</a:t>
            </a:r>
            <a:endParaRPr lang="en-US" sz="860" dirty="0"/>
          </a:p>
        </p:txBody>
      </p:sp>
      <p:sp>
        <p:nvSpPr>
          <p:cNvPr id="66" name="action_3_priority_text"/>
          <p:cNvSpPr/>
          <p:nvPr/>
        </p:nvSpPr>
        <p:spPr>
          <a:xfrm>
            <a:off x="5824728" y="2976371"/>
            <a:ext cx="103327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70" dirty="0"/>
          </a:p>
        </p:txBody>
      </p:sp>
      <p:sp>
        <p:nvSpPr>
          <p:cNvPr id="67" name="action_3_status_text"/>
          <p:cNvSpPr/>
          <p:nvPr/>
        </p:nvSpPr>
        <p:spPr>
          <a:xfrm>
            <a:off x="6949440" y="2894075"/>
            <a:ext cx="11704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70" dirty="0"/>
          </a:p>
        </p:txBody>
      </p:sp>
      <p:sp>
        <p:nvSpPr>
          <p:cNvPr id="68" name="action_3_progress_text"/>
          <p:cNvSpPr/>
          <p:nvPr/>
        </p:nvSpPr>
        <p:spPr>
          <a:xfrm>
            <a:off x="8211312" y="2976371"/>
            <a:ext cx="8321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70" dirty="0"/>
          </a:p>
        </p:txBody>
      </p:sp>
      <p:sp>
        <p:nvSpPr>
          <p:cNvPr id="69" name="action_3_comment_text"/>
          <p:cNvSpPr/>
          <p:nvPr/>
        </p:nvSpPr>
        <p:spPr>
          <a:xfrm>
            <a:off x="9217152" y="2830067"/>
            <a:ext cx="17373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council kickoff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56616" y="3241547"/>
            <a:ext cx="47548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32104" y="3241547"/>
            <a:ext cx="22951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127248" y="3241547"/>
            <a:ext cx="144475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572000" y="3241547"/>
            <a:ext cx="120700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779008" y="3241547"/>
            <a:ext cx="112471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903720" y="3241547"/>
            <a:ext cx="126187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165592" y="3241547"/>
            <a:ext cx="9235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9089136" y="3241547"/>
            <a:ext cx="19659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action_4_number_text"/>
          <p:cNvSpPr/>
          <p:nvPr/>
        </p:nvSpPr>
        <p:spPr>
          <a:xfrm>
            <a:off x="402336" y="3488435"/>
            <a:ext cx="3840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9" name="action_4_action_text"/>
          <p:cNvSpPr/>
          <p:nvPr/>
        </p:nvSpPr>
        <p:spPr>
          <a:xfrm>
            <a:off x="978408" y="3396995"/>
            <a:ext cx="2039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integrated technology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and interfaces</a:t>
            </a:r>
            <a:endParaRPr lang="en-US" sz="880" dirty="0"/>
          </a:p>
        </p:txBody>
      </p:sp>
      <p:sp>
        <p:nvSpPr>
          <p:cNvPr id="80" name="action_4_owner_text"/>
          <p:cNvSpPr/>
          <p:nvPr/>
        </p:nvSpPr>
        <p:spPr>
          <a:xfrm>
            <a:off x="3200400" y="3451859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Lead</a:t>
            </a:r>
            <a:endParaRPr lang="en-US" sz="870" dirty="0"/>
          </a:p>
        </p:txBody>
      </p:sp>
      <p:sp>
        <p:nvSpPr>
          <p:cNvPr id="81" name="action_4_due_date_text"/>
          <p:cNvSpPr/>
          <p:nvPr/>
        </p:nvSpPr>
        <p:spPr>
          <a:xfrm>
            <a:off x="4617720" y="3479291"/>
            <a:ext cx="11155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Jun 2025</a:t>
            </a:r>
            <a:endParaRPr lang="en-US" sz="860" dirty="0"/>
          </a:p>
        </p:txBody>
      </p:sp>
      <p:sp>
        <p:nvSpPr>
          <p:cNvPr id="82" name="action_4_priority_text"/>
          <p:cNvSpPr/>
          <p:nvPr/>
        </p:nvSpPr>
        <p:spPr>
          <a:xfrm>
            <a:off x="5824728" y="3479291"/>
            <a:ext cx="103327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70" dirty="0"/>
          </a:p>
        </p:txBody>
      </p:sp>
      <p:sp>
        <p:nvSpPr>
          <p:cNvPr id="83" name="action_4_status_text"/>
          <p:cNvSpPr/>
          <p:nvPr/>
        </p:nvSpPr>
        <p:spPr>
          <a:xfrm>
            <a:off x="6949440" y="3378707"/>
            <a:ext cx="11704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70" dirty="0"/>
          </a:p>
        </p:txBody>
      </p:sp>
      <p:sp>
        <p:nvSpPr>
          <p:cNvPr id="84" name="action_4_progress_text"/>
          <p:cNvSpPr/>
          <p:nvPr/>
        </p:nvSpPr>
        <p:spPr>
          <a:xfrm>
            <a:off x="8211312" y="3479291"/>
            <a:ext cx="8321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70" dirty="0"/>
          </a:p>
        </p:txBody>
      </p:sp>
      <p:sp>
        <p:nvSpPr>
          <p:cNvPr id="85" name="action_4_comment_text"/>
          <p:cNvSpPr/>
          <p:nvPr/>
        </p:nvSpPr>
        <p:spPr>
          <a:xfrm>
            <a:off x="9217152" y="3332987"/>
            <a:ext cx="17373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build in progress;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planning underway.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56616" y="3744467"/>
            <a:ext cx="47548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32104" y="3744467"/>
            <a:ext cx="22951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127248" y="3744467"/>
            <a:ext cx="144475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572000" y="3744467"/>
            <a:ext cx="120700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779008" y="3744467"/>
            <a:ext cx="112471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903720" y="3744467"/>
            <a:ext cx="126187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165592" y="3744467"/>
            <a:ext cx="9235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089136" y="3744467"/>
            <a:ext cx="19659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action_5_number_text"/>
          <p:cNvSpPr/>
          <p:nvPr/>
        </p:nvSpPr>
        <p:spPr>
          <a:xfrm>
            <a:off x="402336" y="3991355"/>
            <a:ext cx="3840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5" name="action_5_action_text"/>
          <p:cNvSpPr/>
          <p:nvPr/>
        </p:nvSpPr>
        <p:spPr>
          <a:xfrm>
            <a:off x="978408" y="3899915"/>
            <a:ext cx="2039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data governance and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standards</a:t>
            </a:r>
            <a:endParaRPr lang="en-US" sz="880" dirty="0"/>
          </a:p>
        </p:txBody>
      </p:sp>
      <p:sp>
        <p:nvSpPr>
          <p:cNvPr id="96" name="action_5_owner_text"/>
          <p:cNvSpPr/>
          <p:nvPr/>
        </p:nvSpPr>
        <p:spPr>
          <a:xfrm>
            <a:off x="3200400" y="3954779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70" dirty="0"/>
          </a:p>
        </p:txBody>
      </p:sp>
      <p:sp>
        <p:nvSpPr>
          <p:cNvPr id="97" name="action_5_due_date_text"/>
          <p:cNvSpPr/>
          <p:nvPr/>
        </p:nvSpPr>
        <p:spPr>
          <a:xfrm>
            <a:off x="4617720" y="3982211"/>
            <a:ext cx="11155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Jun 2025</a:t>
            </a:r>
            <a:endParaRPr lang="en-US" sz="860" dirty="0"/>
          </a:p>
        </p:txBody>
      </p:sp>
      <p:sp>
        <p:nvSpPr>
          <p:cNvPr id="98" name="action_5_priority_text"/>
          <p:cNvSpPr/>
          <p:nvPr/>
        </p:nvSpPr>
        <p:spPr>
          <a:xfrm>
            <a:off x="5824728" y="3950659"/>
            <a:ext cx="1033272" cy="159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70" dirty="0"/>
          </a:p>
        </p:txBody>
      </p:sp>
      <p:sp>
        <p:nvSpPr>
          <p:cNvPr id="99" name="action_5_status_text"/>
          <p:cNvSpPr/>
          <p:nvPr/>
        </p:nvSpPr>
        <p:spPr>
          <a:xfrm>
            <a:off x="6949440" y="3881627"/>
            <a:ext cx="11704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70" dirty="0"/>
          </a:p>
        </p:txBody>
      </p:sp>
      <p:sp>
        <p:nvSpPr>
          <p:cNvPr id="100" name="action_5_progress_text"/>
          <p:cNvSpPr/>
          <p:nvPr/>
        </p:nvSpPr>
        <p:spPr>
          <a:xfrm>
            <a:off x="8211312" y="3982211"/>
            <a:ext cx="8321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70" dirty="0"/>
          </a:p>
        </p:txBody>
      </p:sp>
      <p:sp>
        <p:nvSpPr>
          <p:cNvPr id="101" name="action_5_comment_text"/>
          <p:cNvSpPr/>
          <p:nvPr/>
        </p:nvSpPr>
        <p:spPr>
          <a:xfrm>
            <a:off x="9217152" y="3781043"/>
            <a:ext cx="1737360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rules defined;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in progress.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56616" y="4247387"/>
            <a:ext cx="47548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32104" y="4247387"/>
            <a:ext cx="22951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127248" y="4247387"/>
            <a:ext cx="144475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4572000" y="4247387"/>
            <a:ext cx="120700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779008" y="4247387"/>
            <a:ext cx="112471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6903720" y="4247387"/>
            <a:ext cx="126187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165592" y="4247387"/>
            <a:ext cx="9235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089136" y="4247387"/>
            <a:ext cx="19659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action_6_number_text"/>
          <p:cNvSpPr/>
          <p:nvPr/>
        </p:nvSpPr>
        <p:spPr>
          <a:xfrm>
            <a:off x="402336" y="4494275"/>
            <a:ext cx="3840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11" name="action_6_action_text"/>
          <p:cNvSpPr/>
          <p:nvPr/>
        </p:nvSpPr>
        <p:spPr>
          <a:xfrm>
            <a:off x="978408" y="4402835"/>
            <a:ext cx="2039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partner and supplier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framework</a:t>
            </a:r>
            <a:endParaRPr lang="en-US" sz="880" dirty="0"/>
          </a:p>
        </p:txBody>
      </p:sp>
      <p:sp>
        <p:nvSpPr>
          <p:cNvPr id="112" name="action_6_owner_text"/>
          <p:cNvSpPr/>
          <p:nvPr/>
        </p:nvSpPr>
        <p:spPr>
          <a:xfrm>
            <a:off x="3200400" y="4457699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Lead</a:t>
            </a:r>
            <a:endParaRPr lang="en-US" sz="870" dirty="0"/>
          </a:p>
        </p:txBody>
      </p:sp>
      <p:sp>
        <p:nvSpPr>
          <p:cNvPr id="113" name="action_6_due_date_text"/>
          <p:cNvSpPr/>
          <p:nvPr/>
        </p:nvSpPr>
        <p:spPr>
          <a:xfrm>
            <a:off x="4617720" y="4485131"/>
            <a:ext cx="11155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Jul 2025</a:t>
            </a:r>
            <a:endParaRPr lang="en-US" sz="860" dirty="0"/>
          </a:p>
        </p:txBody>
      </p:sp>
      <p:sp>
        <p:nvSpPr>
          <p:cNvPr id="114" name="action_6_priority_text"/>
          <p:cNvSpPr/>
          <p:nvPr/>
        </p:nvSpPr>
        <p:spPr>
          <a:xfrm>
            <a:off x="5824728" y="4443028"/>
            <a:ext cx="1033272" cy="17011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70" dirty="0"/>
          </a:p>
        </p:txBody>
      </p:sp>
      <p:sp>
        <p:nvSpPr>
          <p:cNvPr id="115" name="action_6_status_text"/>
          <p:cNvSpPr/>
          <p:nvPr/>
        </p:nvSpPr>
        <p:spPr>
          <a:xfrm>
            <a:off x="6949440" y="4382738"/>
            <a:ext cx="1170432" cy="2304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70" dirty="0"/>
          </a:p>
        </p:txBody>
      </p:sp>
      <p:sp>
        <p:nvSpPr>
          <p:cNvPr id="116" name="action_6_progress_text"/>
          <p:cNvSpPr/>
          <p:nvPr/>
        </p:nvSpPr>
        <p:spPr>
          <a:xfrm>
            <a:off x="8211312" y="4485131"/>
            <a:ext cx="8321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70" dirty="0"/>
          </a:p>
        </p:txBody>
      </p:sp>
      <p:sp>
        <p:nvSpPr>
          <p:cNvPr id="117" name="action_6_comment_text"/>
          <p:cNvSpPr/>
          <p:nvPr/>
        </p:nvSpPr>
        <p:spPr>
          <a:xfrm>
            <a:off x="9217152" y="4332498"/>
            <a:ext cx="1737360" cy="3812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segmentation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complete.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356616" y="4750307"/>
            <a:ext cx="47548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32104" y="4750307"/>
            <a:ext cx="22951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127248" y="4750307"/>
            <a:ext cx="144475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572000" y="4750307"/>
            <a:ext cx="1207008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779008" y="4750307"/>
            <a:ext cx="112471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6903720" y="4750307"/>
            <a:ext cx="1261872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8165592" y="4750307"/>
            <a:ext cx="92354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9089136" y="4750307"/>
            <a:ext cx="19659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5715">
            <a:solidFill>
              <a:srgbClr val="C9D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action_7_number_text"/>
          <p:cNvSpPr/>
          <p:nvPr/>
        </p:nvSpPr>
        <p:spPr>
          <a:xfrm>
            <a:off x="402336" y="4997195"/>
            <a:ext cx="3840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27" name="action_7_action_text"/>
          <p:cNvSpPr/>
          <p:nvPr/>
        </p:nvSpPr>
        <p:spPr>
          <a:xfrm>
            <a:off x="978408" y="4905755"/>
            <a:ext cx="2039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change management and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plan</a:t>
            </a:r>
            <a:endParaRPr lang="en-US" sz="880" dirty="0"/>
          </a:p>
        </p:txBody>
      </p:sp>
      <p:sp>
        <p:nvSpPr>
          <p:cNvPr id="128" name="action_7_owner_text"/>
          <p:cNvSpPr/>
          <p:nvPr/>
        </p:nvSpPr>
        <p:spPr>
          <a:xfrm>
            <a:off x="3200400" y="4960619"/>
            <a:ext cx="12984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Lead</a:t>
            </a:r>
            <a:endParaRPr lang="en-US" sz="870" dirty="0"/>
          </a:p>
        </p:txBody>
      </p:sp>
      <p:sp>
        <p:nvSpPr>
          <p:cNvPr id="129" name="action_7_due_date_text"/>
          <p:cNvSpPr/>
          <p:nvPr/>
        </p:nvSpPr>
        <p:spPr>
          <a:xfrm>
            <a:off x="4617720" y="4988051"/>
            <a:ext cx="11155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Jul 2025</a:t>
            </a:r>
            <a:endParaRPr lang="en-US" sz="860" dirty="0"/>
          </a:p>
        </p:txBody>
      </p:sp>
      <p:sp>
        <p:nvSpPr>
          <p:cNvPr id="130" name="action_7_priority_text"/>
          <p:cNvSpPr/>
          <p:nvPr/>
        </p:nvSpPr>
        <p:spPr>
          <a:xfrm>
            <a:off x="5824728" y="4988051"/>
            <a:ext cx="103327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70" dirty="0"/>
          </a:p>
        </p:txBody>
      </p:sp>
      <p:sp>
        <p:nvSpPr>
          <p:cNvPr id="131" name="action_7_status_text"/>
          <p:cNvSpPr/>
          <p:nvPr/>
        </p:nvSpPr>
        <p:spPr>
          <a:xfrm>
            <a:off x="6949440" y="4895204"/>
            <a:ext cx="1170432" cy="22086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70" dirty="0"/>
          </a:p>
        </p:txBody>
      </p:sp>
      <p:sp>
        <p:nvSpPr>
          <p:cNvPr id="132" name="action_7_progress_text"/>
          <p:cNvSpPr/>
          <p:nvPr/>
        </p:nvSpPr>
        <p:spPr>
          <a:xfrm>
            <a:off x="8211312" y="4988051"/>
            <a:ext cx="8321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870" dirty="0"/>
          </a:p>
        </p:txBody>
      </p:sp>
      <p:sp>
        <p:nvSpPr>
          <p:cNvPr id="133" name="action_7_comment_text"/>
          <p:cNvSpPr/>
          <p:nvPr/>
        </p:nvSpPr>
        <p:spPr>
          <a:xfrm>
            <a:off x="9217152" y="4844962"/>
            <a:ext cx="1737360" cy="37168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impact assessment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underway.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329184" y="5504688"/>
            <a:ext cx="10735056" cy="0"/>
          </a:xfrm>
          <a:prstGeom prst="line">
            <a:avLst/>
          </a:prstGeom>
          <a:noFill/>
          <a:ln w="1651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47472" y="5614416"/>
            <a:ext cx="10698480" cy="493776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1408176" y="5724144"/>
            <a:ext cx="0" cy="274320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3364992" y="5724144"/>
            <a:ext cx="0" cy="274320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5321808" y="5724144"/>
            <a:ext cx="0" cy="274320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278624" y="5724144"/>
            <a:ext cx="0" cy="274320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9235440" y="5724144"/>
            <a:ext cx="0" cy="274320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ummary_label"/>
          <p:cNvSpPr/>
          <p:nvPr/>
        </p:nvSpPr>
        <p:spPr>
          <a:xfrm>
            <a:off x="393192" y="5815584"/>
            <a:ext cx="969264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80" dirty="0"/>
          </a:p>
        </p:txBody>
      </p:sp>
      <p:sp>
        <p:nvSpPr>
          <p:cNvPr id="143" name="summary_total_actions_label"/>
          <p:cNvSpPr/>
          <p:nvPr/>
        </p:nvSpPr>
        <p:spPr>
          <a:xfrm>
            <a:off x="1453896" y="5687568"/>
            <a:ext cx="186537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Actions</a:t>
            </a:r>
            <a:endParaRPr lang="en-US" sz="780" dirty="0"/>
          </a:p>
        </p:txBody>
      </p:sp>
      <p:sp>
        <p:nvSpPr>
          <p:cNvPr id="144" name="summary_total_actions_text"/>
          <p:cNvSpPr/>
          <p:nvPr/>
        </p:nvSpPr>
        <p:spPr>
          <a:xfrm>
            <a:off x="1453896" y="5907024"/>
            <a:ext cx="18653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45" name="summary_not_started_label"/>
          <p:cNvSpPr/>
          <p:nvPr/>
        </p:nvSpPr>
        <p:spPr>
          <a:xfrm>
            <a:off x="3410712" y="5687568"/>
            <a:ext cx="186537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780" dirty="0"/>
          </a:p>
        </p:txBody>
      </p:sp>
      <p:sp>
        <p:nvSpPr>
          <p:cNvPr id="146" name="summary_not_started_text"/>
          <p:cNvSpPr/>
          <p:nvPr/>
        </p:nvSpPr>
        <p:spPr>
          <a:xfrm>
            <a:off x="3410712" y="5907024"/>
            <a:ext cx="18653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(29%)</a:t>
            </a:r>
            <a:endParaRPr lang="en-US" sz="1300" dirty="0"/>
          </a:p>
        </p:txBody>
      </p:sp>
      <p:sp>
        <p:nvSpPr>
          <p:cNvPr id="147" name="summary_in_progress_label"/>
          <p:cNvSpPr/>
          <p:nvPr/>
        </p:nvSpPr>
        <p:spPr>
          <a:xfrm>
            <a:off x="5367528" y="5687568"/>
            <a:ext cx="186537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80" dirty="0"/>
          </a:p>
        </p:txBody>
      </p:sp>
      <p:sp>
        <p:nvSpPr>
          <p:cNvPr id="148" name="summary_in_progress_text"/>
          <p:cNvSpPr/>
          <p:nvPr/>
        </p:nvSpPr>
        <p:spPr>
          <a:xfrm>
            <a:off x="5367528" y="5907024"/>
            <a:ext cx="18653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(57%)</a:t>
            </a:r>
            <a:endParaRPr lang="en-US" sz="1300" dirty="0"/>
          </a:p>
        </p:txBody>
      </p:sp>
      <p:sp>
        <p:nvSpPr>
          <p:cNvPr id="149" name="summary_completed_label"/>
          <p:cNvSpPr/>
          <p:nvPr/>
        </p:nvSpPr>
        <p:spPr>
          <a:xfrm>
            <a:off x="7324344" y="5687568"/>
            <a:ext cx="186537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780" dirty="0"/>
          </a:p>
        </p:txBody>
      </p:sp>
      <p:sp>
        <p:nvSpPr>
          <p:cNvPr id="150" name="summary_completed_text"/>
          <p:cNvSpPr/>
          <p:nvPr/>
        </p:nvSpPr>
        <p:spPr>
          <a:xfrm>
            <a:off x="7324344" y="5907024"/>
            <a:ext cx="18653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(14%)</a:t>
            </a:r>
            <a:endParaRPr lang="en-US" sz="1300" dirty="0"/>
          </a:p>
        </p:txBody>
      </p:sp>
      <p:sp>
        <p:nvSpPr>
          <p:cNvPr id="151" name="summary_overdue_label"/>
          <p:cNvSpPr/>
          <p:nvPr/>
        </p:nvSpPr>
        <p:spPr>
          <a:xfrm>
            <a:off x="9281160" y="5687568"/>
            <a:ext cx="186537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6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780" dirty="0"/>
          </a:p>
        </p:txBody>
      </p:sp>
      <p:sp>
        <p:nvSpPr>
          <p:cNvPr id="152" name="summary_overdue_text"/>
          <p:cNvSpPr/>
          <p:nvPr/>
        </p:nvSpPr>
        <p:spPr>
          <a:xfrm>
            <a:off x="9281160" y="5907024"/>
            <a:ext cx="18653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(0%)</a:t>
            </a:r>
            <a:endParaRPr lang="en-US" sz="1300" dirty="0"/>
          </a:p>
        </p:txBody>
      </p:sp>
      <p:sp>
        <p:nvSpPr>
          <p:cNvPr id="153" name="source_text"/>
          <p:cNvSpPr/>
          <p:nvPr/>
        </p:nvSpPr>
        <p:spPr>
          <a:xfrm>
            <a:off x="356616" y="6473952"/>
            <a:ext cx="4572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154" name="footer_page_number"/>
          <p:cNvSpPr/>
          <p:nvPr/>
        </p:nvSpPr>
        <p:spPr>
          <a:xfrm>
            <a:off x="8842248" y="6473952"/>
            <a:ext cx="4572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4</TotalTime>
  <Words>250</Words>
  <Application>Microsoft Macintosh PowerPoint</Application>
  <PresentationFormat>Widescreen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Register – Key Actions and Accountabilities</dc:title>
  <dc:subject>Editable action register slide</dc:subject>
  <dc:creator>OpenAI</dc:creator>
  <cp:lastModifiedBy>Madhav Kapoor</cp:lastModifiedBy>
  <cp:revision>3</cp:revision>
  <dcterms:created xsi:type="dcterms:W3CDTF">2026-07-15T12:00:34Z</dcterms:created>
  <dcterms:modified xsi:type="dcterms:W3CDTF">2026-07-17T17:27:12Z</dcterms:modified>
</cp:coreProperties>
</file>