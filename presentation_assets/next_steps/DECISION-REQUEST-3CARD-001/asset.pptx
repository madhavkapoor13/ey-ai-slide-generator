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3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87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8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78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71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5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3461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90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46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1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50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ext"/>
          <p:cNvSpPr txBox="1"/>
          <p:nvPr/>
        </p:nvSpPr>
        <p:spPr>
          <a:xfrm>
            <a:off x="457314" y="265733"/>
            <a:ext cx="10079206" cy="38779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400" b="0" dirty="0">
                <a:solidFill>
                  <a:srgbClr val="000000"/>
                </a:solidFill>
                <a:latin typeface="Arial"/>
              </a:rPr>
              <a:t>Decisions Required Today</a:t>
            </a:r>
          </a:p>
        </p:txBody>
      </p:sp>
      <p:sp>
        <p:nvSpPr>
          <p:cNvPr id="3" name="subtitle_text"/>
          <p:cNvSpPr txBox="1"/>
          <p:nvPr/>
        </p:nvSpPr>
        <p:spPr>
          <a:xfrm>
            <a:off x="457314" y="613966"/>
            <a:ext cx="6925037" cy="18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100" b="0" i="1" dirty="0">
                <a:solidFill>
                  <a:srgbClr val="0047D8"/>
                </a:solidFill>
                <a:latin typeface="Arial"/>
              </a:rPr>
              <a:t>We seek the Board’s decisions on three critical items to keep the program on track and deliver expected value.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314" y="927850"/>
            <a:ext cx="3640221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314" y="927850"/>
            <a:ext cx="3640221" cy="941832"/>
          </a:xfrm>
          <a:prstGeom prst="rect">
            <a:avLst/>
          </a:prstGeom>
          <a:solidFill>
            <a:srgbClr val="002F9F"/>
          </a:solidFill>
          <a:ln>
            <a:solidFill>
              <a:srgbClr val="002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776" y="1046722"/>
            <a:ext cx="713410" cy="713232"/>
          </a:xfrm>
          <a:prstGeom prst="rect">
            <a:avLst/>
          </a:prstGeom>
          <a:solidFill>
            <a:srgbClr val="00227A"/>
          </a:solidFill>
          <a:ln>
            <a:solidFill>
              <a:srgbClr val="002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1289626" y="1046722"/>
            <a:ext cx="0" cy="713232"/>
          </a:xfrm>
          <a:prstGeom prst="line">
            <a:avLst/>
          </a:prstGeom>
          <a:ln w="12700">
            <a:solidFill>
              <a:srgbClr val="7EA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362" y="1202170"/>
            <a:ext cx="640240" cy="32004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decision_1_label_text"/>
          <p:cNvSpPr txBox="1"/>
          <p:nvPr/>
        </p:nvSpPr>
        <p:spPr>
          <a:xfrm>
            <a:off x="1426820" y="1074154"/>
            <a:ext cx="1554868" cy="219456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 01</a:t>
            </a:r>
          </a:p>
        </p:txBody>
      </p:sp>
      <p:sp>
        <p:nvSpPr>
          <p:cNvPr id="10" name="decision_1_title_text"/>
          <p:cNvSpPr txBox="1"/>
          <p:nvPr/>
        </p:nvSpPr>
        <p:spPr>
          <a:xfrm>
            <a:off x="1413101" y="1255863"/>
            <a:ext cx="2515228" cy="4572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700" b="1" dirty="0">
                <a:solidFill>
                  <a:srgbClr val="FFFFFF"/>
                </a:solidFill>
                <a:latin typeface="Arial"/>
              </a:rPr>
              <a:t>Approve the Target
Operating Model</a:t>
            </a:r>
          </a:p>
        </p:txBody>
      </p:sp>
      <p:sp>
        <p:nvSpPr>
          <p:cNvPr id="11" name="decision_1_why_now_text"/>
          <p:cNvSpPr txBox="1"/>
          <p:nvPr/>
        </p:nvSpPr>
        <p:spPr>
          <a:xfrm>
            <a:off x="603654" y="2089138"/>
            <a:ext cx="3347540" cy="219456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50" b="1">
                <a:solidFill>
                  <a:srgbClr val="0047D8"/>
                </a:solidFill>
                <a:latin typeface="Arial"/>
              </a:rPr>
              <a:t>Why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654" y="2363457"/>
            <a:ext cx="3347540" cy="47548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300" b="0" dirty="0">
                <a:solidFill>
                  <a:srgbClr val="000000"/>
                </a:solidFill>
                <a:latin typeface="Arial"/>
              </a:rPr>
              <a:t>Required to begin detailed design
and process reengineering.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654" y="2875521"/>
            <a:ext cx="3292662" cy="0"/>
          </a:xfrm>
          <a:prstGeom prst="line">
            <a:avLst/>
          </a:prstGeom>
          <a:ln w="10160">
            <a:solidFill>
              <a:srgbClr val="C9C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ecision_1_request_text"/>
          <p:cNvSpPr txBox="1"/>
          <p:nvPr/>
        </p:nvSpPr>
        <p:spPr>
          <a:xfrm>
            <a:off x="603654" y="3140697"/>
            <a:ext cx="3347540" cy="219456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50" b="1" dirty="0">
                <a:solidFill>
                  <a:srgbClr val="0047D8"/>
                </a:solidFill>
                <a:latin typeface="Arial"/>
              </a:rPr>
              <a:t>Decision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654" y="3415017"/>
            <a:ext cx="3347540" cy="47548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300" b="0" dirty="0">
                <a:solidFill>
                  <a:srgbClr val="000000"/>
                </a:solidFill>
                <a:latin typeface="Arial"/>
              </a:rPr>
              <a:t>Approve the proposed target operating
model and accountabilities.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654" y="3927081"/>
            <a:ext cx="3292662" cy="0"/>
          </a:xfrm>
          <a:prstGeom prst="line">
            <a:avLst/>
          </a:prstGeom>
          <a:ln w="10160">
            <a:solidFill>
              <a:srgbClr val="C9C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ecision_1_impact_text"/>
          <p:cNvSpPr txBox="1"/>
          <p:nvPr/>
        </p:nvSpPr>
        <p:spPr>
          <a:xfrm>
            <a:off x="603654" y="4192258"/>
            <a:ext cx="3347540" cy="219456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50" b="1">
                <a:solidFill>
                  <a:srgbClr val="0047D8"/>
                </a:solidFill>
                <a:latin typeface="Arial"/>
              </a:rPr>
              <a:t>Impact of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654" y="4466577"/>
            <a:ext cx="3347540" cy="47548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Enables detailed design, data and technology
requirements, and resource planning.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4730" y="927850"/>
            <a:ext cx="3640221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34730" y="927850"/>
            <a:ext cx="3640221" cy="941832"/>
          </a:xfrm>
          <a:prstGeom prst="rect">
            <a:avLst/>
          </a:prstGeom>
          <a:solidFill>
            <a:srgbClr val="002F9F"/>
          </a:solidFill>
          <a:ln>
            <a:solidFill>
              <a:srgbClr val="002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26193" y="1046722"/>
            <a:ext cx="713410" cy="713232"/>
          </a:xfrm>
          <a:prstGeom prst="rect">
            <a:avLst/>
          </a:prstGeom>
          <a:solidFill>
            <a:srgbClr val="00227A"/>
          </a:solidFill>
          <a:ln>
            <a:solidFill>
              <a:srgbClr val="002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5067042" y="1046722"/>
            <a:ext cx="0" cy="713232"/>
          </a:xfrm>
          <a:prstGeom prst="line">
            <a:avLst/>
          </a:prstGeom>
          <a:ln w="12700">
            <a:solidFill>
              <a:srgbClr val="7EA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362778" y="1202170"/>
            <a:ext cx="640240" cy="32004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4" name="decision_2_label_text"/>
          <p:cNvSpPr txBox="1"/>
          <p:nvPr/>
        </p:nvSpPr>
        <p:spPr>
          <a:xfrm>
            <a:off x="5204236" y="1074154"/>
            <a:ext cx="1554868" cy="219456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rial"/>
              </a:rPr>
              <a:t>DECISION 02</a:t>
            </a:r>
          </a:p>
        </p:txBody>
      </p:sp>
      <p:sp>
        <p:nvSpPr>
          <p:cNvPr id="25" name="decision_2_title_text"/>
          <p:cNvSpPr txBox="1"/>
          <p:nvPr/>
        </p:nvSpPr>
        <p:spPr>
          <a:xfrm>
            <a:off x="5204236" y="1321042"/>
            <a:ext cx="2515228" cy="4572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700" b="1" dirty="0">
                <a:solidFill>
                  <a:srgbClr val="FFFFFF"/>
                </a:solidFill>
                <a:latin typeface="Arial"/>
              </a:rPr>
              <a:t>Release Phase 1 Funding</a:t>
            </a:r>
          </a:p>
        </p:txBody>
      </p:sp>
      <p:sp>
        <p:nvSpPr>
          <p:cNvPr id="26" name="decision_2_why_now_text"/>
          <p:cNvSpPr txBox="1"/>
          <p:nvPr/>
        </p:nvSpPr>
        <p:spPr>
          <a:xfrm>
            <a:off x="4381070" y="2089138"/>
            <a:ext cx="3347540" cy="219456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50" b="1" dirty="0">
                <a:solidFill>
                  <a:srgbClr val="0047D8"/>
                </a:solidFill>
                <a:latin typeface="Arial"/>
              </a:rPr>
              <a:t>Why 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1070" y="2363457"/>
            <a:ext cx="3347540" cy="47548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300" b="0" dirty="0">
                <a:solidFill>
                  <a:srgbClr val="000000"/>
                </a:solidFill>
                <a:latin typeface="Arial"/>
              </a:rPr>
              <a:t>Mobilization must begin next month
to meet the delivery timeline.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81070" y="2875521"/>
            <a:ext cx="3292662" cy="0"/>
          </a:xfrm>
          <a:prstGeom prst="line">
            <a:avLst/>
          </a:prstGeom>
          <a:ln w="10160">
            <a:solidFill>
              <a:srgbClr val="C9C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ecision_2_request_text"/>
          <p:cNvSpPr txBox="1"/>
          <p:nvPr/>
        </p:nvSpPr>
        <p:spPr>
          <a:xfrm>
            <a:off x="4381070" y="3140697"/>
            <a:ext cx="3347540" cy="219456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50" b="1">
                <a:solidFill>
                  <a:srgbClr val="0047D8"/>
                </a:solidFill>
                <a:latin typeface="Arial"/>
              </a:rPr>
              <a:t>Decision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070" y="3415017"/>
            <a:ext cx="3347540" cy="47548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Approve $Xm funding envelope
for Phase 1 (Mobilize &amp; Design).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381070" y="3927081"/>
            <a:ext cx="3292662" cy="0"/>
          </a:xfrm>
          <a:prstGeom prst="line">
            <a:avLst/>
          </a:prstGeom>
          <a:ln w="10160">
            <a:solidFill>
              <a:srgbClr val="C9C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ecision_2_impact_text"/>
          <p:cNvSpPr txBox="1"/>
          <p:nvPr/>
        </p:nvSpPr>
        <p:spPr>
          <a:xfrm>
            <a:off x="4381070" y="4192258"/>
            <a:ext cx="3347540" cy="219456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50" b="1">
                <a:solidFill>
                  <a:srgbClr val="0047D8"/>
                </a:solidFill>
                <a:latin typeface="Arial"/>
              </a:rPr>
              <a:t>Impact of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1070" y="4466577"/>
            <a:ext cx="3347540" cy="47548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Allows team mobilisation, vendor
engagement and detailed planning.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2145" y="927850"/>
            <a:ext cx="3640221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12145" y="927850"/>
            <a:ext cx="3640221" cy="941832"/>
          </a:xfrm>
          <a:prstGeom prst="rect">
            <a:avLst/>
          </a:prstGeom>
          <a:solidFill>
            <a:srgbClr val="002F9F"/>
          </a:solidFill>
          <a:ln>
            <a:solidFill>
              <a:srgbClr val="002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03608" y="1046722"/>
            <a:ext cx="713410" cy="713232"/>
          </a:xfrm>
          <a:prstGeom prst="rect">
            <a:avLst/>
          </a:prstGeom>
          <a:solidFill>
            <a:srgbClr val="00227A"/>
          </a:solidFill>
          <a:ln>
            <a:solidFill>
              <a:srgbClr val="002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8844458" y="1046722"/>
            <a:ext cx="0" cy="713232"/>
          </a:xfrm>
          <a:prstGeom prst="line">
            <a:avLst/>
          </a:prstGeom>
          <a:ln w="12700">
            <a:solidFill>
              <a:srgbClr val="7EA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140194" y="1202170"/>
            <a:ext cx="640240" cy="320040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9" name="decision_3_label_text"/>
          <p:cNvSpPr txBox="1"/>
          <p:nvPr/>
        </p:nvSpPr>
        <p:spPr>
          <a:xfrm>
            <a:off x="8981652" y="1074154"/>
            <a:ext cx="1554868" cy="219456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 03</a:t>
            </a:r>
          </a:p>
        </p:txBody>
      </p:sp>
      <p:sp>
        <p:nvSpPr>
          <p:cNvPr id="40" name="decision_3_title_text"/>
          <p:cNvSpPr txBox="1"/>
          <p:nvPr/>
        </p:nvSpPr>
        <p:spPr>
          <a:xfrm>
            <a:off x="8981652" y="1255863"/>
            <a:ext cx="2515228" cy="4572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700" b="1" dirty="0">
                <a:solidFill>
                  <a:srgbClr val="FFFFFF"/>
                </a:solidFill>
                <a:latin typeface="Arial"/>
              </a:rPr>
              <a:t>Confirm Executive
Sponsorship</a:t>
            </a:r>
          </a:p>
        </p:txBody>
      </p:sp>
      <p:sp>
        <p:nvSpPr>
          <p:cNvPr id="41" name="decision_3_why_now_text"/>
          <p:cNvSpPr txBox="1"/>
          <p:nvPr/>
        </p:nvSpPr>
        <p:spPr>
          <a:xfrm>
            <a:off x="8158485" y="2089138"/>
            <a:ext cx="3347540" cy="219456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50" b="1">
                <a:solidFill>
                  <a:srgbClr val="0047D8"/>
                </a:solidFill>
                <a:latin typeface="Arial"/>
              </a:rPr>
              <a:t>Why now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8485" y="2363457"/>
            <a:ext cx="3347540" cy="47548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300" b="0" dirty="0">
                <a:solidFill>
                  <a:srgbClr val="000000"/>
                </a:solidFill>
                <a:latin typeface="Arial"/>
              </a:rPr>
              <a:t>Cross-functional alignment and timely
decisions are critical to success.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158485" y="2875521"/>
            <a:ext cx="3292663" cy="0"/>
          </a:xfrm>
          <a:prstGeom prst="line">
            <a:avLst/>
          </a:prstGeom>
          <a:ln w="10160">
            <a:solidFill>
              <a:srgbClr val="C9C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ecision_3_request_text"/>
          <p:cNvSpPr txBox="1"/>
          <p:nvPr/>
        </p:nvSpPr>
        <p:spPr>
          <a:xfrm>
            <a:off x="8158485" y="3140697"/>
            <a:ext cx="3347540" cy="219456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50" b="1">
                <a:solidFill>
                  <a:srgbClr val="0047D8"/>
                </a:solidFill>
                <a:latin typeface="Arial"/>
              </a:rPr>
              <a:t>Decision needed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8485" y="3415017"/>
            <a:ext cx="3347540" cy="47548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Confirm executive sponsor and
accountable executives for each workstream.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158485" y="3927081"/>
            <a:ext cx="3292663" cy="0"/>
          </a:xfrm>
          <a:prstGeom prst="line">
            <a:avLst/>
          </a:prstGeom>
          <a:ln w="10160">
            <a:solidFill>
              <a:srgbClr val="C9C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ecision_3_impact_text"/>
          <p:cNvSpPr txBox="1"/>
          <p:nvPr/>
        </p:nvSpPr>
        <p:spPr>
          <a:xfrm>
            <a:off x="8158485" y="4192258"/>
            <a:ext cx="3347540" cy="219456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250" b="1">
                <a:solidFill>
                  <a:srgbClr val="0047D8"/>
                </a:solidFill>
                <a:latin typeface="Arial"/>
              </a:rPr>
              <a:t>Impact of decision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58485" y="4466577"/>
            <a:ext cx="3347540" cy="47548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Ensures ownership, issue resolution
and stakeholder commitment.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314" y="5180766"/>
            <a:ext cx="11112737" cy="1086222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delay_label_text"/>
          <p:cNvSpPr txBox="1"/>
          <p:nvPr/>
        </p:nvSpPr>
        <p:spPr>
          <a:xfrm>
            <a:off x="603654" y="5411839"/>
            <a:ext cx="1417673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50" b="1" dirty="0">
                <a:solidFill>
                  <a:srgbClr val="002F9F"/>
                </a:solidFill>
                <a:latin typeface="Arial"/>
              </a:rPr>
              <a:t>CONSEQUENCE
OF DELAY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195107" y="5363646"/>
            <a:ext cx="0" cy="530352"/>
          </a:xfrm>
          <a:prstGeom prst="line">
            <a:avLst/>
          </a:prstGeom>
          <a:ln w="12700">
            <a:solidFill>
              <a:srgbClr val="658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elay_1_title_text"/>
          <p:cNvSpPr txBox="1"/>
          <p:nvPr/>
        </p:nvSpPr>
        <p:spPr>
          <a:xfrm>
            <a:off x="2423763" y="5326112"/>
            <a:ext cx="2423765" cy="20116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350" b="1" dirty="0">
                <a:solidFill>
                  <a:srgbClr val="000000"/>
                </a:solidFill>
                <a:latin typeface="Arial"/>
              </a:rPr>
              <a:t>4–6 week mobilization impact</a:t>
            </a:r>
          </a:p>
        </p:txBody>
      </p:sp>
      <p:sp>
        <p:nvSpPr>
          <p:cNvPr id="53" name="delay_1_impact_text"/>
          <p:cNvSpPr txBox="1"/>
          <p:nvPr/>
        </p:nvSpPr>
        <p:spPr>
          <a:xfrm>
            <a:off x="2425364" y="5591058"/>
            <a:ext cx="2469494" cy="5955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dirty="0">
                <a:solidFill>
                  <a:srgbClr val="000000"/>
                </a:solidFill>
                <a:latin typeface="Arial"/>
              </a:rPr>
              <a:t>Delayed start will push the program</a:t>
            </a:r>
            <a:r>
              <a:rPr lang="en-US" sz="125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250" b="0" dirty="0">
                <a:solidFill>
                  <a:srgbClr val="000000"/>
                </a:solidFill>
                <a:latin typeface="Arial"/>
              </a:rPr>
              <a:t>timeline and key milestones.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185944" y="5363646"/>
            <a:ext cx="0" cy="530352"/>
          </a:xfrm>
          <a:prstGeom prst="line">
            <a:avLst/>
          </a:prstGeom>
          <a:ln w="12700">
            <a:solidFill>
              <a:srgbClr val="658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delay_2_title_text"/>
          <p:cNvSpPr txBox="1"/>
          <p:nvPr/>
        </p:nvSpPr>
        <p:spPr>
          <a:xfrm>
            <a:off x="5432890" y="5326112"/>
            <a:ext cx="2469497" cy="20116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350" b="1" dirty="0">
                <a:solidFill>
                  <a:srgbClr val="000000"/>
                </a:solidFill>
                <a:latin typeface="Arial"/>
              </a:rPr>
              <a:t>Benefit realization deferred</a:t>
            </a:r>
          </a:p>
        </p:txBody>
      </p:sp>
      <p:sp>
        <p:nvSpPr>
          <p:cNvPr id="56" name="delay_2_impact_text"/>
          <p:cNvSpPr txBox="1"/>
          <p:nvPr/>
        </p:nvSpPr>
        <p:spPr>
          <a:xfrm>
            <a:off x="5416216" y="5591058"/>
            <a:ext cx="2542645" cy="40318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dirty="0">
                <a:solidFill>
                  <a:srgbClr val="000000"/>
                </a:solidFill>
                <a:latin typeface="Arial"/>
              </a:rPr>
              <a:t>Value capture will be delayed, impacting</a:t>
            </a:r>
            <a:r>
              <a:rPr lang="en-US" sz="1250" b="0" dirty="0">
                <a:solidFill>
                  <a:srgbClr val="000000"/>
                </a:solidFill>
                <a:latin typeface="Arial"/>
              </a:rPr>
              <a:t> </a:t>
            </a:r>
            <a:r>
              <a:rPr sz="1250" b="0" dirty="0">
                <a:solidFill>
                  <a:srgbClr val="000000"/>
                </a:solidFill>
                <a:latin typeface="Arial"/>
              </a:rPr>
              <a:t>FY target achievement.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249948" y="5363646"/>
            <a:ext cx="0" cy="530352"/>
          </a:xfrm>
          <a:prstGeom prst="line">
            <a:avLst/>
          </a:prstGeom>
          <a:ln w="12700">
            <a:solidFill>
              <a:srgbClr val="658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elay_3_title_text"/>
          <p:cNvSpPr txBox="1"/>
          <p:nvPr/>
        </p:nvSpPr>
        <p:spPr>
          <a:xfrm>
            <a:off x="8510623" y="5326112"/>
            <a:ext cx="2515228" cy="20116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/>
            <a:r>
              <a:rPr sz="1350" b="1" dirty="0">
                <a:solidFill>
                  <a:srgbClr val="000000"/>
                </a:solidFill>
                <a:latin typeface="Arial"/>
              </a:rPr>
              <a:t>Resource availability at risk</a:t>
            </a:r>
          </a:p>
        </p:txBody>
      </p:sp>
      <p:sp>
        <p:nvSpPr>
          <p:cNvPr id="59" name="delay_3_impact_text"/>
          <p:cNvSpPr txBox="1"/>
          <p:nvPr/>
        </p:nvSpPr>
        <p:spPr>
          <a:xfrm>
            <a:off x="8451173" y="5591057"/>
            <a:ext cx="2999975" cy="40318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dirty="0">
                <a:solidFill>
                  <a:srgbClr val="000000"/>
                </a:solidFill>
                <a:latin typeface="Arial"/>
              </a:rPr>
              <a:t>Critical resources may be reallocated to
other priorities.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6</TotalTime>
  <Words>217</Words>
  <Application>Microsoft Macintosh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 Kapoor</cp:lastModifiedBy>
  <cp:revision>4</cp:revision>
  <dcterms:created xsi:type="dcterms:W3CDTF">2013-01-27T09:14:16Z</dcterms:created>
  <dcterms:modified xsi:type="dcterms:W3CDTF">2026-07-20T14:55:15Z</dcterms:modified>
  <cp:category/>
</cp:coreProperties>
</file>