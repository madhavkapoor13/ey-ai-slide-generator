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642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362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65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168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032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405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72F54E-4194-5DC9-591C-0D5B29EDF843}"/>
              </a:ext>
            </a:extLst>
          </p:cNvPr>
          <p:cNvSpPr/>
          <p:nvPr/>
        </p:nvSpPr>
        <p:spPr bwMode="auto">
          <a:xfrm>
            <a:off x="481584" y="796996"/>
            <a:ext cx="11228832" cy="36000"/>
          </a:xfrm>
          <a:prstGeom prst="rect">
            <a:avLst/>
          </a:prstGeom>
          <a:gradFill>
            <a:gsLst>
              <a:gs pos="0">
                <a:srgbClr val="1A9AFA"/>
              </a:gs>
              <a:gs pos="100000">
                <a:srgbClr val="072E65"/>
              </a:gs>
            </a:gsLst>
            <a:lin ang="0" scaled="0"/>
          </a:gradFill>
        </p:spPr>
        <p:txBody>
          <a:bodyPr vert="horz" lIns="0" tIns="0" rIns="0" bIns="0" rtlCol="0" anchor="t" anchorCtr="0">
            <a:no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1A9AFA"/>
              </a:buClr>
              <a:buSzPct val="100000"/>
              <a:buFont typeface="Wingdings" pitchFamily="2" charset="2"/>
              <a:buNone/>
              <a:tabLst/>
            </a:pPr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191924"/>
              </a:solidFill>
              <a:effectLst/>
              <a:uLnTx/>
              <a:uFillTx/>
              <a:latin typeface="EYInterstate Ligh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2222D9-DFA4-44EC-7B21-7B0D8325944A}"/>
              </a:ext>
            </a:extLst>
          </p:cNvPr>
          <p:cNvGrpSpPr>
            <a:grpSpLocks noChangeAspect="1"/>
          </p:cNvGrpSpPr>
          <p:nvPr/>
        </p:nvGrpSpPr>
        <p:grpSpPr>
          <a:xfrm>
            <a:off x="11023155" y="6339264"/>
            <a:ext cx="954455" cy="331649"/>
            <a:chOff x="9258171" y="4332267"/>
            <a:chExt cx="2341035" cy="755058"/>
          </a:xfrm>
        </p:grpSpPr>
        <p:sp>
          <p:nvSpPr>
            <p:cNvPr id="7" name="Freeform 107">
              <a:extLst>
                <a:ext uri="{FF2B5EF4-FFF2-40B4-BE49-F238E27FC236}">
                  <a16:creationId xmlns:a16="http://schemas.microsoft.com/office/drawing/2014/main" id="{F6892F0E-E1F0-977C-E068-4C2DA97438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91892" y="4824181"/>
              <a:ext cx="190838" cy="259589"/>
            </a:xfrm>
            <a:custGeom>
              <a:avLst/>
              <a:gdLst>
                <a:gd name="T0" fmla="*/ 118 w 148"/>
                <a:gd name="T1" fmla="*/ 63 h 201"/>
                <a:gd name="T2" fmla="*/ 115 w 148"/>
                <a:gd name="T3" fmla="*/ 48 h 201"/>
                <a:gd name="T4" fmla="*/ 108 w 148"/>
                <a:gd name="T5" fmla="*/ 37 h 201"/>
                <a:gd name="T6" fmla="*/ 98 w 148"/>
                <a:gd name="T7" fmla="*/ 31 h 201"/>
                <a:gd name="T8" fmla="*/ 83 w 148"/>
                <a:gd name="T9" fmla="*/ 28 h 201"/>
                <a:gd name="T10" fmla="*/ 30 w 148"/>
                <a:gd name="T11" fmla="*/ 28 h 201"/>
                <a:gd name="T12" fmla="*/ 30 w 148"/>
                <a:gd name="T13" fmla="*/ 98 h 201"/>
                <a:gd name="T14" fmla="*/ 83 w 148"/>
                <a:gd name="T15" fmla="*/ 98 h 201"/>
                <a:gd name="T16" fmla="*/ 109 w 148"/>
                <a:gd name="T17" fmla="*/ 88 h 201"/>
                <a:gd name="T18" fmla="*/ 118 w 148"/>
                <a:gd name="T19" fmla="*/ 63 h 201"/>
                <a:gd name="T20" fmla="*/ 148 w 148"/>
                <a:gd name="T21" fmla="*/ 63 h 201"/>
                <a:gd name="T22" fmla="*/ 144 w 148"/>
                <a:gd name="T23" fmla="*/ 90 h 201"/>
                <a:gd name="T24" fmla="*/ 130 w 148"/>
                <a:gd name="T25" fmla="*/ 110 h 201"/>
                <a:gd name="T26" fmla="*/ 109 w 148"/>
                <a:gd name="T27" fmla="*/ 122 h 201"/>
                <a:gd name="T28" fmla="*/ 82 w 148"/>
                <a:gd name="T29" fmla="*/ 126 h 201"/>
                <a:gd name="T30" fmla="*/ 30 w 148"/>
                <a:gd name="T31" fmla="*/ 126 h 201"/>
                <a:gd name="T32" fmla="*/ 30 w 148"/>
                <a:gd name="T33" fmla="*/ 201 h 201"/>
                <a:gd name="T34" fmla="*/ 0 w 148"/>
                <a:gd name="T35" fmla="*/ 201 h 201"/>
                <a:gd name="T36" fmla="*/ 0 w 148"/>
                <a:gd name="T37" fmla="*/ 0 h 201"/>
                <a:gd name="T38" fmla="*/ 84 w 148"/>
                <a:gd name="T39" fmla="*/ 0 h 201"/>
                <a:gd name="T40" fmla="*/ 110 w 148"/>
                <a:gd name="T41" fmla="*/ 4 h 201"/>
                <a:gd name="T42" fmla="*/ 130 w 148"/>
                <a:gd name="T43" fmla="*/ 16 h 201"/>
                <a:gd name="T44" fmla="*/ 144 w 148"/>
                <a:gd name="T45" fmla="*/ 35 h 201"/>
                <a:gd name="T46" fmla="*/ 148 w 148"/>
                <a:gd name="T47" fmla="*/ 6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8" h="201">
                  <a:moveTo>
                    <a:pt x="118" y="63"/>
                  </a:moveTo>
                  <a:cubicBezTo>
                    <a:pt x="118" y="57"/>
                    <a:pt x="117" y="52"/>
                    <a:pt x="115" y="48"/>
                  </a:cubicBezTo>
                  <a:cubicBezTo>
                    <a:pt x="114" y="44"/>
                    <a:pt x="111" y="40"/>
                    <a:pt x="108" y="37"/>
                  </a:cubicBezTo>
                  <a:cubicBezTo>
                    <a:pt x="105" y="34"/>
                    <a:pt x="102" y="32"/>
                    <a:pt x="98" y="31"/>
                  </a:cubicBezTo>
                  <a:cubicBezTo>
                    <a:pt x="93" y="29"/>
                    <a:pt x="89" y="28"/>
                    <a:pt x="83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95" y="98"/>
                    <a:pt x="104" y="94"/>
                    <a:pt x="109" y="88"/>
                  </a:cubicBezTo>
                  <a:cubicBezTo>
                    <a:pt x="115" y="82"/>
                    <a:pt x="118" y="74"/>
                    <a:pt x="118" y="63"/>
                  </a:cubicBezTo>
                  <a:moveTo>
                    <a:pt x="148" y="63"/>
                  </a:moveTo>
                  <a:cubicBezTo>
                    <a:pt x="148" y="73"/>
                    <a:pt x="147" y="82"/>
                    <a:pt x="144" y="90"/>
                  </a:cubicBezTo>
                  <a:cubicBezTo>
                    <a:pt x="140" y="98"/>
                    <a:pt x="136" y="104"/>
                    <a:pt x="130" y="110"/>
                  </a:cubicBezTo>
                  <a:cubicBezTo>
                    <a:pt x="124" y="115"/>
                    <a:pt x="117" y="119"/>
                    <a:pt x="109" y="122"/>
                  </a:cubicBezTo>
                  <a:cubicBezTo>
                    <a:pt x="101" y="124"/>
                    <a:pt x="92" y="126"/>
                    <a:pt x="82" y="126"/>
                  </a:cubicBezTo>
                  <a:cubicBezTo>
                    <a:pt x="30" y="126"/>
                    <a:pt x="30" y="126"/>
                    <a:pt x="30" y="126"/>
                  </a:cubicBezTo>
                  <a:cubicBezTo>
                    <a:pt x="30" y="201"/>
                    <a:pt x="30" y="201"/>
                    <a:pt x="30" y="201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93" y="0"/>
                    <a:pt x="102" y="1"/>
                    <a:pt x="110" y="4"/>
                  </a:cubicBezTo>
                  <a:cubicBezTo>
                    <a:pt x="117" y="7"/>
                    <a:pt x="124" y="11"/>
                    <a:pt x="130" y="16"/>
                  </a:cubicBezTo>
                  <a:cubicBezTo>
                    <a:pt x="136" y="21"/>
                    <a:pt x="140" y="28"/>
                    <a:pt x="144" y="35"/>
                  </a:cubicBezTo>
                  <a:cubicBezTo>
                    <a:pt x="147" y="43"/>
                    <a:pt x="148" y="52"/>
                    <a:pt x="148" y="63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8" name="Freeform 108">
              <a:extLst>
                <a:ext uri="{FF2B5EF4-FFF2-40B4-BE49-F238E27FC236}">
                  <a16:creationId xmlns:a16="http://schemas.microsoft.com/office/drawing/2014/main" id="{23B08D2D-137C-E384-CA07-2770C6EF91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95771" y="4884632"/>
              <a:ext cx="157649" cy="202693"/>
            </a:xfrm>
            <a:custGeom>
              <a:avLst/>
              <a:gdLst>
                <a:gd name="T0" fmla="*/ 93 w 122"/>
                <a:gd name="T1" fmla="*/ 89 h 157"/>
                <a:gd name="T2" fmla="*/ 86 w 122"/>
                <a:gd name="T3" fmla="*/ 86 h 157"/>
                <a:gd name="T4" fmla="*/ 79 w 122"/>
                <a:gd name="T5" fmla="*/ 85 h 157"/>
                <a:gd name="T6" fmla="*/ 70 w 122"/>
                <a:gd name="T7" fmla="*/ 83 h 157"/>
                <a:gd name="T8" fmla="*/ 59 w 122"/>
                <a:gd name="T9" fmla="*/ 83 h 157"/>
                <a:gd name="T10" fmla="*/ 36 w 122"/>
                <a:gd name="T11" fmla="*/ 89 h 157"/>
                <a:gd name="T12" fmla="*/ 28 w 122"/>
                <a:gd name="T13" fmla="*/ 105 h 157"/>
                <a:gd name="T14" fmla="*/ 31 w 122"/>
                <a:gd name="T15" fmla="*/ 117 h 157"/>
                <a:gd name="T16" fmla="*/ 37 w 122"/>
                <a:gd name="T17" fmla="*/ 124 h 157"/>
                <a:gd name="T18" fmla="*/ 45 w 122"/>
                <a:gd name="T19" fmla="*/ 129 h 157"/>
                <a:gd name="T20" fmla="*/ 57 w 122"/>
                <a:gd name="T21" fmla="*/ 130 h 157"/>
                <a:gd name="T22" fmla="*/ 68 w 122"/>
                <a:gd name="T23" fmla="*/ 128 h 157"/>
                <a:gd name="T24" fmla="*/ 79 w 122"/>
                <a:gd name="T25" fmla="*/ 124 h 157"/>
                <a:gd name="T26" fmla="*/ 87 w 122"/>
                <a:gd name="T27" fmla="*/ 118 h 157"/>
                <a:gd name="T28" fmla="*/ 93 w 122"/>
                <a:gd name="T29" fmla="*/ 111 h 157"/>
                <a:gd name="T30" fmla="*/ 93 w 122"/>
                <a:gd name="T31" fmla="*/ 89 h 157"/>
                <a:gd name="T32" fmla="*/ 93 w 122"/>
                <a:gd name="T33" fmla="*/ 154 h 157"/>
                <a:gd name="T34" fmla="*/ 93 w 122"/>
                <a:gd name="T35" fmla="*/ 139 h 157"/>
                <a:gd name="T36" fmla="*/ 84 w 122"/>
                <a:gd name="T37" fmla="*/ 147 h 157"/>
                <a:gd name="T38" fmla="*/ 76 w 122"/>
                <a:gd name="T39" fmla="*/ 151 h 157"/>
                <a:gd name="T40" fmla="*/ 66 w 122"/>
                <a:gd name="T41" fmla="*/ 155 h 157"/>
                <a:gd name="T42" fmla="*/ 52 w 122"/>
                <a:gd name="T43" fmla="*/ 157 h 157"/>
                <a:gd name="T44" fmla="*/ 34 w 122"/>
                <a:gd name="T45" fmla="*/ 154 h 157"/>
                <a:gd name="T46" fmla="*/ 17 w 122"/>
                <a:gd name="T47" fmla="*/ 145 h 157"/>
                <a:gd name="T48" fmla="*/ 5 w 122"/>
                <a:gd name="T49" fmla="*/ 130 h 157"/>
                <a:gd name="T50" fmla="*/ 0 w 122"/>
                <a:gd name="T51" fmla="*/ 106 h 157"/>
                <a:gd name="T52" fmla="*/ 5 w 122"/>
                <a:gd name="T53" fmla="*/ 84 h 157"/>
                <a:gd name="T54" fmla="*/ 17 w 122"/>
                <a:gd name="T55" fmla="*/ 69 h 157"/>
                <a:gd name="T56" fmla="*/ 36 w 122"/>
                <a:gd name="T57" fmla="*/ 60 h 157"/>
                <a:gd name="T58" fmla="*/ 60 w 122"/>
                <a:gd name="T59" fmla="*/ 57 h 157"/>
                <a:gd name="T60" fmla="*/ 80 w 122"/>
                <a:gd name="T61" fmla="*/ 59 h 157"/>
                <a:gd name="T62" fmla="*/ 93 w 122"/>
                <a:gd name="T63" fmla="*/ 63 h 157"/>
                <a:gd name="T64" fmla="*/ 93 w 122"/>
                <a:gd name="T65" fmla="*/ 52 h 157"/>
                <a:gd name="T66" fmla="*/ 86 w 122"/>
                <a:gd name="T67" fmla="*/ 33 h 157"/>
                <a:gd name="T68" fmla="*/ 65 w 122"/>
                <a:gd name="T69" fmla="*/ 26 h 157"/>
                <a:gd name="T70" fmla="*/ 44 w 122"/>
                <a:gd name="T71" fmla="*/ 29 h 157"/>
                <a:gd name="T72" fmla="*/ 26 w 122"/>
                <a:gd name="T73" fmla="*/ 36 h 157"/>
                <a:gd name="T74" fmla="*/ 14 w 122"/>
                <a:gd name="T75" fmla="*/ 14 h 157"/>
                <a:gd name="T76" fmla="*/ 38 w 122"/>
                <a:gd name="T77" fmla="*/ 3 h 157"/>
                <a:gd name="T78" fmla="*/ 66 w 122"/>
                <a:gd name="T79" fmla="*/ 0 h 157"/>
                <a:gd name="T80" fmla="*/ 89 w 122"/>
                <a:gd name="T81" fmla="*/ 3 h 157"/>
                <a:gd name="T82" fmla="*/ 107 w 122"/>
                <a:gd name="T83" fmla="*/ 12 h 157"/>
                <a:gd name="T84" fmla="*/ 118 w 122"/>
                <a:gd name="T85" fmla="*/ 28 h 157"/>
                <a:gd name="T86" fmla="*/ 122 w 122"/>
                <a:gd name="T87" fmla="*/ 51 h 157"/>
                <a:gd name="T88" fmla="*/ 122 w 122"/>
                <a:gd name="T89" fmla="*/ 154 h 157"/>
                <a:gd name="T90" fmla="*/ 93 w 122"/>
                <a:gd name="T91" fmla="*/ 154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2" h="157">
                  <a:moveTo>
                    <a:pt x="93" y="89"/>
                  </a:moveTo>
                  <a:cubicBezTo>
                    <a:pt x="91" y="88"/>
                    <a:pt x="88" y="87"/>
                    <a:pt x="86" y="86"/>
                  </a:cubicBezTo>
                  <a:cubicBezTo>
                    <a:pt x="84" y="86"/>
                    <a:pt x="81" y="85"/>
                    <a:pt x="79" y="85"/>
                  </a:cubicBezTo>
                  <a:cubicBezTo>
                    <a:pt x="77" y="84"/>
                    <a:pt x="74" y="84"/>
                    <a:pt x="70" y="83"/>
                  </a:cubicBezTo>
                  <a:cubicBezTo>
                    <a:pt x="67" y="83"/>
                    <a:pt x="63" y="83"/>
                    <a:pt x="59" y="83"/>
                  </a:cubicBezTo>
                  <a:cubicBezTo>
                    <a:pt x="50" y="83"/>
                    <a:pt x="42" y="85"/>
                    <a:pt x="36" y="89"/>
                  </a:cubicBezTo>
                  <a:cubicBezTo>
                    <a:pt x="31" y="93"/>
                    <a:pt x="28" y="98"/>
                    <a:pt x="28" y="105"/>
                  </a:cubicBezTo>
                  <a:cubicBezTo>
                    <a:pt x="28" y="110"/>
                    <a:pt x="29" y="113"/>
                    <a:pt x="31" y="117"/>
                  </a:cubicBezTo>
                  <a:cubicBezTo>
                    <a:pt x="32" y="120"/>
                    <a:pt x="34" y="122"/>
                    <a:pt x="37" y="124"/>
                  </a:cubicBezTo>
                  <a:cubicBezTo>
                    <a:pt x="39" y="126"/>
                    <a:pt x="42" y="128"/>
                    <a:pt x="45" y="129"/>
                  </a:cubicBezTo>
                  <a:cubicBezTo>
                    <a:pt x="48" y="130"/>
                    <a:pt x="52" y="130"/>
                    <a:pt x="57" y="130"/>
                  </a:cubicBezTo>
                  <a:cubicBezTo>
                    <a:pt x="61" y="130"/>
                    <a:pt x="65" y="130"/>
                    <a:pt x="68" y="128"/>
                  </a:cubicBezTo>
                  <a:cubicBezTo>
                    <a:pt x="72" y="127"/>
                    <a:pt x="75" y="126"/>
                    <a:pt x="79" y="124"/>
                  </a:cubicBezTo>
                  <a:cubicBezTo>
                    <a:pt x="82" y="122"/>
                    <a:pt x="85" y="120"/>
                    <a:pt x="87" y="118"/>
                  </a:cubicBezTo>
                  <a:cubicBezTo>
                    <a:pt x="90" y="116"/>
                    <a:pt x="92" y="113"/>
                    <a:pt x="93" y="111"/>
                  </a:cubicBezTo>
                  <a:lnTo>
                    <a:pt x="93" y="89"/>
                  </a:lnTo>
                  <a:close/>
                  <a:moveTo>
                    <a:pt x="93" y="154"/>
                  </a:moveTo>
                  <a:cubicBezTo>
                    <a:pt x="93" y="139"/>
                    <a:pt x="93" y="139"/>
                    <a:pt x="93" y="139"/>
                  </a:cubicBezTo>
                  <a:cubicBezTo>
                    <a:pt x="90" y="142"/>
                    <a:pt x="86" y="145"/>
                    <a:pt x="84" y="147"/>
                  </a:cubicBezTo>
                  <a:cubicBezTo>
                    <a:pt x="81" y="148"/>
                    <a:pt x="79" y="150"/>
                    <a:pt x="76" y="151"/>
                  </a:cubicBezTo>
                  <a:cubicBezTo>
                    <a:pt x="73" y="153"/>
                    <a:pt x="70" y="154"/>
                    <a:pt x="66" y="155"/>
                  </a:cubicBezTo>
                  <a:cubicBezTo>
                    <a:pt x="62" y="156"/>
                    <a:pt x="57" y="157"/>
                    <a:pt x="52" y="157"/>
                  </a:cubicBezTo>
                  <a:cubicBezTo>
                    <a:pt x="46" y="157"/>
                    <a:pt x="40" y="156"/>
                    <a:pt x="34" y="154"/>
                  </a:cubicBezTo>
                  <a:cubicBezTo>
                    <a:pt x="28" y="152"/>
                    <a:pt x="22" y="149"/>
                    <a:pt x="17" y="145"/>
                  </a:cubicBezTo>
                  <a:cubicBezTo>
                    <a:pt x="12" y="141"/>
                    <a:pt x="8" y="136"/>
                    <a:pt x="5" y="130"/>
                  </a:cubicBezTo>
                  <a:cubicBezTo>
                    <a:pt x="2" y="123"/>
                    <a:pt x="0" y="115"/>
                    <a:pt x="0" y="106"/>
                  </a:cubicBezTo>
                  <a:cubicBezTo>
                    <a:pt x="0" y="98"/>
                    <a:pt x="2" y="90"/>
                    <a:pt x="5" y="84"/>
                  </a:cubicBezTo>
                  <a:cubicBezTo>
                    <a:pt x="8" y="78"/>
                    <a:pt x="12" y="73"/>
                    <a:pt x="17" y="69"/>
                  </a:cubicBezTo>
                  <a:cubicBezTo>
                    <a:pt x="23" y="65"/>
                    <a:pt x="29" y="62"/>
                    <a:pt x="36" y="60"/>
                  </a:cubicBezTo>
                  <a:cubicBezTo>
                    <a:pt x="44" y="58"/>
                    <a:pt x="51" y="57"/>
                    <a:pt x="60" y="57"/>
                  </a:cubicBezTo>
                  <a:cubicBezTo>
                    <a:pt x="68" y="57"/>
                    <a:pt x="75" y="58"/>
                    <a:pt x="80" y="59"/>
                  </a:cubicBezTo>
                  <a:cubicBezTo>
                    <a:pt x="85" y="60"/>
                    <a:pt x="90" y="61"/>
                    <a:pt x="93" y="6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44"/>
                    <a:pt x="91" y="37"/>
                    <a:pt x="86" y="33"/>
                  </a:cubicBezTo>
                  <a:cubicBezTo>
                    <a:pt x="81" y="29"/>
                    <a:pt x="74" y="26"/>
                    <a:pt x="65" y="26"/>
                  </a:cubicBezTo>
                  <a:cubicBezTo>
                    <a:pt x="57" y="26"/>
                    <a:pt x="50" y="27"/>
                    <a:pt x="44" y="29"/>
                  </a:cubicBezTo>
                  <a:cubicBezTo>
                    <a:pt x="38" y="30"/>
                    <a:pt x="32" y="33"/>
                    <a:pt x="26" y="36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2" y="9"/>
                    <a:pt x="29" y="6"/>
                    <a:pt x="38" y="3"/>
                  </a:cubicBezTo>
                  <a:cubicBezTo>
                    <a:pt x="46" y="1"/>
                    <a:pt x="55" y="0"/>
                    <a:pt x="66" y="0"/>
                  </a:cubicBezTo>
                  <a:cubicBezTo>
                    <a:pt x="74" y="0"/>
                    <a:pt x="82" y="1"/>
                    <a:pt x="89" y="3"/>
                  </a:cubicBezTo>
                  <a:cubicBezTo>
                    <a:pt x="96" y="5"/>
                    <a:pt x="102" y="8"/>
                    <a:pt x="107" y="12"/>
                  </a:cubicBezTo>
                  <a:cubicBezTo>
                    <a:pt x="112" y="17"/>
                    <a:pt x="116" y="22"/>
                    <a:pt x="118" y="28"/>
                  </a:cubicBezTo>
                  <a:cubicBezTo>
                    <a:pt x="121" y="35"/>
                    <a:pt x="122" y="42"/>
                    <a:pt x="122" y="51"/>
                  </a:cubicBezTo>
                  <a:cubicBezTo>
                    <a:pt x="122" y="154"/>
                    <a:pt x="122" y="154"/>
                    <a:pt x="122" y="154"/>
                  </a:cubicBezTo>
                  <a:lnTo>
                    <a:pt x="93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9" name="Freeform 109">
              <a:extLst>
                <a:ext uri="{FF2B5EF4-FFF2-40B4-BE49-F238E27FC236}">
                  <a16:creationId xmlns:a16="http://schemas.microsoft.com/office/drawing/2014/main" id="{8EF04CA6-5131-DF28-7E63-763A18A267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91350" y="4884632"/>
              <a:ext cx="114977" cy="199136"/>
            </a:xfrm>
            <a:custGeom>
              <a:avLst/>
              <a:gdLst>
                <a:gd name="T0" fmla="*/ 82 w 89"/>
                <a:gd name="T1" fmla="*/ 34 h 154"/>
                <a:gd name="T2" fmla="*/ 72 w 89"/>
                <a:gd name="T3" fmla="*/ 30 h 154"/>
                <a:gd name="T4" fmla="*/ 59 w 89"/>
                <a:gd name="T5" fmla="*/ 29 h 154"/>
                <a:gd name="T6" fmla="*/ 37 w 89"/>
                <a:gd name="T7" fmla="*/ 39 h 154"/>
                <a:gd name="T8" fmla="*/ 30 w 89"/>
                <a:gd name="T9" fmla="*/ 68 h 154"/>
                <a:gd name="T10" fmla="*/ 30 w 89"/>
                <a:gd name="T11" fmla="*/ 154 h 154"/>
                <a:gd name="T12" fmla="*/ 0 w 89"/>
                <a:gd name="T13" fmla="*/ 154 h 154"/>
                <a:gd name="T14" fmla="*/ 0 w 89"/>
                <a:gd name="T15" fmla="*/ 3 h 154"/>
                <a:gd name="T16" fmla="*/ 30 w 89"/>
                <a:gd name="T17" fmla="*/ 3 h 154"/>
                <a:gd name="T18" fmla="*/ 30 w 89"/>
                <a:gd name="T19" fmla="*/ 18 h 154"/>
                <a:gd name="T20" fmla="*/ 36 w 89"/>
                <a:gd name="T21" fmla="*/ 11 h 154"/>
                <a:gd name="T22" fmla="*/ 44 w 89"/>
                <a:gd name="T23" fmla="*/ 5 h 154"/>
                <a:gd name="T24" fmla="*/ 53 w 89"/>
                <a:gd name="T25" fmla="*/ 1 h 154"/>
                <a:gd name="T26" fmla="*/ 64 w 89"/>
                <a:gd name="T27" fmla="*/ 0 h 154"/>
                <a:gd name="T28" fmla="*/ 79 w 89"/>
                <a:gd name="T29" fmla="*/ 2 h 154"/>
                <a:gd name="T30" fmla="*/ 89 w 89"/>
                <a:gd name="T31" fmla="*/ 6 h 154"/>
                <a:gd name="T32" fmla="*/ 82 w 89"/>
                <a:gd name="T33" fmla="*/ 3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154">
                  <a:moveTo>
                    <a:pt x="82" y="34"/>
                  </a:moveTo>
                  <a:cubicBezTo>
                    <a:pt x="78" y="33"/>
                    <a:pt x="75" y="31"/>
                    <a:pt x="72" y="30"/>
                  </a:cubicBezTo>
                  <a:cubicBezTo>
                    <a:pt x="68" y="29"/>
                    <a:pt x="64" y="29"/>
                    <a:pt x="59" y="29"/>
                  </a:cubicBezTo>
                  <a:cubicBezTo>
                    <a:pt x="50" y="29"/>
                    <a:pt x="42" y="32"/>
                    <a:pt x="37" y="39"/>
                  </a:cubicBezTo>
                  <a:cubicBezTo>
                    <a:pt x="32" y="45"/>
                    <a:pt x="30" y="55"/>
                    <a:pt x="30" y="68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5"/>
                    <a:pt x="33" y="13"/>
                    <a:pt x="36" y="11"/>
                  </a:cubicBezTo>
                  <a:cubicBezTo>
                    <a:pt x="38" y="8"/>
                    <a:pt x="41" y="7"/>
                    <a:pt x="44" y="5"/>
                  </a:cubicBezTo>
                  <a:cubicBezTo>
                    <a:pt x="47" y="3"/>
                    <a:pt x="50" y="2"/>
                    <a:pt x="53" y="1"/>
                  </a:cubicBezTo>
                  <a:cubicBezTo>
                    <a:pt x="57" y="0"/>
                    <a:pt x="60" y="0"/>
                    <a:pt x="64" y="0"/>
                  </a:cubicBezTo>
                  <a:cubicBezTo>
                    <a:pt x="70" y="0"/>
                    <a:pt x="75" y="1"/>
                    <a:pt x="79" y="2"/>
                  </a:cubicBezTo>
                  <a:cubicBezTo>
                    <a:pt x="83" y="3"/>
                    <a:pt x="87" y="4"/>
                    <a:pt x="89" y="6"/>
                  </a:cubicBezTo>
                  <a:lnTo>
                    <a:pt x="82" y="3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0" name="Freeform 110">
              <a:extLst>
                <a:ext uri="{FF2B5EF4-FFF2-40B4-BE49-F238E27FC236}">
                  <a16:creationId xmlns:a16="http://schemas.microsoft.com/office/drawing/2014/main" id="{2B7B0642-8B14-1497-BA29-31E87A6F40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28849" y="4813512"/>
              <a:ext cx="112606" cy="273813"/>
            </a:xfrm>
            <a:custGeom>
              <a:avLst/>
              <a:gdLst>
                <a:gd name="T0" fmla="*/ 84 w 87"/>
                <a:gd name="T1" fmla="*/ 205 h 212"/>
                <a:gd name="T2" fmla="*/ 71 w 87"/>
                <a:gd name="T3" fmla="*/ 210 h 212"/>
                <a:gd name="T4" fmla="*/ 55 w 87"/>
                <a:gd name="T5" fmla="*/ 212 h 212"/>
                <a:gd name="T6" fmla="*/ 41 w 87"/>
                <a:gd name="T7" fmla="*/ 210 h 212"/>
                <a:gd name="T8" fmla="*/ 31 w 87"/>
                <a:gd name="T9" fmla="*/ 203 h 212"/>
                <a:gd name="T10" fmla="*/ 24 w 87"/>
                <a:gd name="T11" fmla="*/ 190 h 212"/>
                <a:gd name="T12" fmla="*/ 21 w 87"/>
                <a:gd name="T13" fmla="*/ 172 h 212"/>
                <a:gd name="T14" fmla="*/ 21 w 87"/>
                <a:gd name="T15" fmla="*/ 85 h 212"/>
                <a:gd name="T16" fmla="*/ 0 w 87"/>
                <a:gd name="T17" fmla="*/ 85 h 212"/>
                <a:gd name="T18" fmla="*/ 0 w 87"/>
                <a:gd name="T19" fmla="*/ 58 h 212"/>
                <a:gd name="T20" fmla="*/ 21 w 87"/>
                <a:gd name="T21" fmla="*/ 58 h 212"/>
                <a:gd name="T22" fmla="*/ 21 w 87"/>
                <a:gd name="T23" fmla="*/ 15 h 212"/>
                <a:gd name="T24" fmla="*/ 50 w 87"/>
                <a:gd name="T25" fmla="*/ 0 h 212"/>
                <a:gd name="T26" fmla="*/ 50 w 87"/>
                <a:gd name="T27" fmla="*/ 58 h 212"/>
                <a:gd name="T28" fmla="*/ 87 w 87"/>
                <a:gd name="T29" fmla="*/ 58 h 212"/>
                <a:gd name="T30" fmla="*/ 87 w 87"/>
                <a:gd name="T31" fmla="*/ 85 h 212"/>
                <a:gd name="T32" fmla="*/ 50 w 87"/>
                <a:gd name="T33" fmla="*/ 85 h 212"/>
                <a:gd name="T34" fmla="*/ 50 w 87"/>
                <a:gd name="T35" fmla="*/ 167 h 212"/>
                <a:gd name="T36" fmla="*/ 51 w 87"/>
                <a:gd name="T37" fmla="*/ 176 h 212"/>
                <a:gd name="T38" fmla="*/ 54 w 87"/>
                <a:gd name="T39" fmla="*/ 181 h 212"/>
                <a:gd name="T40" fmla="*/ 59 w 87"/>
                <a:gd name="T41" fmla="*/ 184 h 212"/>
                <a:gd name="T42" fmla="*/ 66 w 87"/>
                <a:gd name="T43" fmla="*/ 185 h 212"/>
                <a:gd name="T44" fmla="*/ 77 w 87"/>
                <a:gd name="T45" fmla="*/ 183 h 212"/>
                <a:gd name="T46" fmla="*/ 87 w 87"/>
                <a:gd name="T47" fmla="*/ 179 h 212"/>
                <a:gd name="T48" fmla="*/ 84 w 87"/>
                <a:gd name="T49" fmla="*/ 205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7" h="212">
                  <a:moveTo>
                    <a:pt x="84" y="205"/>
                  </a:moveTo>
                  <a:cubicBezTo>
                    <a:pt x="80" y="207"/>
                    <a:pt x="76" y="209"/>
                    <a:pt x="71" y="210"/>
                  </a:cubicBezTo>
                  <a:cubicBezTo>
                    <a:pt x="66" y="211"/>
                    <a:pt x="61" y="212"/>
                    <a:pt x="55" y="212"/>
                  </a:cubicBezTo>
                  <a:cubicBezTo>
                    <a:pt x="50" y="212"/>
                    <a:pt x="45" y="211"/>
                    <a:pt x="41" y="210"/>
                  </a:cubicBezTo>
                  <a:cubicBezTo>
                    <a:pt x="38" y="208"/>
                    <a:pt x="34" y="206"/>
                    <a:pt x="31" y="203"/>
                  </a:cubicBezTo>
                  <a:cubicBezTo>
                    <a:pt x="28" y="200"/>
                    <a:pt x="25" y="196"/>
                    <a:pt x="24" y="190"/>
                  </a:cubicBezTo>
                  <a:cubicBezTo>
                    <a:pt x="22" y="185"/>
                    <a:pt x="21" y="179"/>
                    <a:pt x="21" y="172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87" y="58"/>
                    <a:pt x="87" y="58"/>
                    <a:pt x="87" y="58"/>
                  </a:cubicBezTo>
                  <a:cubicBezTo>
                    <a:pt x="87" y="85"/>
                    <a:pt x="87" y="85"/>
                    <a:pt x="87" y="85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167"/>
                    <a:pt x="50" y="167"/>
                    <a:pt x="50" y="167"/>
                  </a:cubicBezTo>
                  <a:cubicBezTo>
                    <a:pt x="50" y="170"/>
                    <a:pt x="50" y="173"/>
                    <a:pt x="51" y="176"/>
                  </a:cubicBezTo>
                  <a:cubicBezTo>
                    <a:pt x="52" y="178"/>
                    <a:pt x="52" y="180"/>
                    <a:pt x="54" y="181"/>
                  </a:cubicBezTo>
                  <a:cubicBezTo>
                    <a:pt x="55" y="182"/>
                    <a:pt x="57" y="183"/>
                    <a:pt x="59" y="184"/>
                  </a:cubicBezTo>
                  <a:cubicBezTo>
                    <a:pt x="61" y="185"/>
                    <a:pt x="63" y="185"/>
                    <a:pt x="66" y="185"/>
                  </a:cubicBezTo>
                  <a:cubicBezTo>
                    <a:pt x="69" y="185"/>
                    <a:pt x="73" y="184"/>
                    <a:pt x="77" y="183"/>
                  </a:cubicBezTo>
                  <a:cubicBezTo>
                    <a:pt x="81" y="182"/>
                    <a:pt x="85" y="180"/>
                    <a:pt x="87" y="179"/>
                  </a:cubicBezTo>
                  <a:lnTo>
                    <a:pt x="84" y="205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1" name="Freeform 111">
              <a:extLst>
                <a:ext uri="{FF2B5EF4-FFF2-40B4-BE49-F238E27FC236}">
                  <a16:creationId xmlns:a16="http://schemas.microsoft.com/office/drawing/2014/main" id="{EF9531E5-0ED0-BA5E-0DF7-A9C752AF96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78201" y="4813512"/>
              <a:ext cx="156464" cy="270256"/>
            </a:xfrm>
            <a:custGeom>
              <a:avLst/>
              <a:gdLst>
                <a:gd name="T0" fmla="*/ 91 w 121"/>
                <a:gd name="T1" fmla="*/ 209 h 209"/>
                <a:gd name="T2" fmla="*/ 91 w 121"/>
                <a:gd name="T3" fmla="*/ 124 h 209"/>
                <a:gd name="T4" fmla="*/ 84 w 121"/>
                <a:gd name="T5" fmla="*/ 93 h 209"/>
                <a:gd name="T6" fmla="*/ 60 w 121"/>
                <a:gd name="T7" fmla="*/ 82 h 209"/>
                <a:gd name="T8" fmla="*/ 47 w 121"/>
                <a:gd name="T9" fmla="*/ 85 h 209"/>
                <a:gd name="T10" fmla="*/ 38 w 121"/>
                <a:gd name="T11" fmla="*/ 92 h 209"/>
                <a:gd name="T12" fmla="*/ 31 w 121"/>
                <a:gd name="T13" fmla="*/ 104 h 209"/>
                <a:gd name="T14" fmla="*/ 29 w 121"/>
                <a:gd name="T15" fmla="*/ 121 h 209"/>
                <a:gd name="T16" fmla="*/ 29 w 121"/>
                <a:gd name="T17" fmla="*/ 209 h 209"/>
                <a:gd name="T18" fmla="*/ 0 w 121"/>
                <a:gd name="T19" fmla="*/ 209 h 209"/>
                <a:gd name="T20" fmla="*/ 0 w 121"/>
                <a:gd name="T21" fmla="*/ 15 h 209"/>
                <a:gd name="T22" fmla="*/ 29 w 121"/>
                <a:gd name="T23" fmla="*/ 0 h 209"/>
                <a:gd name="T24" fmla="*/ 29 w 121"/>
                <a:gd name="T25" fmla="*/ 73 h 209"/>
                <a:gd name="T26" fmla="*/ 36 w 121"/>
                <a:gd name="T27" fmla="*/ 65 h 209"/>
                <a:gd name="T28" fmla="*/ 45 w 121"/>
                <a:gd name="T29" fmla="*/ 60 h 209"/>
                <a:gd name="T30" fmla="*/ 55 w 121"/>
                <a:gd name="T31" fmla="*/ 56 h 209"/>
                <a:gd name="T32" fmla="*/ 67 w 121"/>
                <a:gd name="T33" fmla="*/ 55 h 209"/>
                <a:gd name="T34" fmla="*/ 90 w 121"/>
                <a:gd name="T35" fmla="*/ 59 h 209"/>
                <a:gd name="T36" fmla="*/ 107 w 121"/>
                <a:gd name="T37" fmla="*/ 72 h 209"/>
                <a:gd name="T38" fmla="*/ 117 w 121"/>
                <a:gd name="T39" fmla="*/ 94 h 209"/>
                <a:gd name="T40" fmla="*/ 121 w 121"/>
                <a:gd name="T41" fmla="*/ 122 h 209"/>
                <a:gd name="T42" fmla="*/ 121 w 121"/>
                <a:gd name="T43" fmla="*/ 209 h 209"/>
                <a:gd name="T44" fmla="*/ 91 w 121"/>
                <a:gd name="T45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209">
                  <a:moveTo>
                    <a:pt x="91" y="209"/>
                  </a:moveTo>
                  <a:cubicBezTo>
                    <a:pt x="91" y="124"/>
                    <a:pt x="91" y="124"/>
                    <a:pt x="91" y="124"/>
                  </a:cubicBezTo>
                  <a:cubicBezTo>
                    <a:pt x="91" y="110"/>
                    <a:pt x="89" y="99"/>
                    <a:pt x="84" y="93"/>
                  </a:cubicBezTo>
                  <a:cubicBezTo>
                    <a:pt x="79" y="86"/>
                    <a:pt x="71" y="82"/>
                    <a:pt x="60" y="82"/>
                  </a:cubicBezTo>
                  <a:cubicBezTo>
                    <a:pt x="56" y="82"/>
                    <a:pt x="51" y="83"/>
                    <a:pt x="47" y="85"/>
                  </a:cubicBezTo>
                  <a:cubicBezTo>
                    <a:pt x="44" y="86"/>
                    <a:pt x="40" y="89"/>
                    <a:pt x="38" y="92"/>
                  </a:cubicBezTo>
                  <a:cubicBezTo>
                    <a:pt x="35" y="95"/>
                    <a:pt x="33" y="99"/>
                    <a:pt x="31" y="104"/>
                  </a:cubicBezTo>
                  <a:cubicBezTo>
                    <a:pt x="30" y="109"/>
                    <a:pt x="29" y="114"/>
                    <a:pt x="29" y="12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1" y="70"/>
                    <a:pt x="33" y="67"/>
                    <a:pt x="36" y="65"/>
                  </a:cubicBezTo>
                  <a:cubicBezTo>
                    <a:pt x="39" y="63"/>
                    <a:pt x="42" y="61"/>
                    <a:pt x="45" y="60"/>
                  </a:cubicBezTo>
                  <a:cubicBezTo>
                    <a:pt x="48" y="58"/>
                    <a:pt x="52" y="57"/>
                    <a:pt x="55" y="56"/>
                  </a:cubicBezTo>
                  <a:cubicBezTo>
                    <a:pt x="59" y="55"/>
                    <a:pt x="63" y="55"/>
                    <a:pt x="67" y="55"/>
                  </a:cubicBezTo>
                  <a:cubicBezTo>
                    <a:pt x="76" y="55"/>
                    <a:pt x="84" y="56"/>
                    <a:pt x="90" y="59"/>
                  </a:cubicBezTo>
                  <a:cubicBezTo>
                    <a:pt x="97" y="62"/>
                    <a:pt x="103" y="67"/>
                    <a:pt x="107" y="72"/>
                  </a:cubicBezTo>
                  <a:cubicBezTo>
                    <a:pt x="112" y="78"/>
                    <a:pt x="115" y="85"/>
                    <a:pt x="117" y="94"/>
                  </a:cubicBezTo>
                  <a:cubicBezTo>
                    <a:pt x="119" y="102"/>
                    <a:pt x="121" y="112"/>
                    <a:pt x="121" y="122"/>
                  </a:cubicBezTo>
                  <a:cubicBezTo>
                    <a:pt x="121" y="209"/>
                    <a:pt x="121" y="209"/>
                    <a:pt x="121" y="209"/>
                  </a:cubicBezTo>
                  <a:lnTo>
                    <a:pt x="91" y="209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2" name="Freeform 112">
              <a:extLst>
                <a:ext uri="{FF2B5EF4-FFF2-40B4-BE49-F238E27FC236}">
                  <a16:creationId xmlns:a16="http://schemas.microsoft.com/office/drawing/2014/main" id="{84AE5315-97DF-0794-2A8A-53E2C7BF4C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61929" y="4884632"/>
              <a:ext cx="167132" cy="202693"/>
            </a:xfrm>
            <a:custGeom>
              <a:avLst/>
              <a:gdLst>
                <a:gd name="T0" fmla="*/ 100 w 130"/>
                <a:gd name="T1" fmla="*/ 65 h 157"/>
                <a:gd name="T2" fmla="*/ 97 w 130"/>
                <a:gd name="T3" fmla="*/ 50 h 157"/>
                <a:gd name="T4" fmla="*/ 91 w 130"/>
                <a:gd name="T5" fmla="*/ 38 h 157"/>
                <a:gd name="T6" fmla="*/ 80 w 130"/>
                <a:gd name="T7" fmla="*/ 30 h 157"/>
                <a:gd name="T8" fmla="*/ 64 w 130"/>
                <a:gd name="T9" fmla="*/ 27 h 157"/>
                <a:gd name="T10" fmla="*/ 51 w 130"/>
                <a:gd name="T11" fmla="*/ 29 h 157"/>
                <a:gd name="T12" fmla="*/ 41 w 130"/>
                <a:gd name="T13" fmla="*/ 37 h 157"/>
                <a:gd name="T14" fmla="*/ 34 w 130"/>
                <a:gd name="T15" fmla="*/ 48 h 157"/>
                <a:gd name="T16" fmla="*/ 30 w 130"/>
                <a:gd name="T17" fmla="*/ 65 h 157"/>
                <a:gd name="T18" fmla="*/ 100 w 130"/>
                <a:gd name="T19" fmla="*/ 65 h 157"/>
                <a:gd name="T20" fmla="*/ 130 w 130"/>
                <a:gd name="T21" fmla="*/ 75 h 157"/>
                <a:gd name="T22" fmla="*/ 129 w 130"/>
                <a:gd name="T23" fmla="*/ 83 h 157"/>
                <a:gd name="T24" fmla="*/ 129 w 130"/>
                <a:gd name="T25" fmla="*/ 89 h 157"/>
                <a:gd name="T26" fmla="*/ 29 w 130"/>
                <a:gd name="T27" fmla="*/ 89 h 157"/>
                <a:gd name="T28" fmla="*/ 34 w 130"/>
                <a:gd name="T29" fmla="*/ 108 h 157"/>
                <a:gd name="T30" fmla="*/ 43 w 130"/>
                <a:gd name="T31" fmla="*/ 120 h 157"/>
                <a:gd name="T32" fmla="*/ 54 w 130"/>
                <a:gd name="T33" fmla="*/ 128 h 157"/>
                <a:gd name="T34" fmla="*/ 67 w 130"/>
                <a:gd name="T35" fmla="*/ 130 h 157"/>
                <a:gd name="T36" fmla="*/ 77 w 130"/>
                <a:gd name="T37" fmla="*/ 129 h 157"/>
                <a:gd name="T38" fmla="*/ 85 w 130"/>
                <a:gd name="T39" fmla="*/ 127 h 157"/>
                <a:gd name="T40" fmla="*/ 92 w 130"/>
                <a:gd name="T41" fmla="*/ 123 h 157"/>
                <a:gd name="T42" fmla="*/ 100 w 130"/>
                <a:gd name="T43" fmla="*/ 118 h 157"/>
                <a:gd name="T44" fmla="*/ 117 w 130"/>
                <a:gd name="T45" fmla="*/ 137 h 157"/>
                <a:gd name="T46" fmla="*/ 107 w 130"/>
                <a:gd name="T47" fmla="*/ 146 h 157"/>
                <a:gd name="T48" fmla="*/ 96 w 130"/>
                <a:gd name="T49" fmla="*/ 151 h 157"/>
                <a:gd name="T50" fmla="*/ 82 w 130"/>
                <a:gd name="T51" fmla="*/ 155 h 157"/>
                <a:gd name="T52" fmla="*/ 65 w 130"/>
                <a:gd name="T53" fmla="*/ 157 h 157"/>
                <a:gd name="T54" fmla="*/ 47 w 130"/>
                <a:gd name="T55" fmla="*/ 154 h 157"/>
                <a:gd name="T56" fmla="*/ 32 w 130"/>
                <a:gd name="T57" fmla="*/ 147 h 157"/>
                <a:gd name="T58" fmla="*/ 20 w 130"/>
                <a:gd name="T59" fmla="*/ 137 h 157"/>
                <a:gd name="T60" fmla="*/ 10 w 130"/>
                <a:gd name="T61" fmla="*/ 122 h 157"/>
                <a:gd name="T62" fmla="*/ 3 w 130"/>
                <a:gd name="T63" fmla="*/ 102 h 157"/>
                <a:gd name="T64" fmla="*/ 0 w 130"/>
                <a:gd name="T65" fmla="*/ 78 h 157"/>
                <a:gd name="T66" fmla="*/ 5 w 130"/>
                <a:gd name="T67" fmla="*/ 45 h 157"/>
                <a:gd name="T68" fmla="*/ 19 w 130"/>
                <a:gd name="T69" fmla="*/ 20 h 157"/>
                <a:gd name="T70" fmla="*/ 40 w 130"/>
                <a:gd name="T71" fmla="*/ 5 h 157"/>
                <a:gd name="T72" fmla="*/ 66 w 130"/>
                <a:gd name="T73" fmla="*/ 0 h 157"/>
                <a:gd name="T74" fmla="*/ 94 w 130"/>
                <a:gd name="T75" fmla="*/ 6 h 157"/>
                <a:gd name="T76" fmla="*/ 114 w 130"/>
                <a:gd name="T77" fmla="*/ 22 h 157"/>
                <a:gd name="T78" fmla="*/ 126 w 130"/>
                <a:gd name="T79" fmla="*/ 46 h 157"/>
                <a:gd name="T80" fmla="*/ 130 w 130"/>
                <a:gd name="T81" fmla="*/ 7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0" h="157">
                  <a:moveTo>
                    <a:pt x="100" y="65"/>
                  </a:moveTo>
                  <a:cubicBezTo>
                    <a:pt x="100" y="59"/>
                    <a:pt x="99" y="55"/>
                    <a:pt x="97" y="50"/>
                  </a:cubicBezTo>
                  <a:cubicBezTo>
                    <a:pt x="96" y="45"/>
                    <a:pt x="94" y="41"/>
                    <a:pt x="91" y="38"/>
                  </a:cubicBezTo>
                  <a:cubicBezTo>
                    <a:pt x="88" y="34"/>
                    <a:pt x="84" y="32"/>
                    <a:pt x="80" y="30"/>
                  </a:cubicBezTo>
                  <a:cubicBezTo>
                    <a:pt x="76" y="28"/>
                    <a:pt x="70" y="27"/>
                    <a:pt x="64" y="27"/>
                  </a:cubicBezTo>
                  <a:cubicBezTo>
                    <a:pt x="59" y="27"/>
                    <a:pt x="55" y="28"/>
                    <a:pt x="51" y="29"/>
                  </a:cubicBezTo>
                  <a:cubicBezTo>
                    <a:pt x="47" y="31"/>
                    <a:pt x="43" y="34"/>
                    <a:pt x="41" y="37"/>
                  </a:cubicBezTo>
                  <a:cubicBezTo>
                    <a:pt x="38" y="40"/>
                    <a:pt x="35" y="44"/>
                    <a:pt x="34" y="48"/>
                  </a:cubicBezTo>
                  <a:cubicBezTo>
                    <a:pt x="32" y="53"/>
                    <a:pt x="31" y="58"/>
                    <a:pt x="30" y="65"/>
                  </a:cubicBezTo>
                  <a:lnTo>
                    <a:pt x="100" y="65"/>
                  </a:lnTo>
                  <a:close/>
                  <a:moveTo>
                    <a:pt x="130" y="75"/>
                  </a:moveTo>
                  <a:cubicBezTo>
                    <a:pt x="130" y="78"/>
                    <a:pt x="130" y="81"/>
                    <a:pt x="129" y="83"/>
                  </a:cubicBezTo>
                  <a:cubicBezTo>
                    <a:pt x="129" y="85"/>
                    <a:pt x="129" y="87"/>
                    <a:pt x="129" y="89"/>
                  </a:cubicBezTo>
                  <a:cubicBezTo>
                    <a:pt x="29" y="89"/>
                    <a:pt x="29" y="89"/>
                    <a:pt x="29" y="89"/>
                  </a:cubicBezTo>
                  <a:cubicBezTo>
                    <a:pt x="30" y="96"/>
                    <a:pt x="32" y="102"/>
                    <a:pt x="34" y="108"/>
                  </a:cubicBezTo>
                  <a:cubicBezTo>
                    <a:pt x="36" y="113"/>
                    <a:pt x="39" y="117"/>
                    <a:pt x="43" y="120"/>
                  </a:cubicBezTo>
                  <a:cubicBezTo>
                    <a:pt x="46" y="124"/>
                    <a:pt x="50" y="126"/>
                    <a:pt x="54" y="128"/>
                  </a:cubicBezTo>
                  <a:cubicBezTo>
                    <a:pt x="58" y="129"/>
                    <a:pt x="63" y="130"/>
                    <a:pt x="67" y="130"/>
                  </a:cubicBezTo>
                  <a:cubicBezTo>
                    <a:pt x="71" y="130"/>
                    <a:pt x="74" y="130"/>
                    <a:pt x="77" y="129"/>
                  </a:cubicBezTo>
                  <a:cubicBezTo>
                    <a:pt x="79" y="129"/>
                    <a:pt x="82" y="128"/>
                    <a:pt x="85" y="127"/>
                  </a:cubicBezTo>
                  <a:cubicBezTo>
                    <a:pt x="88" y="126"/>
                    <a:pt x="90" y="124"/>
                    <a:pt x="92" y="123"/>
                  </a:cubicBezTo>
                  <a:cubicBezTo>
                    <a:pt x="94" y="122"/>
                    <a:pt x="97" y="120"/>
                    <a:pt x="100" y="118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4" y="140"/>
                    <a:pt x="110" y="143"/>
                    <a:pt x="107" y="146"/>
                  </a:cubicBezTo>
                  <a:cubicBezTo>
                    <a:pt x="103" y="148"/>
                    <a:pt x="100" y="150"/>
                    <a:pt x="96" y="151"/>
                  </a:cubicBezTo>
                  <a:cubicBezTo>
                    <a:pt x="92" y="153"/>
                    <a:pt x="87" y="154"/>
                    <a:pt x="82" y="155"/>
                  </a:cubicBezTo>
                  <a:cubicBezTo>
                    <a:pt x="77" y="156"/>
                    <a:pt x="72" y="157"/>
                    <a:pt x="65" y="157"/>
                  </a:cubicBezTo>
                  <a:cubicBezTo>
                    <a:pt x="59" y="157"/>
                    <a:pt x="53" y="156"/>
                    <a:pt x="47" y="154"/>
                  </a:cubicBezTo>
                  <a:cubicBezTo>
                    <a:pt x="41" y="152"/>
                    <a:pt x="36" y="150"/>
                    <a:pt x="32" y="147"/>
                  </a:cubicBezTo>
                  <a:cubicBezTo>
                    <a:pt x="28" y="144"/>
                    <a:pt x="24" y="141"/>
                    <a:pt x="20" y="137"/>
                  </a:cubicBezTo>
                  <a:cubicBezTo>
                    <a:pt x="17" y="133"/>
                    <a:pt x="13" y="128"/>
                    <a:pt x="10" y="122"/>
                  </a:cubicBezTo>
                  <a:cubicBezTo>
                    <a:pt x="7" y="116"/>
                    <a:pt x="5" y="110"/>
                    <a:pt x="3" y="102"/>
                  </a:cubicBezTo>
                  <a:cubicBezTo>
                    <a:pt x="1" y="95"/>
                    <a:pt x="0" y="87"/>
                    <a:pt x="0" y="78"/>
                  </a:cubicBezTo>
                  <a:cubicBezTo>
                    <a:pt x="0" y="66"/>
                    <a:pt x="2" y="55"/>
                    <a:pt x="5" y="45"/>
                  </a:cubicBezTo>
                  <a:cubicBezTo>
                    <a:pt x="8" y="35"/>
                    <a:pt x="13" y="27"/>
                    <a:pt x="19" y="20"/>
                  </a:cubicBezTo>
                  <a:cubicBezTo>
                    <a:pt x="25" y="14"/>
                    <a:pt x="31" y="9"/>
                    <a:pt x="40" y="5"/>
                  </a:cubicBezTo>
                  <a:cubicBezTo>
                    <a:pt x="48" y="2"/>
                    <a:pt x="57" y="0"/>
                    <a:pt x="66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10"/>
                    <a:pt x="109" y="16"/>
                    <a:pt x="114" y="22"/>
                  </a:cubicBezTo>
                  <a:cubicBezTo>
                    <a:pt x="119" y="29"/>
                    <a:pt x="123" y="37"/>
                    <a:pt x="126" y="46"/>
                  </a:cubicBezTo>
                  <a:cubicBezTo>
                    <a:pt x="128" y="56"/>
                    <a:pt x="130" y="65"/>
                    <a:pt x="130" y="75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3" name="Freeform 113">
              <a:extLst>
                <a:ext uri="{FF2B5EF4-FFF2-40B4-BE49-F238E27FC236}">
                  <a16:creationId xmlns:a16="http://schemas.microsoft.com/office/drawing/2014/main" id="{612E0877-FC6A-7D52-48C1-CD1B183F34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57507" y="4884632"/>
              <a:ext cx="155278" cy="199136"/>
            </a:xfrm>
            <a:custGeom>
              <a:avLst/>
              <a:gdLst>
                <a:gd name="T0" fmla="*/ 91 w 120"/>
                <a:gd name="T1" fmla="*/ 154 h 154"/>
                <a:gd name="T2" fmla="*/ 91 w 120"/>
                <a:gd name="T3" fmla="*/ 69 h 154"/>
                <a:gd name="T4" fmla="*/ 84 w 120"/>
                <a:gd name="T5" fmla="*/ 38 h 154"/>
                <a:gd name="T6" fmla="*/ 60 w 120"/>
                <a:gd name="T7" fmla="*/ 27 h 154"/>
                <a:gd name="T8" fmla="*/ 47 w 120"/>
                <a:gd name="T9" fmla="*/ 30 h 154"/>
                <a:gd name="T10" fmla="*/ 37 w 120"/>
                <a:gd name="T11" fmla="*/ 38 h 154"/>
                <a:gd name="T12" fmla="*/ 31 w 120"/>
                <a:gd name="T13" fmla="*/ 50 h 154"/>
                <a:gd name="T14" fmla="*/ 29 w 120"/>
                <a:gd name="T15" fmla="*/ 66 h 154"/>
                <a:gd name="T16" fmla="*/ 29 w 120"/>
                <a:gd name="T17" fmla="*/ 154 h 154"/>
                <a:gd name="T18" fmla="*/ 0 w 120"/>
                <a:gd name="T19" fmla="*/ 154 h 154"/>
                <a:gd name="T20" fmla="*/ 0 w 120"/>
                <a:gd name="T21" fmla="*/ 3 h 154"/>
                <a:gd name="T22" fmla="*/ 29 w 120"/>
                <a:gd name="T23" fmla="*/ 3 h 154"/>
                <a:gd name="T24" fmla="*/ 29 w 120"/>
                <a:gd name="T25" fmla="*/ 18 h 154"/>
                <a:gd name="T26" fmla="*/ 36 w 120"/>
                <a:gd name="T27" fmla="*/ 10 h 154"/>
                <a:gd name="T28" fmla="*/ 45 w 120"/>
                <a:gd name="T29" fmla="*/ 5 h 154"/>
                <a:gd name="T30" fmla="*/ 55 w 120"/>
                <a:gd name="T31" fmla="*/ 1 h 154"/>
                <a:gd name="T32" fmla="*/ 67 w 120"/>
                <a:gd name="T33" fmla="*/ 0 h 154"/>
                <a:gd name="T34" fmla="*/ 90 w 120"/>
                <a:gd name="T35" fmla="*/ 4 h 154"/>
                <a:gd name="T36" fmla="*/ 107 w 120"/>
                <a:gd name="T37" fmla="*/ 17 h 154"/>
                <a:gd name="T38" fmla="*/ 117 w 120"/>
                <a:gd name="T39" fmla="*/ 38 h 154"/>
                <a:gd name="T40" fmla="*/ 120 w 120"/>
                <a:gd name="T41" fmla="*/ 67 h 154"/>
                <a:gd name="T42" fmla="*/ 120 w 120"/>
                <a:gd name="T43" fmla="*/ 154 h 154"/>
                <a:gd name="T44" fmla="*/ 91 w 120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0" h="154">
                  <a:moveTo>
                    <a:pt x="91" y="154"/>
                  </a:moveTo>
                  <a:cubicBezTo>
                    <a:pt x="91" y="69"/>
                    <a:pt x="91" y="69"/>
                    <a:pt x="91" y="69"/>
                  </a:cubicBezTo>
                  <a:cubicBezTo>
                    <a:pt x="91" y="55"/>
                    <a:pt x="88" y="45"/>
                    <a:pt x="84" y="38"/>
                  </a:cubicBezTo>
                  <a:cubicBezTo>
                    <a:pt x="79" y="31"/>
                    <a:pt x="71" y="27"/>
                    <a:pt x="60" y="27"/>
                  </a:cubicBezTo>
                  <a:cubicBezTo>
                    <a:pt x="55" y="27"/>
                    <a:pt x="51" y="28"/>
                    <a:pt x="47" y="30"/>
                  </a:cubicBezTo>
                  <a:cubicBezTo>
                    <a:pt x="43" y="32"/>
                    <a:pt x="40" y="34"/>
                    <a:pt x="37" y="38"/>
                  </a:cubicBezTo>
                  <a:cubicBezTo>
                    <a:pt x="34" y="41"/>
                    <a:pt x="32" y="45"/>
                    <a:pt x="31" y="50"/>
                  </a:cubicBezTo>
                  <a:cubicBezTo>
                    <a:pt x="30" y="55"/>
                    <a:pt x="29" y="60"/>
                    <a:pt x="29" y="66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1" y="15"/>
                    <a:pt x="33" y="12"/>
                    <a:pt x="36" y="10"/>
                  </a:cubicBezTo>
                  <a:cubicBezTo>
                    <a:pt x="39" y="8"/>
                    <a:pt x="42" y="6"/>
                    <a:pt x="45" y="5"/>
                  </a:cubicBezTo>
                  <a:cubicBezTo>
                    <a:pt x="48" y="3"/>
                    <a:pt x="52" y="2"/>
                    <a:pt x="55" y="1"/>
                  </a:cubicBezTo>
                  <a:cubicBezTo>
                    <a:pt x="59" y="0"/>
                    <a:pt x="63" y="0"/>
                    <a:pt x="67" y="0"/>
                  </a:cubicBezTo>
                  <a:cubicBezTo>
                    <a:pt x="76" y="0"/>
                    <a:pt x="84" y="2"/>
                    <a:pt x="90" y="4"/>
                  </a:cubicBezTo>
                  <a:cubicBezTo>
                    <a:pt x="97" y="7"/>
                    <a:pt x="103" y="12"/>
                    <a:pt x="107" y="17"/>
                  </a:cubicBezTo>
                  <a:cubicBezTo>
                    <a:pt x="112" y="23"/>
                    <a:pt x="115" y="30"/>
                    <a:pt x="117" y="38"/>
                  </a:cubicBezTo>
                  <a:cubicBezTo>
                    <a:pt x="119" y="46"/>
                    <a:pt x="120" y="56"/>
                    <a:pt x="120" y="67"/>
                  </a:cubicBezTo>
                  <a:cubicBezTo>
                    <a:pt x="120" y="154"/>
                    <a:pt x="120" y="154"/>
                    <a:pt x="120" y="154"/>
                  </a:cubicBezTo>
                  <a:lnTo>
                    <a:pt x="91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" name="Freeform 114">
              <a:extLst>
                <a:ext uri="{FF2B5EF4-FFF2-40B4-BE49-F238E27FC236}">
                  <a16:creationId xmlns:a16="http://schemas.microsoft.com/office/drawing/2014/main" id="{3747C2F1-C10A-B025-2AFB-6AAD0580A0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41235" y="4884632"/>
              <a:ext cx="173060" cy="202693"/>
            </a:xfrm>
            <a:custGeom>
              <a:avLst/>
              <a:gdLst>
                <a:gd name="T0" fmla="*/ 105 w 134"/>
                <a:gd name="T1" fmla="*/ 78 h 157"/>
                <a:gd name="T2" fmla="*/ 102 w 134"/>
                <a:gd name="T3" fmla="*/ 58 h 157"/>
                <a:gd name="T4" fmla="*/ 94 w 134"/>
                <a:gd name="T5" fmla="*/ 42 h 157"/>
                <a:gd name="T6" fmla="*/ 82 w 134"/>
                <a:gd name="T7" fmla="*/ 32 h 157"/>
                <a:gd name="T8" fmla="*/ 66 w 134"/>
                <a:gd name="T9" fmla="*/ 28 h 157"/>
                <a:gd name="T10" fmla="*/ 51 w 134"/>
                <a:gd name="T11" fmla="*/ 32 h 157"/>
                <a:gd name="T12" fmla="*/ 40 w 134"/>
                <a:gd name="T13" fmla="*/ 42 h 157"/>
                <a:gd name="T14" fmla="*/ 33 w 134"/>
                <a:gd name="T15" fmla="*/ 57 h 157"/>
                <a:gd name="T16" fmla="*/ 30 w 134"/>
                <a:gd name="T17" fmla="*/ 78 h 157"/>
                <a:gd name="T18" fmla="*/ 33 w 134"/>
                <a:gd name="T19" fmla="*/ 100 h 157"/>
                <a:gd name="T20" fmla="*/ 41 w 134"/>
                <a:gd name="T21" fmla="*/ 116 h 157"/>
                <a:gd name="T22" fmla="*/ 52 w 134"/>
                <a:gd name="T23" fmla="*/ 125 h 157"/>
                <a:gd name="T24" fmla="*/ 68 w 134"/>
                <a:gd name="T25" fmla="*/ 129 h 157"/>
                <a:gd name="T26" fmla="*/ 83 w 134"/>
                <a:gd name="T27" fmla="*/ 125 h 157"/>
                <a:gd name="T28" fmla="*/ 95 w 134"/>
                <a:gd name="T29" fmla="*/ 114 h 157"/>
                <a:gd name="T30" fmla="*/ 102 w 134"/>
                <a:gd name="T31" fmla="*/ 98 h 157"/>
                <a:gd name="T32" fmla="*/ 105 w 134"/>
                <a:gd name="T33" fmla="*/ 78 h 157"/>
                <a:gd name="T34" fmla="*/ 134 w 134"/>
                <a:gd name="T35" fmla="*/ 78 h 157"/>
                <a:gd name="T36" fmla="*/ 129 w 134"/>
                <a:gd name="T37" fmla="*/ 111 h 157"/>
                <a:gd name="T38" fmla="*/ 115 w 134"/>
                <a:gd name="T39" fmla="*/ 136 h 157"/>
                <a:gd name="T40" fmla="*/ 93 w 134"/>
                <a:gd name="T41" fmla="*/ 151 h 157"/>
                <a:gd name="T42" fmla="*/ 67 w 134"/>
                <a:gd name="T43" fmla="*/ 157 h 157"/>
                <a:gd name="T44" fmla="*/ 40 w 134"/>
                <a:gd name="T45" fmla="*/ 151 h 157"/>
                <a:gd name="T46" fmla="*/ 19 w 134"/>
                <a:gd name="T47" fmla="*/ 135 h 157"/>
                <a:gd name="T48" fmla="*/ 5 w 134"/>
                <a:gd name="T49" fmla="*/ 111 h 157"/>
                <a:gd name="T50" fmla="*/ 0 w 134"/>
                <a:gd name="T51" fmla="*/ 78 h 157"/>
                <a:gd name="T52" fmla="*/ 6 w 134"/>
                <a:gd name="T53" fmla="*/ 45 h 157"/>
                <a:gd name="T54" fmla="*/ 20 w 134"/>
                <a:gd name="T55" fmla="*/ 21 h 157"/>
                <a:gd name="T56" fmla="*/ 41 w 134"/>
                <a:gd name="T57" fmla="*/ 5 h 157"/>
                <a:gd name="T58" fmla="*/ 67 w 134"/>
                <a:gd name="T59" fmla="*/ 0 h 157"/>
                <a:gd name="T60" fmla="*/ 94 w 134"/>
                <a:gd name="T61" fmla="*/ 6 h 157"/>
                <a:gd name="T62" fmla="*/ 115 w 134"/>
                <a:gd name="T63" fmla="*/ 21 h 157"/>
                <a:gd name="T64" fmla="*/ 129 w 134"/>
                <a:gd name="T65" fmla="*/ 46 h 157"/>
                <a:gd name="T66" fmla="*/ 134 w 134"/>
                <a:gd name="T67" fmla="*/ 78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4" h="157">
                  <a:moveTo>
                    <a:pt x="105" y="78"/>
                  </a:moveTo>
                  <a:cubicBezTo>
                    <a:pt x="105" y="71"/>
                    <a:pt x="104" y="64"/>
                    <a:pt x="102" y="58"/>
                  </a:cubicBezTo>
                  <a:cubicBezTo>
                    <a:pt x="100" y="52"/>
                    <a:pt x="98" y="46"/>
                    <a:pt x="94" y="42"/>
                  </a:cubicBezTo>
                  <a:cubicBezTo>
                    <a:pt x="91" y="37"/>
                    <a:pt x="87" y="34"/>
                    <a:pt x="82" y="32"/>
                  </a:cubicBezTo>
                  <a:cubicBezTo>
                    <a:pt x="78" y="29"/>
                    <a:pt x="72" y="28"/>
                    <a:pt x="66" y="28"/>
                  </a:cubicBezTo>
                  <a:cubicBezTo>
                    <a:pt x="61" y="28"/>
                    <a:pt x="56" y="29"/>
                    <a:pt x="51" y="32"/>
                  </a:cubicBezTo>
                  <a:cubicBezTo>
                    <a:pt x="47" y="34"/>
                    <a:pt x="43" y="37"/>
                    <a:pt x="40" y="42"/>
                  </a:cubicBezTo>
                  <a:cubicBezTo>
                    <a:pt x="37" y="46"/>
                    <a:pt x="34" y="51"/>
                    <a:pt x="33" y="57"/>
                  </a:cubicBezTo>
                  <a:cubicBezTo>
                    <a:pt x="31" y="63"/>
                    <a:pt x="30" y="70"/>
                    <a:pt x="30" y="78"/>
                  </a:cubicBezTo>
                  <a:cubicBezTo>
                    <a:pt x="30" y="86"/>
                    <a:pt x="31" y="93"/>
                    <a:pt x="33" y="100"/>
                  </a:cubicBezTo>
                  <a:cubicBezTo>
                    <a:pt x="35" y="106"/>
                    <a:pt x="37" y="111"/>
                    <a:pt x="41" y="116"/>
                  </a:cubicBezTo>
                  <a:cubicBezTo>
                    <a:pt x="44" y="120"/>
                    <a:pt x="48" y="123"/>
                    <a:pt x="52" y="125"/>
                  </a:cubicBezTo>
                  <a:cubicBezTo>
                    <a:pt x="57" y="128"/>
                    <a:pt x="62" y="129"/>
                    <a:pt x="68" y="129"/>
                  </a:cubicBezTo>
                  <a:cubicBezTo>
                    <a:pt x="73" y="129"/>
                    <a:pt x="78" y="127"/>
                    <a:pt x="83" y="125"/>
                  </a:cubicBezTo>
                  <a:cubicBezTo>
                    <a:pt x="87" y="122"/>
                    <a:pt x="91" y="118"/>
                    <a:pt x="95" y="114"/>
                  </a:cubicBezTo>
                  <a:cubicBezTo>
                    <a:pt x="98" y="109"/>
                    <a:pt x="100" y="104"/>
                    <a:pt x="102" y="98"/>
                  </a:cubicBezTo>
                  <a:cubicBezTo>
                    <a:pt x="104" y="92"/>
                    <a:pt x="105" y="85"/>
                    <a:pt x="105" y="78"/>
                  </a:cubicBezTo>
                  <a:moveTo>
                    <a:pt x="134" y="78"/>
                  </a:moveTo>
                  <a:cubicBezTo>
                    <a:pt x="134" y="90"/>
                    <a:pt x="133" y="101"/>
                    <a:pt x="129" y="111"/>
                  </a:cubicBezTo>
                  <a:cubicBezTo>
                    <a:pt x="126" y="121"/>
                    <a:pt x="121" y="129"/>
                    <a:pt x="115" y="136"/>
                  </a:cubicBezTo>
                  <a:cubicBezTo>
                    <a:pt x="109" y="143"/>
                    <a:pt x="102" y="148"/>
                    <a:pt x="93" y="151"/>
                  </a:cubicBezTo>
                  <a:cubicBezTo>
                    <a:pt x="85" y="155"/>
                    <a:pt x="76" y="157"/>
                    <a:pt x="67" y="157"/>
                  </a:cubicBezTo>
                  <a:cubicBezTo>
                    <a:pt x="57" y="157"/>
                    <a:pt x="48" y="155"/>
                    <a:pt x="40" y="151"/>
                  </a:cubicBezTo>
                  <a:cubicBezTo>
                    <a:pt x="32" y="147"/>
                    <a:pt x="25" y="142"/>
                    <a:pt x="19" y="135"/>
                  </a:cubicBezTo>
                  <a:cubicBezTo>
                    <a:pt x="13" y="128"/>
                    <a:pt x="9" y="120"/>
                    <a:pt x="5" y="111"/>
                  </a:cubicBezTo>
                  <a:cubicBezTo>
                    <a:pt x="2" y="101"/>
                    <a:pt x="0" y="90"/>
                    <a:pt x="0" y="78"/>
                  </a:cubicBezTo>
                  <a:cubicBezTo>
                    <a:pt x="0" y="66"/>
                    <a:pt x="2" y="55"/>
                    <a:pt x="6" y="45"/>
                  </a:cubicBezTo>
                  <a:cubicBezTo>
                    <a:pt x="9" y="36"/>
                    <a:pt x="14" y="28"/>
                    <a:pt x="20" y="21"/>
                  </a:cubicBezTo>
                  <a:cubicBezTo>
                    <a:pt x="26" y="14"/>
                    <a:pt x="33" y="9"/>
                    <a:pt x="41" y="5"/>
                  </a:cubicBezTo>
                  <a:cubicBezTo>
                    <a:pt x="49" y="2"/>
                    <a:pt x="58" y="0"/>
                    <a:pt x="67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9"/>
                    <a:pt x="109" y="14"/>
                    <a:pt x="115" y="21"/>
                  </a:cubicBezTo>
                  <a:cubicBezTo>
                    <a:pt x="121" y="28"/>
                    <a:pt x="126" y="36"/>
                    <a:pt x="129" y="46"/>
                  </a:cubicBezTo>
                  <a:cubicBezTo>
                    <a:pt x="133" y="55"/>
                    <a:pt x="134" y="66"/>
                    <a:pt x="134" y="78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5" name="Freeform 115">
              <a:extLst>
                <a:ext uri="{FF2B5EF4-FFF2-40B4-BE49-F238E27FC236}">
                  <a16:creationId xmlns:a16="http://schemas.microsoft.com/office/drawing/2014/main" id="{E2766335-8EAF-2F71-CAAF-ACA3FD467E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42742" y="4884632"/>
              <a:ext cx="156464" cy="199136"/>
            </a:xfrm>
            <a:custGeom>
              <a:avLst/>
              <a:gdLst>
                <a:gd name="T0" fmla="*/ 92 w 121"/>
                <a:gd name="T1" fmla="*/ 154 h 154"/>
                <a:gd name="T2" fmla="*/ 92 w 121"/>
                <a:gd name="T3" fmla="*/ 69 h 154"/>
                <a:gd name="T4" fmla="*/ 84 w 121"/>
                <a:gd name="T5" fmla="*/ 38 h 154"/>
                <a:gd name="T6" fmla="*/ 61 w 121"/>
                <a:gd name="T7" fmla="*/ 27 h 154"/>
                <a:gd name="T8" fmla="*/ 48 w 121"/>
                <a:gd name="T9" fmla="*/ 30 h 154"/>
                <a:gd name="T10" fmla="*/ 38 w 121"/>
                <a:gd name="T11" fmla="*/ 38 h 154"/>
                <a:gd name="T12" fmla="*/ 32 w 121"/>
                <a:gd name="T13" fmla="*/ 50 h 154"/>
                <a:gd name="T14" fmla="*/ 30 w 121"/>
                <a:gd name="T15" fmla="*/ 66 h 154"/>
                <a:gd name="T16" fmla="*/ 30 w 121"/>
                <a:gd name="T17" fmla="*/ 154 h 154"/>
                <a:gd name="T18" fmla="*/ 0 w 121"/>
                <a:gd name="T19" fmla="*/ 154 h 154"/>
                <a:gd name="T20" fmla="*/ 0 w 121"/>
                <a:gd name="T21" fmla="*/ 3 h 154"/>
                <a:gd name="T22" fmla="*/ 30 w 121"/>
                <a:gd name="T23" fmla="*/ 3 h 154"/>
                <a:gd name="T24" fmla="*/ 30 w 121"/>
                <a:gd name="T25" fmla="*/ 18 h 154"/>
                <a:gd name="T26" fmla="*/ 37 w 121"/>
                <a:gd name="T27" fmla="*/ 10 h 154"/>
                <a:gd name="T28" fmla="*/ 46 w 121"/>
                <a:gd name="T29" fmla="*/ 5 h 154"/>
                <a:gd name="T30" fmla="*/ 56 w 121"/>
                <a:gd name="T31" fmla="*/ 1 h 154"/>
                <a:gd name="T32" fmla="*/ 68 w 121"/>
                <a:gd name="T33" fmla="*/ 0 h 154"/>
                <a:gd name="T34" fmla="*/ 91 w 121"/>
                <a:gd name="T35" fmla="*/ 4 h 154"/>
                <a:gd name="T36" fmla="*/ 108 w 121"/>
                <a:gd name="T37" fmla="*/ 17 h 154"/>
                <a:gd name="T38" fmla="*/ 118 w 121"/>
                <a:gd name="T39" fmla="*/ 38 h 154"/>
                <a:gd name="T40" fmla="*/ 121 w 121"/>
                <a:gd name="T41" fmla="*/ 67 h 154"/>
                <a:gd name="T42" fmla="*/ 121 w 121"/>
                <a:gd name="T43" fmla="*/ 154 h 154"/>
                <a:gd name="T44" fmla="*/ 92 w 121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154">
                  <a:moveTo>
                    <a:pt x="92" y="154"/>
                  </a:moveTo>
                  <a:cubicBezTo>
                    <a:pt x="92" y="69"/>
                    <a:pt x="92" y="69"/>
                    <a:pt x="92" y="69"/>
                  </a:cubicBezTo>
                  <a:cubicBezTo>
                    <a:pt x="92" y="55"/>
                    <a:pt x="89" y="45"/>
                    <a:pt x="84" y="38"/>
                  </a:cubicBezTo>
                  <a:cubicBezTo>
                    <a:pt x="80" y="31"/>
                    <a:pt x="72" y="27"/>
                    <a:pt x="61" y="27"/>
                  </a:cubicBezTo>
                  <a:cubicBezTo>
                    <a:pt x="56" y="27"/>
                    <a:pt x="52" y="28"/>
                    <a:pt x="48" y="30"/>
                  </a:cubicBezTo>
                  <a:cubicBezTo>
                    <a:pt x="44" y="32"/>
                    <a:pt x="40" y="34"/>
                    <a:pt x="38" y="38"/>
                  </a:cubicBezTo>
                  <a:cubicBezTo>
                    <a:pt x="35" y="41"/>
                    <a:pt x="33" y="45"/>
                    <a:pt x="32" y="50"/>
                  </a:cubicBezTo>
                  <a:cubicBezTo>
                    <a:pt x="31" y="55"/>
                    <a:pt x="30" y="60"/>
                    <a:pt x="30" y="66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2" y="15"/>
                    <a:pt x="34" y="12"/>
                    <a:pt x="37" y="10"/>
                  </a:cubicBezTo>
                  <a:cubicBezTo>
                    <a:pt x="39" y="8"/>
                    <a:pt x="42" y="6"/>
                    <a:pt x="46" y="5"/>
                  </a:cubicBezTo>
                  <a:cubicBezTo>
                    <a:pt x="49" y="3"/>
                    <a:pt x="52" y="2"/>
                    <a:pt x="56" y="1"/>
                  </a:cubicBezTo>
                  <a:cubicBezTo>
                    <a:pt x="60" y="0"/>
                    <a:pt x="64" y="0"/>
                    <a:pt x="68" y="0"/>
                  </a:cubicBezTo>
                  <a:cubicBezTo>
                    <a:pt x="77" y="0"/>
                    <a:pt x="85" y="2"/>
                    <a:pt x="91" y="4"/>
                  </a:cubicBezTo>
                  <a:cubicBezTo>
                    <a:pt x="98" y="7"/>
                    <a:pt x="103" y="12"/>
                    <a:pt x="108" y="17"/>
                  </a:cubicBezTo>
                  <a:cubicBezTo>
                    <a:pt x="112" y="23"/>
                    <a:pt x="116" y="30"/>
                    <a:pt x="118" y="38"/>
                  </a:cubicBezTo>
                  <a:cubicBezTo>
                    <a:pt x="120" y="46"/>
                    <a:pt x="121" y="56"/>
                    <a:pt x="121" y="67"/>
                  </a:cubicBezTo>
                  <a:cubicBezTo>
                    <a:pt x="121" y="154"/>
                    <a:pt x="121" y="154"/>
                    <a:pt x="121" y="154"/>
                  </a:cubicBezTo>
                  <a:lnTo>
                    <a:pt x="92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6" name="Freeform 117">
              <a:extLst>
                <a:ext uri="{FF2B5EF4-FFF2-40B4-BE49-F238E27FC236}">
                  <a16:creationId xmlns:a16="http://schemas.microsoft.com/office/drawing/2014/main" id="{64294034-D582-128D-A72C-6B8C265EA5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258171" y="4332267"/>
              <a:ext cx="733721" cy="267886"/>
            </a:xfrm>
            <a:custGeom>
              <a:avLst/>
              <a:gdLst>
                <a:gd name="T0" fmla="*/ 619 w 619"/>
                <a:gd name="T1" fmla="*/ 0 h 226"/>
                <a:gd name="T2" fmla="*/ 0 w 619"/>
                <a:gd name="T3" fmla="*/ 226 h 226"/>
                <a:gd name="T4" fmla="*/ 619 w 619"/>
                <a:gd name="T5" fmla="*/ 117 h 226"/>
                <a:gd name="T6" fmla="*/ 619 w 619"/>
                <a:gd name="T7" fmla="*/ 0 h 226"/>
                <a:gd name="T8" fmla="*/ 619 w 619"/>
                <a:gd name="T9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9" h="226">
                  <a:moveTo>
                    <a:pt x="619" y="0"/>
                  </a:moveTo>
                  <a:lnTo>
                    <a:pt x="0" y="226"/>
                  </a:lnTo>
                  <a:lnTo>
                    <a:pt x="619" y="117"/>
                  </a:lnTo>
                  <a:lnTo>
                    <a:pt x="619" y="0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7" name="Freeform 118">
              <a:extLst>
                <a:ext uri="{FF2B5EF4-FFF2-40B4-BE49-F238E27FC236}">
                  <a16:creationId xmlns:a16="http://schemas.microsoft.com/office/drawing/2014/main" id="{A21A1AA8-4217-A9D3-44D7-613C584FC94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264100" y="4711579"/>
              <a:ext cx="616374" cy="372194"/>
            </a:xfrm>
            <a:custGeom>
              <a:avLst/>
              <a:gdLst>
                <a:gd name="T0" fmla="*/ 418 w 520"/>
                <a:gd name="T1" fmla="*/ 0 h 314"/>
                <a:gd name="T2" fmla="*/ 364 w 520"/>
                <a:gd name="T3" fmla="*/ 102 h 314"/>
                <a:gd name="T4" fmla="*/ 311 w 520"/>
                <a:gd name="T5" fmla="*/ 0 h 314"/>
                <a:gd name="T6" fmla="*/ 207 w 520"/>
                <a:gd name="T7" fmla="*/ 0 h 314"/>
                <a:gd name="T8" fmla="*/ 318 w 520"/>
                <a:gd name="T9" fmla="*/ 189 h 314"/>
                <a:gd name="T10" fmla="*/ 318 w 520"/>
                <a:gd name="T11" fmla="*/ 314 h 314"/>
                <a:gd name="T12" fmla="*/ 410 w 520"/>
                <a:gd name="T13" fmla="*/ 314 h 314"/>
                <a:gd name="T14" fmla="*/ 410 w 520"/>
                <a:gd name="T15" fmla="*/ 189 h 314"/>
                <a:gd name="T16" fmla="*/ 520 w 520"/>
                <a:gd name="T17" fmla="*/ 0 h 314"/>
                <a:gd name="T18" fmla="*/ 418 w 520"/>
                <a:gd name="T19" fmla="*/ 0 h 314"/>
                <a:gd name="T20" fmla="*/ 0 w 520"/>
                <a:gd name="T21" fmla="*/ 0 h 314"/>
                <a:gd name="T22" fmla="*/ 0 w 520"/>
                <a:gd name="T23" fmla="*/ 314 h 314"/>
                <a:gd name="T24" fmla="*/ 251 w 520"/>
                <a:gd name="T25" fmla="*/ 314 h 314"/>
                <a:gd name="T26" fmla="*/ 251 w 520"/>
                <a:gd name="T27" fmla="*/ 242 h 314"/>
                <a:gd name="T28" fmla="*/ 94 w 520"/>
                <a:gd name="T29" fmla="*/ 242 h 314"/>
                <a:gd name="T30" fmla="*/ 94 w 520"/>
                <a:gd name="T31" fmla="*/ 189 h 314"/>
                <a:gd name="T32" fmla="*/ 207 w 520"/>
                <a:gd name="T33" fmla="*/ 189 h 314"/>
                <a:gd name="T34" fmla="*/ 207 w 520"/>
                <a:gd name="T35" fmla="*/ 124 h 314"/>
                <a:gd name="T36" fmla="*/ 94 w 520"/>
                <a:gd name="T37" fmla="*/ 124 h 314"/>
                <a:gd name="T38" fmla="*/ 94 w 520"/>
                <a:gd name="T39" fmla="*/ 72 h 314"/>
                <a:gd name="T40" fmla="*/ 219 w 520"/>
                <a:gd name="T41" fmla="*/ 72 h 314"/>
                <a:gd name="T42" fmla="*/ 178 w 520"/>
                <a:gd name="T43" fmla="*/ 0 h 314"/>
                <a:gd name="T44" fmla="*/ 0 w 520"/>
                <a:gd name="T45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20" h="314">
                  <a:moveTo>
                    <a:pt x="418" y="0"/>
                  </a:moveTo>
                  <a:lnTo>
                    <a:pt x="364" y="102"/>
                  </a:lnTo>
                  <a:lnTo>
                    <a:pt x="311" y="0"/>
                  </a:lnTo>
                  <a:lnTo>
                    <a:pt x="207" y="0"/>
                  </a:lnTo>
                  <a:lnTo>
                    <a:pt x="318" y="189"/>
                  </a:lnTo>
                  <a:lnTo>
                    <a:pt x="318" y="314"/>
                  </a:lnTo>
                  <a:lnTo>
                    <a:pt x="410" y="314"/>
                  </a:lnTo>
                  <a:lnTo>
                    <a:pt x="410" y="189"/>
                  </a:lnTo>
                  <a:lnTo>
                    <a:pt x="520" y="0"/>
                  </a:lnTo>
                  <a:lnTo>
                    <a:pt x="418" y="0"/>
                  </a:lnTo>
                  <a:close/>
                  <a:moveTo>
                    <a:pt x="0" y="0"/>
                  </a:moveTo>
                  <a:lnTo>
                    <a:pt x="0" y="314"/>
                  </a:lnTo>
                  <a:lnTo>
                    <a:pt x="251" y="314"/>
                  </a:lnTo>
                  <a:lnTo>
                    <a:pt x="251" y="242"/>
                  </a:lnTo>
                  <a:lnTo>
                    <a:pt x="94" y="242"/>
                  </a:lnTo>
                  <a:lnTo>
                    <a:pt x="94" y="189"/>
                  </a:lnTo>
                  <a:lnTo>
                    <a:pt x="207" y="189"/>
                  </a:lnTo>
                  <a:lnTo>
                    <a:pt x="207" y="124"/>
                  </a:lnTo>
                  <a:lnTo>
                    <a:pt x="94" y="124"/>
                  </a:lnTo>
                  <a:lnTo>
                    <a:pt x="94" y="72"/>
                  </a:lnTo>
                  <a:lnTo>
                    <a:pt x="219" y="72"/>
                  </a:lnTo>
                  <a:lnTo>
                    <a:pt x="1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2607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973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627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341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21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1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text"/>
          <p:cNvSpPr txBox="1"/>
          <p:nvPr/>
        </p:nvSpPr>
        <p:spPr>
          <a:xfrm>
            <a:off x="457314" y="256032"/>
            <a:ext cx="11158468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dirty="0">
                <a:solidFill>
                  <a:srgbClr val="000000"/>
                </a:solidFill>
                <a:latin typeface="Arial"/>
              </a:rPr>
              <a:t>Six opportunities can materially improve performance, control and scalability</a:t>
            </a:r>
          </a:p>
        </p:txBody>
      </p:sp>
      <p:sp>
        <p:nvSpPr>
          <p:cNvPr id="3" name="subtitle_text"/>
          <p:cNvSpPr txBox="1"/>
          <p:nvPr/>
        </p:nvSpPr>
        <p:spPr>
          <a:xfrm>
            <a:off x="457314" y="614447"/>
            <a:ext cx="7260001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 i="1" dirty="0">
                <a:solidFill>
                  <a:srgbClr val="333333"/>
                </a:solidFill>
                <a:latin typeface="Arial"/>
              </a:rPr>
              <a:t>The highest-value opportunities combine process simplification, digital enablement and stronger operating discipline.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81" y="1078992"/>
            <a:ext cx="3695099" cy="2468880"/>
          </a:xfrm>
          <a:prstGeom prst="rect">
            <a:avLst/>
          </a:prstGeom>
          <a:solidFill>
            <a:srgbClr val="FFFFFF"/>
          </a:solidFill>
          <a:ln w="10160">
            <a:solidFill>
              <a:srgbClr val="C7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2681" y="1078992"/>
            <a:ext cx="493899" cy="4572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6705" y="1161288"/>
            <a:ext cx="402436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2681" y="1046988"/>
            <a:ext cx="3695099" cy="0"/>
          </a:xfrm>
          <a:prstGeom prst="line">
            <a:avLst/>
          </a:prstGeom>
          <a:ln w="38100">
            <a:solidFill>
              <a:srgbClr val="FFE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74370" y="1106424"/>
            <a:ext cx="6402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50" b="1">
                <a:solidFill>
                  <a:srgbClr val="FFE600"/>
                </a:solidFill>
                <a:latin typeface="Arial"/>
              </a:rPr>
              <a:t>PRIORITY</a:t>
            </a:r>
          </a:p>
        </p:txBody>
      </p:sp>
      <p:sp>
        <p:nvSpPr>
          <p:cNvPr id="9" name="opportunity_1_title_text"/>
          <p:cNvSpPr txBox="1"/>
          <p:nvPr/>
        </p:nvSpPr>
        <p:spPr>
          <a:xfrm>
            <a:off x="914628" y="1207007"/>
            <a:ext cx="2945104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0033A0"/>
                </a:solidFill>
                <a:latin typeface="Arial"/>
              </a:rPr>
              <a:t>PROCESS SIMPLIFICATION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314" y="1737360"/>
            <a:ext cx="3365833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dirty="0">
                <a:solidFill>
                  <a:srgbClr val="000000"/>
                </a:solidFill>
                <a:latin typeface="Arial"/>
              </a:rPr>
              <a:t>Current issue</a:t>
            </a:r>
          </a:p>
        </p:txBody>
      </p:sp>
      <p:sp>
        <p:nvSpPr>
          <p:cNvPr id="11" name="opportunity_1_current_issue_text"/>
          <p:cNvSpPr txBox="1"/>
          <p:nvPr/>
        </p:nvSpPr>
        <p:spPr>
          <a:xfrm>
            <a:off x="457314" y="1911095"/>
            <a:ext cx="3365833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Arial"/>
              </a:rPr>
              <a:t>Fragmented workflows, handoffs and non-value-
adding steps increase cycle time and cost.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314" y="2304288"/>
            <a:ext cx="3301809" cy="0"/>
          </a:xfrm>
          <a:prstGeom prst="line">
            <a:avLst/>
          </a:prstGeom>
          <a:ln w="889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314" y="2386584"/>
            <a:ext cx="3365833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Arial"/>
              </a:rPr>
              <a:t>Opportunity</a:t>
            </a:r>
          </a:p>
        </p:txBody>
      </p:sp>
      <p:sp>
        <p:nvSpPr>
          <p:cNvPr id="14" name="opportunity_1_opportunity_text"/>
          <p:cNvSpPr txBox="1"/>
          <p:nvPr/>
        </p:nvSpPr>
        <p:spPr>
          <a:xfrm>
            <a:off x="457314" y="2560320"/>
            <a:ext cx="3365833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Arial"/>
              </a:rPr>
              <a:t>Standardize and streamline priority processes,
eliminate rework and remove unnecessary steps.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558" y="2926080"/>
            <a:ext cx="3585344" cy="621792"/>
          </a:xfrm>
          <a:prstGeom prst="rect">
            <a:avLst/>
          </a:prstGeom>
          <a:solidFill>
            <a:srgbClr val="EDF4FF"/>
          </a:solidFill>
          <a:ln>
            <a:solidFill>
              <a:srgbClr val="ED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314" y="3035808"/>
            <a:ext cx="3365833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033A0"/>
                </a:solidFill>
                <a:latin typeface="Arial"/>
              </a:rPr>
              <a:t>Value unlocked</a:t>
            </a:r>
          </a:p>
        </p:txBody>
      </p:sp>
      <p:sp>
        <p:nvSpPr>
          <p:cNvPr id="17" name="opportunity_1_value_unlocked_text"/>
          <p:cNvSpPr txBox="1"/>
          <p:nvPr/>
        </p:nvSpPr>
        <p:spPr>
          <a:xfrm>
            <a:off x="457314" y="3209544"/>
            <a:ext cx="3365833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Arial"/>
              </a:rPr>
              <a:t>20–30% reduction in processing effort
and cycle time.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5828" y="1078992"/>
            <a:ext cx="3695099" cy="2468880"/>
          </a:xfrm>
          <a:prstGeom prst="rect">
            <a:avLst/>
          </a:prstGeom>
          <a:solidFill>
            <a:srgbClr val="FFFFFF"/>
          </a:solidFill>
          <a:ln w="10160">
            <a:solidFill>
              <a:srgbClr val="C7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15828" y="1078992"/>
            <a:ext cx="493899" cy="4572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79852" y="1161288"/>
            <a:ext cx="402436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21" name="opportunity_2_title_text"/>
          <p:cNvSpPr txBox="1"/>
          <p:nvPr/>
        </p:nvSpPr>
        <p:spPr>
          <a:xfrm>
            <a:off x="4737776" y="1207007"/>
            <a:ext cx="2945104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0033A0"/>
                </a:solidFill>
                <a:latin typeface="Arial"/>
              </a:rPr>
              <a:t>INTELLIGENT AUTOMATION
AT 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80461" y="1737360"/>
            <a:ext cx="3365833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Arial"/>
              </a:rPr>
              <a:t>Current issue</a:t>
            </a:r>
          </a:p>
        </p:txBody>
      </p:sp>
      <p:sp>
        <p:nvSpPr>
          <p:cNvPr id="23" name="opportunity_2_current_issue_text"/>
          <p:cNvSpPr txBox="1"/>
          <p:nvPr/>
        </p:nvSpPr>
        <p:spPr>
          <a:xfrm>
            <a:off x="4280461" y="1911095"/>
            <a:ext cx="3365833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Arial"/>
              </a:rPr>
              <a:t>High levels of manual work, approvals and data
entry limit speed, accuracy and productivity.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280461" y="2304288"/>
            <a:ext cx="3301808" cy="0"/>
          </a:xfrm>
          <a:prstGeom prst="line">
            <a:avLst/>
          </a:prstGeom>
          <a:ln w="889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280461" y="2386584"/>
            <a:ext cx="3365833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Arial"/>
              </a:rPr>
              <a:t>Opportunity</a:t>
            </a:r>
          </a:p>
        </p:txBody>
      </p:sp>
      <p:sp>
        <p:nvSpPr>
          <p:cNvPr id="26" name="opportunity_2_opportunity_text"/>
          <p:cNvSpPr txBox="1"/>
          <p:nvPr/>
        </p:nvSpPr>
        <p:spPr>
          <a:xfrm>
            <a:off x="4280461" y="2560320"/>
            <a:ext cx="3365833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Arial"/>
              </a:rPr>
              <a:t>Automate high-volume, rules-based activities
using RPA and intelligent workflows.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70705" y="2926080"/>
            <a:ext cx="3585344" cy="621792"/>
          </a:xfrm>
          <a:prstGeom prst="rect">
            <a:avLst/>
          </a:prstGeom>
          <a:solidFill>
            <a:srgbClr val="EDF4FF"/>
          </a:solidFill>
          <a:ln>
            <a:solidFill>
              <a:srgbClr val="ED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80461" y="3035808"/>
            <a:ext cx="3365833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033A0"/>
                </a:solidFill>
                <a:latin typeface="Arial"/>
              </a:rPr>
              <a:t>Value unlocked</a:t>
            </a:r>
          </a:p>
        </p:txBody>
      </p:sp>
      <p:sp>
        <p:nvSpPr>
          <p:cNvPr id="29" name="opportunity_2_value_unlocked_text"/>
          <p:cNvSpPr txBox="1"/>
          <p:nvPr/>
        </p:nvSpPr>
        <p:spPr>
          <a:xfrm>
            <a:off x="4280461" y="3209544"/>
            <a:ext cx="3365833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Arial"/>
              </a:rPr>
              <a:t>30–50% increase in straight-through
processing and productivity.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11537" y="1078992"/>
            <a:ext cx="3695099" cy="2468880"/>
          </a:xfrm>
          <a:prstGeom prst="rect">
            <a:avLst/>
          </a:prstGeom>
          <a:solidFill>
            <a:srgbClr val="FFFFFF"/>
          </a:solidFill>
          <a:ln w="10160">
            <a:solidFill>
              <a:srgbClr val="C7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911537" y="1078992"/>
            <a:ext cx="493899" cy="4572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75561" y="1161288"/>
            <a:ext cx="402436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33" name="opportunity_3_title_text"/>
          <p:cNvSpPr txBox="1"/>
          <p:nvPr/>
        </p:nvSpPr>
        <p:spPr>
          <a:xfrm>
            <a:off x="8533484" y="1207007"/>
            <a:ext cx="2945104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0033A0"/>
                </a:solidFill>
                <a:latin typeface="Arial"/>
              </a:rPr>
              <a:t>DATA AND INSIGHTS
ENABLEMENT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76170" y="1737360"/>
            <a:ext cx="3365833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Arial"/>
              </a:rPr>
              <a:t>Current issue</a:t>
            </a:r>
          </a:p>
        </p:txBody>
      </p:sp>
      <p:sp>
        <p:nvSpPr>
          <p:cNvPr id="35" name="opportunity_3_current_issue_text"/>
          <p:cNvSpPr txBox="1"/>
          <p:nvPr/>
        </p:nvSpPr>
        <p:spPr>
          <a:xfrm>
            <a:off x="8076170" y="1911095"/>
            <a:ext cx="3365833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Arial"/>
              </a:rPr>
              <a:t>Data is siloed across systems with inconsistent
definitions and limited real-time visibility.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076170" y="2304288"/>
            <a:ext cx="3301809" cy="0"/>
          </a:xfrm>
          <a:prstGeom prst="line">
            <a:avLst/>
          </a:prstGeom>
          <a:ln w="889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076170" y="2386584"/>
            <a:ext cx="3365833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Arial"/>
              </a:rPr>
              <a:t>Opportunity</a:t>
            </a:r>
          </a:p>
        </p:txBody>
      </p:sp>
      <p:sp>
        <p:nvSpPr>
          <p:cNvPr id="38" name="opportunity_3_opportunity_text"/>
          <p:cNvSpPr txBox="1"/>
          <p:nvPr/>
        </p:nvSpPr>
        <p:spPr>
          <a:xfrm>
            <a:off x="8076170" y="2560320"/>
            <a:ext cx="3365833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Arial"/>
              </a:rPr>
              <a:t>Build a trusted data foundation and self-service
insights to improve decision-making.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6414" y="2926080"/>
            <a:ext cx="3585344" cy="621792"/>
          </a:xfrm>
          <a:prstGeom prst="rect">
            <a:avLst/>
          </a:prstGeom>
          <a:solidFill>
            <a:srgbClr val="EDF4FF"/>
          </a:solidFill>
          <a:ln>
            <a:solidFill>
              <a:srgbClr val="ED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76170" y="3035808"/>
            <a:ext cx="3365833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033A0"/>
                </a:solidFill>
                <a:latin typeface="Arial"/>
              </a:rPr>
              <a:t>Value unlocked</a:t>
            </a:r>
          </a:p>
        </p:txBody>
      </p:sp>
      <p:sp>
        <p:nvSpPr>
          <p:cNvPr id="41" name="opportunity_3_value_unlocked_text"/>
          <p:cNvSpPr txBox="1"/>
          <p:nvPr/>
        </p:nvSpPr>
        <p:spPr>
          <a:xfrm>
            <a:off x="8076170" y="3209544"/>
            <a:ext cx="3365833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Arial"/>
              </a:rPr>
              <a:t>Better decisions, improved forecast accuracy
and faster response.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2681" y="3675887"/>
            <a:ext cx="3695099" cy="2468880"/>
          </a:xfrm>
          <a:prstGeom prst="rect">
            <a:avLst/>
          </a:prstGeom>
          <a:solidFill>
            <a:srgbClr val="FFFFFF"/>
          </a:solidFill>
          <a:ln w="10160">
            <a:solidFill>
              <a:srgbClr val="C7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92681" y="3675887"/>
            <a:ext cx="493899" cy="4572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56705" y="3758183"/>
            <a:ext cx="402436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45" name="opportunity_4_title_text"/>
          <p:cNvSpPr txBox="1"/>
          <p:nvPr/>
        </p:nvSpPr>
        <p:spPr>
          <a:xfrm>
            <a:off x="914628" y="3803903"/>
            <a:ext cx="2945104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0033A0"/>
                </a:solidFill>
                <a:latin typeface="Arial"/>
              </a:rPr>
              <a:t>CONTROL ENHANCEMENT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314" y="4334255"/>
            <a:ext cx="3365833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Arial"/>
              </a:rPr>
              <a:t>Current issue</a:t>
            </a:r>
          </a:p>
        </p:txBody>
      </p:sp>
      <p:sp>
        <p:nvSpPr>
          <p:cNvPr id="47" name="opportunity_4_current_issue_text"/>
          <p:cNvSpPr txBox="1"/>
          <p:nvPr/>
        </p:nvSpPr>
        <p:spPr>
          <a:xfrm>
            <a:off x="457314" y="4507992"/>
            <a:ext cx="3365833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dirty="0">
                <a:solidFill>
                  <a:srgbClr val="000000"/>
                </a:solidFill>
                <a:latin typeface="Arial"/>
              </a:rPr>
              <a:t>High exception rates, weak controls and manual
reconciliations increase risk and effort.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57314" y="4901183"/>
            <a:ext cx="3301809" cy="0"/>
          </a:xfrm>
          <a:prstGeom prst="line">
            <a:avLst/>
          </a:prstGeom>
          <a:ln w="889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57314" y="4983479"/>
            <a:ext cx="3365833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Arial"/>
              </a:rPr>
              <a:t>Opportunity</a:t>
            </a:r>
          </a:p>
        </p:txBody>
      </p:sp>
      <p:sp>
        <p:nvSpPr>
          <p:cNvPr id="50" name="opportunity_4_opportunity_text"/>
          <p:cNvSpPr txBox="1"/>
          <p:nvPr/>
        </p:nvSpPr>
        <p:spPr>
          <a:xfrm>
            <a:off x="457314" y="5157216"/>
            <a:ext cx="3365833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dirty="0">
                <a:solidFill>
                  <a:srgbClr val="000000"/>
                </a:solidFill>
                <a:latin typeface="Arial"/>
              </a:rPr>
              <a:t>Strengthen controls, automate validations and
reduce manual exceptions.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7558" y="5522975"/>
            <a:ext cx="3585344" cy="621792"/>
          </a:xfrm>
          <a:prstGeom prst="rect">
            <a:avLst/>
          </a:prstGeom>
          <a:solidFill>
            <a:srgbClr val="EDF4FF"/>
          </a:solidFill>
          <a:ln>
            <a:solidFill>
              <a:srgbClr val="ED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57314" y="5632704"/>
            <a:ext cx="3365833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033A0"/>
                </a:solidFill>
                <a:latin typeface="Arial"/>
              </a:rPr>
              <a:t>Value unlocked</a:t>
            </a:r>
          </a:p>
        </p:txBody>
      </p:sp>
      <p:sp>
        <p:nvSpPr>
          <p:cNvPr id="53" name="opportunity_4_value_unlocked_text"/>
          <p:cNvSpPr txBox="1"/>
          <p:nvPr/>
        </p:nvSpPr>
        <p:spPr>
          <a:xfrm>
            <a:off x="457314" y="5806440"/>
            <a:ext cx="3365833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dirty="0">
                <a:solidFill>
                  <a:srgbClr val="000000"/>
                </a:solidFill>
                <a:latin typeface="Arial"/>
              </a:rPr>
              <a:t>Lower risk exposure and 40–60% reduction
in exception handling.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5828" y="3675887"/>
            <a:ext cx="3695099" cy="2468880"/>
          </a:xfrm>
          <a:prstGeom prst="rect">
            <a:avLst/>
          </a:prstGeom>
          <a:solidFill>
            <a:srgbClr val="FFFFFF"/>
          </a:solidFill>
          <a:ln w="10160">
            <a:solidFill>
              <a:srgbClr val="C7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115828" y="3675887"/>
            <a:ext cx="493899" cy="4572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179852" y="3758183"/>
            <a:ext cx="402436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57" name="opportunity_5_title_text"/>
          <p:cNvSpPr txBox="1"/>
          <p:nvPr/>
        </p:nvSpPr>
        <p:spPr>
          <a:xfrm>
            <a:off x="4737776" y="3803903"/>
            <a:ext cx="2945104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0033A0"/>
                </a:solidFill>
                <a:latin typeface="Arial"/>
              </a:rPr>
              <a:t>EXPERIENCE IMPROVEMENT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80461" y="4334255"/>
            <a:ext cx="3365833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Arial"/>
              </a:rPr>
              <a:t>Current issue</a:t>
            </a:r>
          </a:p>
        </p:txBody>
      </p:sp>
      <p:sp>
        <p:nvSpPr>
          <p:cNvPr id="59" name="opportunity_5_current_issue_text"/>
          <p:cNvSpPr txBox="1"/>
          <p:nvPr/>
        </p:nvSpPr>
        <p:spPr>
          <a:xfrm>
            <a:off x="4280461" y="4507992"/>
            <a:ext cx="3365833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Arial"/>
              </a:rPr>
              <a:t>Slow responses, inconsistent service and limited
visibility create friction for users and customers.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4280461" y="4901183"/>
            <a:ext cx="3301808" cy="0"/>
          </a:xfrm>
          <a:prstGeom prst="line">
            <a:avLst/>
          </a:prstGeom>
          <a:ln w="889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4280461" y="4983479"/>
            <a:ext cx="3365833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Arial"/>
              </a:rPr>
              <a:t>Opportunity</a:t>
            </a:r>
          </a:p>
        </p:txBody>
      </p:sp>
      <p:sp>
        <p:nvSpPr>
          <p:cNvPr id="62" name="opportunity_5_opportunity_text"/>
          <p:cNvSpPr txBox="1"/>
          <p:nvPr/>
        </p:nvSpPr>
        <p:spPr>
          <a:xfrm>
            <a:off x="4280461" y="5157216"/>
            <a:ext cx="3365833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Arial"/>
              </a:rPr>
              <a:t>Simplify interactions, improve self-service and
deliver consistent, high-quality experiences.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70705" y="5522975"/>
            <a:ext cx="3585344" cy="621792"/>
          </a:xfrm>
          <a:prstGeom prst="rect">
            <a:avLst/>
          </a:prstGeom>
          <a:solidFill>
            <a:srgbClr val="EDF4FF"/>
          </a:solidFill>
          <a:ln>
            <a:solidFill>
              <a:srgbClr val="ED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280461" y="5632704"/>
            <a:ext cx="3365833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033A0"/>
                </a:solidFill>
                <a:latin typeface="Arial"/>
              </a:rPr>
              <a:t>Value unlocked</a:t>
            </a:r>
          </a:p>
        </p:txBody>
      </p:sp>
      <p:sp>
        <p:nvSpPr>
          <p:cNvPr id="65" name="opportunity_5_value_unlocked_text"/>
          <p:cNvSpPr txBox="1"/>
          <p:nvPr/>
        </p:nvSpPr>
        <p:spPr>
          <a:xfrm>
            <a:off x="4280461" y="5806440"/>
            <a:ext cx="3365833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Arial"/>
              </a:rPr>
              <a:t>Higher satisfaction, improved retention and
lower service costs.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911537" y="3675887"/>
            <a:ext cx="3695099" cy="2468880"/>
          </a:xfrm>
          <a:prstGeom prst="rect">
            <a:avLst/>
          </a:prstGeom>
          <a:solidFill>
            <a:srgbClr val="FFFFFF"/>
          </a:solidFill>
          <a:ln w="10160">
            <a:solidFill>
              <a:srgbClr val="C7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7911537" y="3675887"/>
            <a:ext cx="493899" cy="4572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975561" y="3758183"/>
            <a:ext cx="402436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69" name="opportunity_6_title_text"/>
          <p:cNvSpPr txBox="1"/>
          <p:nvPr/>
        </p:nvSpPr>
        <p:spPr>
          <a:xfrm>
            <a:off x="8533484" y="3803903"/>
            <a:ext cx="2945104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0033A0"/>
                </a:solidFill>
                <a:latin typeface="Arial"/>
              </a:rPr>
              <a:t>OPERATING MODEL
MODERNIZATION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76170" y="4334255"/>
            <a:ext cx="3365833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Arial"/>
              </a:rPr>
              <a:t>Current issue</a:t>
            </a:r>
          </a:p>
        </p:txBody>
      </p:sp>
      <p:sp>
        <p:nvSpPr>
          <p:cNvPr id="71" name="opportunity_6_current_issue_text"/>
          <p:cNvSpPr txBox="1"/>
          <p:nvPr/>
        </p:nvSpPr>
        <p:spPr>
          <a:xfrm>
            <a:off x="8076170" y="4507992"/>
            <a:ext cx="3365833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Arial"/>
              </a:rPr>
              <a:t>Unclear ownership, duplicated efforts and legacy
structures limit agility and scalability.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8076170" y="4901183"/>
            <a:ext cx="3301809" cy="0"/>
          </a:xfrm>
          <a:prstGeom prst="line">
            <a:avLst/>
          </a:prstGeom>
          <a:ln w="889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8076170" y="4983479"/>
            <a:ext cx="3365833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Arial"/>
              </a:rPr>
              <a:t>Opportunity</a:t>
            </a:r>
          </a:p>
        </p:txBody>
      </p:sp>
      <p:sp>
        <p:nvSpPr>
          <p:cNvPr id="74" name="opportunity_6_opportunity_text"/>
          <p:cNvSpPr txBox="1"/>
          <p:nvPr/>
        </p:nvSpPr>
        <p:spPr>
          <a:xfrm>
            <a:off x="8076170" y="5157216"/>
            <a:ext cx="3365833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Arial"/>
              </a:rPr>
              <a:t>Redesign operating model, roles and governance
to drive accountability and agility.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966414" y="5522975"/>
            <a:ext cx="3585344" cy="621792"/>
          </a:xfrm>
          <a:prstGeom prst="rect">
            <a:avLst/>
          </a:prstGeom>
          <a:solidFill>
            <a:srgbClr val="EDF4FF"/>
          </a:solidFill>
          <a:ln>
            <a:solidFill>
              <a:srgbClr val="ED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076170" y="5632704"/>
            <a:ext cx="3365833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033A0"/>
                </a:solidFill>
                <a:latin typeface="Arial"/>
              </a:rPr>
              <a:t>Value unlocked</a:t>
            </a:r>
          </a:p>
        </p:txBody>
      </p:sp>
      <p:sp>
        <p:nvSpPr>
          <p:cNvPr id="77" name="opportunity_6_value_unlocked_text"/>
          <p:cNvSpPr txBox="1"/>
          <p:nvPr/>
        </p:nvSpPr>
        <p:spPr>
          <a:xfrm>
            <a:off x="8076170" y="5806440"/>
            <a:ext cx="3365833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Arial"/>
              </a:rPr>
              <a:t>Stronger accountability, faster execution and
sustainable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y temp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y temp" id="{73531C1D-6AE1-E449-8BB8-2383CD9BA9E4}" vid="{07C013BB-F2D3-844E-B176-62F60C4A8C8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ey temp</Template>
  <TotalTime>2</TotalTime>
  <Words>315</Words>
  <Application>Microsoft Macintosh PowerPoint</Application>
  <PresentationFormat>Widescreen</PresentationFormat>
  <Paragraphs>51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EYInterstate Light</vt:lpstr>
      <vt:lpstr>Wingdings</vt:lpstr>
      <vt:lpstr>ey temp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Madhav Kapoor</cp:lastModifiedBy>
  <cp:revision>2</cp:revision>
  <dcterms:created xsi:type="dcterms:W3CDTF">2013-01-27T09:14:16Z</dcterms:created>
  <dcterms:modified xsi:type="dcterms:W3CDTF">2026-07-17T17:32:19Z</dcterms:modified>
  <cp:category/>
</cp:coreProperties>
</file>